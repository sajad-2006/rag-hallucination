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</c:v>
                </c:pt>
              </c:strCache>
            </c:strRef>
          </c:tx>
          <c:spPr>
            <a:solidFill>
              <a:srgbClr val="2F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Recall@1</c:v>
                  </c:pt>
                  <c:pt idx="1">
                    <c:v>Recall@3</c:v>
                  </c:pt>
                  <c:pt idx="2">
                    <c:v>Recall@5</c:v>
                  </c:pt>
                  <c:pt idx="3">
                    <c:v>MRR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0.9130434782608695</c:v>
                </c:pt>
                <c:pt idx="1">
                  <c:v>1</c:v>
                </c:pt>
                <c:pt idx="2">
                  <c:v>1</c:v>
                </c:pt>
                <c:pt idx="3">
                  <c:v>0.9565217391304348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rgbClr val="2F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</c:v>
                  </c:pt>
                  <c:pt idx="1">
                    <c:v>Token F1</c:v>
                  </c:pt>
                  <c:pt idx="2">
                    <c:v>Answerable EM</c:v>
                  </c:pt>
                  <c:pt idx="3">
                    <c:v>Unanswerable detection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0.3333333333333333</c:v>
                </c:pt>
                <c:pt idx="1">
                  <c:v>0.44111111111111106</c:v>
                </c:pt>
                <c:pt idx="2">
                  <c:v>0.43478260869565216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No-RAG</c:v>
                </c:pt>
              </c:strCache>
            </c:strRef>
          </c:tx>
          <c:spPr>
            <a:solidFill>
              <a:srgbClr val="C87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</c:v>
                  </c:pt>
                  <c:pt idx="1">
                    <c:v>Token F1</c:v>
                  </c:pt>
                  <c:pt idx="2">
                    <c:v>Answerable EM</c:v>
                  </c:pt>
                  <c:pt idx="3">
                    <c:v>Unanswerable detection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project question: does retrieval reduce unsupported answers compared with the same generator without retrieval?
Emphasize that Phase 2 does not replace the Phase 1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comparison is apples-to-apples: RAG and No-RAG share the same FLAN-T5-small model.
No training from scratch or heavy fine-tuning was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is strong in the closed selected corpus: Recall@1 is about 91% and Recall@3/5 are 100%.
State the caveat explicitly so the result is not overclaimed.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No-RAG zeros are not smoothed or changed; the raw predictions were checked and were mostly unrelated.
The most important hallucination finding is unanswerable detection equal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retrieval and generation: the model is only as good as the evidence it sees.
For unanswerable questions, both modes fail because neither reliably says “I don’t know.”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example from each error family so the audience sees that hallucination is not a single phenomenon.
Then run or show the notebook demo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emphasizing that this is a lightweight study, not a production system.
Mention that the input/output contract is question plus course documents, output answer plus retrieved contexts and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DB3"/>
                </a:solidFill>
              </a:rPr>
              <a:t>T-05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Retrieval-Augmented Generation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the Study of Hallucination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Short walkthrough: baseline, results, errors, and demo 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731520"/>
            <a:ext cx="2651760" cy="4389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234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D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0" y="16733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Evaluation subset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18928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SQuAD 2.0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0" y="2423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 / 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0" y="286207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Answerable / unanswerable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0" y="30815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balanced enough for hallucination checks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0" y="3657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79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FLAN-T5-small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0" y="40965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Generator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43159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unchanged Phase 1 baseline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DB3"/>
                </a:solidFill>
              </a:rPr>
              <a:t>Key message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31596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</a:rPr>
              <a:t>RAG clearly improves answer quality over No-RAG, but the small generator still fails to abstain on unanswerable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kept intentionally simple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Phase 2 evaluates the exact Phase 1 design.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3200400"/>
            <a:ext cx="320040" cy="0"/>
          </a:xfrm>
          <a:prstGeom prst="line">
            <a:avLst/>
          </a:prstGeom>
          <a:noFill/>
          <a:ln w="25400">
            <a:solidFill>
              <a:srgbClr val="2F6DB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3200400"/>
            <a:ext cx="320040" cy="0"/>
          </a:xfrm>
          <a:prstGeom prst="line">
            <a:avLst/>
          </a:prstGeom>
          <a:noFill/>
          <a:ln w="25400">
            <a:solidFill>
              <a:srgbClr val="2F6DB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60920" y="3200400"/>
            <a:ext cx="320040" cy="0"/>
          </a:xfrm>
          <a:prstGeom prst="line">
            <a:avLst/>
          </a:prstGeom>
          <a:noFill/>
          <a:ln w="25400">
            <a:solidFill>
              <a:srgbClr val="2F6DB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92640" y="3200400"/>
            <a:ext cx="320040" cy="0"/>
          </a:xfrm>
          <a:prstGeom prst="line">
            <a:avLst/>
          </a:prstGeom>
          <a:noFill/>
          <a:ln w="25400">
            <a:solidFill>
              <a:srgbClr val="2F6D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81635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3970">
            <a:solidFill>
              <a:srgbClr val="2F6D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B6C"/>
                </a:solidFill>
              </a:rPr>
              <a:t>SQuAD 2.0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2369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contexts + questions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281635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3970">
            <a:solidFill>
              <a:srgbClr val="2F6D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B6C"/>
                </a:solidFill>
              </a:rPr>
              <a:t>MiniLM-L6-v2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2369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dense embeddings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281635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3970">
            <a:solidFill>
              <a:srgbClr val="2F6D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B6C"/>
                </a:solidFill>
              </a:rPr>
              <a:t>FAISS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32369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flat L2 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80960" y="281635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3970">
            <a:solidFill>
              <a:srgbClr val="2F6D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B6C"/>
                </a:solidFill>
              </a:rPr>
              <a:t>FLAN-T5-small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2369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RAG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12680" y="281635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3E6"/>
          </a:solidFill>
          <a:ln w="13970">
            <a:solidFill>
              <a:srgbClr val="C87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2944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92B"/>
                </a:solidFill>
              </a:rPr>
              <a:t>Same FLAN-T5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04120" y="32369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No-RAG baseline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15087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15910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fine-tuning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150876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1591056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 new baseline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150876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1591056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Small public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08192" y="1508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E7D50"/>
          </a:solidFill>
          <a:ln w="12700">
            <a:solidFill>
              <a:srgbClr val="2E7D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591056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CPU-friendly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6C"/>
                </a:solidFill>
              </a:rPr>
              <a:t>Why this is defensible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4956048"/>
            <a:ext cx="10607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430"/>
                </a:solidFill>
              </a:rPr>
              <a:t>Same generator in both modes isolates the effect of retrieved evidence.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Small setup matches the lightweight course-project scope.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Failures can be separated into retrieval misses and generation errors.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worked inside the selected corpus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Evaluation used answerable questions whose gold context exists in the Phase 1 index.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417320"/>
          <a:ext cx="5715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0" y="1993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Answerable questions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2212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retrieval-only evaluation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06640" y="2743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D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406640" y="3182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Top-1 success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3401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gold context ranked first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132320" y="4160520"/>
            <a:ext cx="4023360" cy="841248"/>
          </a:xfrm>
          <a:prstGeom prst="rect">
            <a:avLst/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4343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92B"/>
                </a:solidFill>
              </a:rPr>
              <a:t>Important caveat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60920" y="46268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</a:rPr>
              <a:t>These scores are optimistic because the evaluation corpus was selected so the gold context is present.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Generation: RAG beats No-RAG, but abstention fails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No-RAG produced unrelated short answers; RAG used evidence but still hallucinated.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49808" y="1417320"/>
          <a:ext cx="6583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00100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D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0100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RAG 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01000" y="22311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overall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01000" y="2633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D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001000" y="30723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RAG F1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0100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partial matching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0100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79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01000" y="4133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430"/>
                </a:solidFill>
              </a:rPr>
              <a:t>No-RAG F1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01000" y="4352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raw outputs were off-topic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452360" y="5074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6C"/>
                </a:solidFill>
              </a:rPr>
              <a:t>Key interpretation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52360" y="53766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30"/>
                </a:solidFill>
              </a:rPr>
              <a:t>Retrieval helps answerable QA, but the generator never abstained on 7 unanswerable questions.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Breakdown: retrieval success drives RAG quality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The model answers better only when the right evidence is ranked first.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0607040" cy="438912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90472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17720" y="14904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57800" y="14904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R-EM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97880" y="14904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R-F1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7960" y="14904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N-EM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78040" y="14904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N-F1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1847088"/>
            <a:ext cx="10607040" cy="438912"/>
          </a:xfrm>
          <a:prstGeom prst="rect">
            <a:avLst/>
          </a:prstGeom>
          <a:solidFill>
            <a:srgbClr val="EAF2FB"/>
          </a:solidFill>
          <a:ln w="12700">
            <a:solidFill>
              <a:srgbClr val="D6DEE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6596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Answerable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617720" y="19659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23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257800" y="19659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0.43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97880" y="19659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0.58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537960" y="19659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7178040" y="19659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77240" y="2350008"/>
            <a:ext cx="10607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6888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Unanswerable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617720" y="246888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7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257800" y="246888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897880" y="246888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537960" y="246888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178040" y="246888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77240" y="2852928"/>
            <a:ext cx="10607040" cy="438912"/>
          </a:xfrm>
          <a:prstGeom prst="rect">
            <a:avLst/>
          </a:prstGeom>
          <a:solidFill>
            <a:srgbClr val="EAF2FB"/>
          </a:solidFill>
          <a:ln w="12700">
            <a:solidFill>
              <a:srgbClr val="D6DEE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97180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Retrieval success (top-1)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4617720" y="297180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21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257800" y="297180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0.48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897880" y="297180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0.63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6537960" y="297180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7178040" y="297180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777240" y="3355848"/>
            <a:ext cx="10607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47472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Retrieval failure (top-1)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4617720" y="347472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2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5257800" y="347472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897880" y="347472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6537960" y="347472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7178040" y="347472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430"/>
                </a:solidFill>
              </a:rPr>
              <a:t>0.00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68680" y="470916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DDEA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DB3"/>
                </a:solidFill>
              </a:rPr>
              <a:t>Takeaway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240280" y="49011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</a:rPr>
              <a:t>When retrieval fails, RAG collapses to 0. When retrieval succeeds, RAG reaches F1≈0.63, while No-RAG remains 0.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errors tell the story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The same small model shows three defensible failure modes.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64592" cy="960120"/>
          </a:xfrm>
          <a:prstGeom prst="rect">
            <a:avLst/>
          </a:prstGeom>
          <a:solidFill>
            <a:srgbClr val="B84C4C"/>
          </a:solidFill>
          <a:ln w="12700">
            <a:solidFill>
              <a:srgbClr val="B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C4C"/>
                </a:solidFill>
              </a:rPr>
              <a:t>Retrieval miss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2821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430"/>
                </a:solidFill>
              </a:rPr>
              <a:t>“What was the republican government amenable to?”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97880" y="1728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430"/>
                </a:solidFill>
              </a:rPr>
              <a:t>RAG: assassinations of political activists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4108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Wrong top-1 context → answer grounded in irrelevant 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164592" cy="960120"/>
          </a:xfrm>
          <a:prstGeom prst="rect">
            <a:avLst/>
          </a:prstGeom>
          <a:solidFill>
            <a:srgbClr val="C8792B"/>
          </a:solidFill>
          <a:ln w="12700">
            <a:solidFill>
              <a:srgbClr val="C87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614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92B"/>
                </a:solidFill>
              </a:rPr>
              <a:t>Ignored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0540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430"/>
                </a:solidFill>
              </a:rPr>
              <a:t>“How many casualties did the US Air Force suffer during WWII?”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3054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430"/>
                </a:solidFill>
              </a:rPr>
              <a:t>RAG: 3  |  Gold: 68,000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41080" y="29900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Gold context was top-1, but generator selected the wrong number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164592" cy="9601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087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</a:rPr>
              <a:t>Unanswerable failure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37997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430"/>
                </a:solidFill>
              </a:rPr>
              <a:t>“What was the decrease in non-German population...?”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97880" y="4379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430"/>
                </a:solidFill>
              </a:rPr>
              <a:t>RAG: 24%  |  Gold: unanswerable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41080" y="43159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Model produced a confident answer instead of abstaining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55961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6C"/>
                </a:solidFill>
              </a:rPr>
              <a:t>Demo walkthrough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553212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E2430"/>
                </a:solidFill>
              </a:rPr>
              <a:t>Show 2 answerable questions + 1 unanswerable question: question → retrieved context → RAG answer → No-RAG answer → gold.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969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</a:rPr>
              <a:t>YadYar Lite · T-05 RAG &amp; Hallucination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A lightweight baseline is useful, but not sufficient for reliable educational QA.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6C"/>
                </a:solidFill>
              </a:rPr>
              <a:t>Main findings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4892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430"/>
                </a:solidFill>
              </a:rPr>
              <a:t>RAG improves answer quality over the same generator without retrieval.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Retrieval success strongly predicts generation success.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Unanswerable questions remain the hardest failure mode.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6C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719072"/>
            <a:ext cx="4754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430"/>
                </a:solidFill>
              </a:rPr>
              <a:t>Only 30 evaluation questions.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Closed corpus makes retrieval scores optimistic.</a:t>
            </a:r>
            <a:endParaRPr lang="en-US" sz="1400" dirty="0"/>
          </a:p>
          <a:p>
            <a:r>
              <a:rPr lang="en-US" sz="1400" dirty="0">
                <a:solidFill>
                  <a:srgbClr val="1E2430"/>
                </a:solidFill>
              </a:rPr>
              <a:t>Hallucination labels are rule-based and partly lexical.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10652760" cy="1143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DE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DB3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4050792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</a:rPr>
              <a:t>Better abstention prompt, stronger embedder, reranker, larger subset, stronger generator, and small human review.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55046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792B"/>
                </a:solidFill>
              </a:rPr>
              <a:t>Closing 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5440680"/>
            <a:ext cx="8732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</a:rPr>
              <a:t>The component is ready for YadYar Lite as a retrieval-grounded QA module, but it needs abstention and evidence checking before real use.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YadYar 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T-05 Phase 1 and Phase 2 Walkthrough</dc:title>
  <dc:subject>YadYar Lite T-05 short walkthrough</dc:subject>
  <dc:creator>T-05 Team</dc:creator>
  <cp:lastModifiedBy>T-05 Team</cp:lastModifiedBy>
  <cp:revision>1</cp:revision>
  <dcterms:created xsi:type="dcterms:W3CDTF">2026-07-12T20:07:47Z</dcterms:created>
  <dcterms:modified xsi:type="dcterms:W3CDTF">2026-07-12T20:07:47Z</dcterms:modified>
</cp:coreProperties>
</file>