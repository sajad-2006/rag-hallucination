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6.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74e24b42e6405f" /><Relationship Type="http://schemas.openxmlformats.org/officeDocument/2006/relationships/extended-properties" Target="/docProps/app.xml" Id="Rda609760078a4c50" /><Relationship Type="http://schemas.openxmlformats.org/officeDocument/2006/relationships/officeDocument" Target="/ppt/presentation.xml" Id="R974e92d8a40b4c9f" /></Relationships>
</file>

<file path=ppt/presentation.xml><?xml version="1.0" encoding="utf-8"?>
<p:presentation xmlns:p="http://schemas.openxmlformats.org/presentationml/2006/main">
  <p:sldMasterIdLst>
    <p:sldMasterId xmlns:r="http://schemas.openxmlformats.org/officeDocument/2006/relationships" id="2147483648" r:id="R6d6178e10e40463f"/>
  </p:sldMasterIdLst>
  <p:notesMasterIdLst>
    <p:notesMasterId xmlns:r="http://schemas.openxmlformats.org/officeDocument/2006/relationships" r:id="R114345a719204fd8"/>
  </p:notesMasterIdLst>
  <p:sldIdLst>
    <p:sldId xmlns:r="http://schemas.openxmlformats.org/officeDocument/2006/relationships" id="256" r:id="Rea2d38c29983431c"/>
    <p:sldId xmlns:r="http://schemas.openxmlformats.org/officeDocument/2006/relationships" id="257" r:id="R7078c7f2a7444491"/>
    <p:sldId xmlns:r="http://schemas.openxmlformats.org/officeDocument/2006/relationships" id="258" r:id="Rafcbb70af04243d3"/>
    <p:sldId xmlns:r="http://schemas.openxmlformats.org/officeDocument/2006/relationships" id="259" r:id="R8bb9e19e14144c57"/>
    <p:sldId xmlns:r="http://schemas.openxmlformats.org/officeDocument/2006/relationships" id="260" r:id="Re164d87b544e4ce2"/>
    <p:sldId xmlns:r="http://schemas.openxmlformats.org/officeDocument/2006/relationships" id="261" r:id="R20cdf1788e01427e"/>
    <p:sldId xmlns:r="http://schemas.openxmlformats.org/officeDocument/2006/relationships" id="262" r:id="R36dc94fb1b55450a"/>
    <p:sldId xmlns:r="http://schemas.openxmlformats.org/officeDocument/2006/relationships" id="263" r:id="R43170db88d5e400a"/>
    <p:sldId xmlns:r="http://schemas.openxmlformats.org/officeDocument/2006/relationships" id="264" r:id="Rd137375179db4d6b"/>
    <p:sldId xmlns:r="http://schemas.openxmlformats.org/officeDocument/2006/relationships" id="265" r:id="R1378a3ea966c4380"/>
    <p:sldId xmlns:r="http://schemas.openxmlformats.org/officeDocument/2006/relationships" id="266" r:id="R12c6ce1e506445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ece1410ff240dd" /><Relationship Type="http://schemas.openxmlformats.org/officeDocument/2006/relationships/slideMaster" Target="/ppt/slideMasters/slideMaster1.xml" Id="R6d6178e10e40463f" /><Relationship Type="http://schemas.openxmlformats.org/officeDocument/2006/relationships/notesMaster" Target="/ppt/notesMasters/notesMaster1.xml" Id="R114345a719204fd8" /><Relationship Type="http://schemas.openxmlformats.org/officeDocument/2006/relationships/presProps" Target="/ppt/presProps.xml" Id="R89cd49155fad4c20" /><Relationship Type="http://schemas.openxmlformats.org/officeDocument/2006/relationships/tableStyles" Target="/ppt/tableStyles.xml" Id="Rf0ca0b94120b4d51" /><Relationship Type="http://schemas.openxmlformats.org/officeDocument/2006/relationships/slide" Target="/ppt/slides/slide1.xml" Id="Rea2d38c29983431c" /><Relationship Type="http://schemas.openxmlformats.org/officeDocument/2006/relationships/slide" Target="/ppt/slides/slide2.xml" Id="R7078c7f2a7444491" /><Relationship Type="http://schemas.openxmlformats.org/officeDocument/2006/relationships/slide" Target="/ppt/slides/slide3.xml" Id="Rafcbb70af04243d3" /><Relationship Type="http://schemas.openxmlformats.org/officeDocument/2006/relationships/slide" Target="/ppt/slides/slide4.xml" Id="R8bb9e19e14144c57" /><Relationship Type="http://schemas.openxmlformats.org/officeDocument/2006/relationships/slide" Target="/ppt/slides/slide5.xml" Id="Re164d87b544e4ce2" /><Relationship Type="http://schemas.openxmlformats.org/officeDocument/2006/relationships/slide" Target="/ppt/slides/slide6.xml" Id="R20cdf1788e01427e" /><Relationship Type="http://schemas.openxmlformats.org/officeDocument/2006/relationships/slide" Target="/ppt/slides/slide7.xml" Id="R36dc94fb1b55450a" /><Relationship Type="http://schemas.openxmlformats.org/officeDocument/2006/relationships/slide" Target="/ppt/slides/slide8.xml" Id="R43170db88d5e400a" /><Relationship Type="http://schemas.openxmlformats.org/officeDocument/2006/relationships/slide" Target="/ppt/slides/slide9.xml" Id="Rd137375179db4d6b" /><Relationship Type="http://schemas.openxmlformats.org/officeDocument/2006/relationships/slide" Target="/ppt/slides/slide10.xml" Id="R1378a3ea966c4380" /><Relationship Type="http://schemas.openxmlformats.org/officeDocument/2006/relationships/slide" Target="/ppt/slides/slide11.xml" Id="R12c6ce1e506445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1dd84277c143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7d7242bf454027" /><Relationship Type="http://schemas.openxmlformats.org/officeDocument/2006/relationships/notesMaster" Target="/ppt/notesMasters/notesMaster1.xml" Id="Rbe2d262364ef4e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650f5197324131" /><Relationship Type="http://schemas.openxmlformats.org/officeDocument/2006/relationships/notesMaster" Target="/ppt/notesMasters/notesMaster1.xml" Id="Rf115b34e7a0a48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a4866593c14341" /><Relationship Type="http://schemas.openxmlformats.org/officeDocument/2006/relationships/notesMaster" Target="/ppt/notesMasters/notesMaster1.xml" Id="Rbf38e88fc23f4d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cb6a9192874f99" /><Relationship Type="http://schemas.openxmlformats.org/officeDocument/2006/relationships/notesMaster" Target="/ppt/notesMasters/notesMaster1.xml" Id="R09f29c474e2e45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99b28cd8c748a3" /><Relationship Type="http://schemas.openxmlformats.org/officeDocument/2006/relationships/notesMaster" Target="/ppt/notesMasters/notesMaster1.xml" Id="R7341c76647e745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deab94ef7d4b13" /><Relationship Type="http://schemas.openxmlformats.org/officeDocument/2006/relationships/notesMaster" Target="/ppt/notesMasters/notesMaster1.xml" Id="R2d8573527b3841a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8f649361854df2" /><Relationship Type="http://schemas.openxmlformats.org/officeDocument/2006/relationships/notesMaster" Target="/ppt/notesMasters/notesMaster1.xml" Id="R72efb819ca8940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c161d5f82aa4585" /><Relationship Type="http://schemas.openxmlformats.org/officeDocument/2006/relationships/notesMaster" Target="/ppt/notesMasters/notesMaster1.xml" Id="R9f67742b197f48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5bd9e3e6af40b5" /><Relationship Type="http://schemas.openxmlformats.org/officeDocument/2006/relationships/notesMaster" Target="/ppt/notesMasters/notesMaster1.xml" Id="Rff8459a3e89f44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57bb0b199547fc" /><Relationship Type="http://schemas.openxmlformats.org/officeDocument/2006/relationships/notesMaster" Target="/ppt/notesMasters/notesMaster1.xml" Id="R10ff3837997944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6bdc96b55c4ce7" /><Relationship Type="http://schemas.openxmlformats.org/officeDocument/2006/relationships/notesMaster" Target="/ppt/notesMasters/notesMaster1.xml" Id="R7130e9deb76749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T-05 as a lightweight study of a transparent RAG baseline. The central question is whether the system can answer from evidence and abstain when evidence is absent.</a:t>
            </a:r>
          </a:p>
          <a:p xmlns:a="http://schemas.openxmlformats.org/drawingml/2006/main">
            <a:r>
              <a:t/>
            </a:r>
          </a:p>
          <a:p xmlns:a="http://schemas.openxmlformats.org/drawingml/2006/main">
            <a:r>
              <a:t>[Sources]</a:t>
            </a:r>
          </a:p>
          <a:p xmlns:a="http://schemas.openxmlformats.org/drawingml/2006/main">
            <a:r>
              <a:t>- YadYar Lite project document</a:t>
            </a:r>
          </a:p>
          <a:p xmlns:a="http://schemas.openxmlformats.org/drawingml/2006/main">
            <a:r>
              <a:t>- phase1_config.json</a:t>
            </a:r>
          </a:p>
          <a:p xmlns:a="http://schemas.openxmlformats.org/drawingml/2006/main">
            <a:r>
              <a:t>- phase2_metrics.json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deliberately small scope. The sample is fixed and balanced enough to inspect, and the unanswerable subset makes abstention measurable.</a:t>
            </a:r>
          </a:p>
          <a:p xmlns:a="http://schemas.openxmlformats.org/drawingml/2006/main">
            <a:r>
              <a:t/>
            </a:r>
          </a:p>
          <a:p xmlns:a="http://schemas.openxmlformats.org/drawingml/2006/main">
            <a:r>
              <a:t>[Sources]</a:t>
            </a:r>
          </a:p>
          <a:p xmlns:a="http://schemas.openxmlformats.org/drawingml/2006/main">
            <a:r>
              <a:t>- phase1_config.json</a:t>
            </a:r>
          </a:p>
          <a:p xmlns:a="http://schemas.openxmlformats.org/drawingml/2006/main">
            <a:r>
              <a:t>- https://huggingface.co/datasets/rajpurkar/squad_v2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transparent pipeline. Retrieval keeps top 3 for diagnostics; generation receives only rank 1 and uses deterministic greedy decoding.</a:t>
            </a:r>
          </a:p>
          <a:p xmlns:a="http://schemas.openxmlformats.org/drawingml/2006/main">
            <a:r>
              <a:t/>
            </a:r>
          </a:p>
          <a:p xmlns:a="http://schemas.openxmlformats.org/drawingml/2006/main">
            <a:r>
              <a:t>[Sources]</a:t>
            </a:r>
          </a:p>
          <a:p xmlns:a="http://schemas.openxmlformats.org/drawingml/2006/main">
            <a:r>
              <a:t>- phase1_config.json</a:t>
            </a:r>
          </a:p>
          <a:p xmlns:a="http://schemas.openxmlformats.org/drawingml/2006/main">
            <a:r>
              <a:t>- T05_Phase1_Baseline.ipynb</a:t>
            </a:r>
          </a:p>
          <a:p xmlns:a="http://schemas.openxmlformats.org/drawingml/2006/main">
            <a:r>
              <a:t>- https://github.com/facebookresearch/faiss/wiki/Faiss-indexes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Translate percentages to counts: 71 of 80 answerable questions retrieve the gold context at rank 1 and 79 of 80 within top 3. Only one is a complete miss.</a:t>
            </a:r>
          </a:p>
          <a:p xmlns:a="http://schemas.openxmlformats.org/drawingml/2006/main">
            <a:r>
              <a:t/>
            </a:r>
          </a:p>
          <a:p xmlns:a="http://schemas.openxmlformats.org/drawingml/2006/main">
            <a:r>
              <a:t>[Sources]</a:t>
            </a:r>
          </a:p>
          <a:p xmlns:a="http://schemas.openxmlformats.org/drawingml/2006/main">
            <a:r>
              <a:t>- phase2_metrics.json</a:t>
            </a:r>
          </a:p>
          <a:p xmlns:a="http://schemas.openxmlformats.org/drawingml/2006/main">
            <a:r>
              <a:t>- phase2_predictions.csv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Answerable EM is 63.75 percent and F1 is 76.13 percent. Unanswerable abstention rises to 25 percent, but 30 of 40 unanswerable questions still receive substantive answers.</a:t>
            </a:r>
          </a:p>
          <a:p xmlns:a="http://schemas.openxmlformats.org/drawingml/2006/main">
            <a:r>
              <a:t/>
            </a:r>
          </a:p>
          <a:p xmlns:a="http://schemas.openxmlformats.org/drawingml/2006/main">
            <a:r>
              <a:t>[Sources]</a:t>
            </a:r>
          </a:p>
          <a:p xmlns:a="http://schemas.openxmlformats.org/drawingml/2006/main">
            <a:r>
              <a:t>- phase2_breakdowns.csv</a:t>
            </a:r>
          </a:p>
          <a:p xmlns:a="http://schemas.openxmlformats.org/drawingml/2006/main">
            <a:r>
              <a:t>- phase2_metrics.json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questions are only modestly better. In contrast, missing the correct rank-1 passage changes F1 from 85.78 percent to zero.</a:t>
            </a:r>
          </a:p>
          <a:p xmlns:a="http://schemas.openxmlformats.org/drawingml/2006/main">
            <a:r>
              <a:t/>
            </a:r>
          </a:p>
          <a:p xmlns:a="http://schemas.openxmlformats.org/drawingml/2006/main">
            <a:r>
              <a:t>[Sources]</a:t>
            </a:r>
          </a:p>
          <a:p xmlns:a="http://schemas.openxmlformats.org/drawingml/2006/main">
            <a:r>
              <a:t>- phase2_breakdowns.csv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Automatic categories are triage labels. The 22-row manual sample is failure-enriched: 13 unsupported, 4 partial, and 5 acceptable. Do not report 59.09 percent as an overall hallucination rate.</a:t>
            </a:r>
          </a:p>
          <a:p xmlns:a="http://schemas.openxmlformats.org/drawingml/2006/main">
            <a:r>
              <a:t/>
            </a:r>
          </a:p>
          <a:p xmlns:a="http://schemas.openxmlformats.org/drawingml/2006/main">
            <a:r>
              <a:t>[Sources]</a:t>
            </a:r>
          </a:p>
          <a:p xmlns:a="http://schemas.openxmlformats.org/drawingml/2006/main">
            <a:r>
              <a:t>- phase2_category_counts.csv</a:t>
            </a:r>
          </a:p>
          <a:p xmlns:a="http://schemas.openxmlformats.org/drawingml/2006/main">
            <a:r>
              <a:t>- phase2_manual_review_completed.csv</a:t>
            </a:r>
          </a:p>
          <a:p xmlns:a="http://schemas.openxmlformats.org/drawingml/2006/main">
            <a:r>
              <a:t>- phase2_manual_review_summary.json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four examples to distinguish failure mechanisms. In the new demo, the private-email and deadline questions correctly abstain, while the high-similarity George IV Bridge benchmark still receives a substantive answer.</a:t>
            </a:r>
          </a:p>
          <a:p xmlns:a="http://schemas.openxmlformats.org/drawingml/2006/main">
            <a:r>
              <a:t/>
            </a:r>
          </a:p>
          <a:p xmlns:a="http://schemas.openxmlformats.org/drawingml/2006/main">
            <a:r>
              <a:t>[Sources]</a:t>
            </a:r>
          </a:p>
          <a:p xmlns:a="http://schemas.openxmlformats.org/drawingml/2006/main">
            <a:r>
              <a:t>- phase2_manual_review_completed.csv</a:t>
            </a:r>
          </a:p>
          <a:p xmlns:a="http://schemas.openxmlformats.org/drawingml/2006/main">
            <a:r>
              <a:t>- phase2_demo_outputs.csv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controlled generator comparison: seed, 120 questions, corpus, embedding model, FAISS retrieval, prompt, and greedy decoding are unchanged. Base improves overall EM by 7.50 points, F1 by 8.43, and unanswerable abstention by 22.50. Answerable EM is unchanged, so most of the gain comes from better abstention.</a:t>
            </a:r>
          </a:p>
          <a:p xmlns:a="http://schemas.openxmlformats.org/drawingml/2006/main">
            <a:r>
              <a:t/>
            </a:r>
          </a:p>
          <a:p xmlns:a="http://schemas.openxmlformats.org/drawingml/2006/main">
            <a:r>
              <a:t>[Sources]</a:t>
            </a:r>
          </a:p>
          <a:p xmlns:a="http://schemas.openxmlformats.org/drawingml/2006/main">
            <a:r>
              <a:t>- model_comparison.csv</a:t>
            </a:r>
          </a:p>
          <a:p xmlns:a="http://schemas.openxmlformats.org/drawingml/2006/main">
            <a:r>
              <a:t>- model_transition_summary.json</a:t>
            </a:r>
          </a:p>
          <a:p xmlns:a="http://schemas.openxmlformats.org/drawingml/2006/main">
            <a:r>
              <a:t>- phase2_metrics.json</a:t>
            </a:r>
          </a:p>
          <a:p xmlns:a="http://schemas.openxmlformats.org/drawingml/2006/main">
            <a:r>
              <a:t>- phase2_breakdowns.csv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the trade-off precisely. With the same 120 questions, rank-1 evidence, model, and greedy decoding, the strict prompt improves overall EM by 0.84 points, F1 by 1.50, and unanswerable abstention by 5.00, while answerable F1 falls by 0.25. The low-similarity answerable slice is weaker, but medium and high groups are not monotonic, so similarity is not a calibrated threshold.</a:t>
            </a:r>
          </a:p>
          <a:p xmlns:a="http://schemas.openxmlformats.org/drawingml/2006/main">
            <a:r>
              <a:t/>
            </a:r>
          </a:p>
          <a:p xmlns:a="http://schemas.openxmlformats.org/drawingml/2006/main">
            <a:r>
              <a:t>[Sources]</a:t>
            </a:r>
          </a:p>
          <a:p xmlns:a="http://schemas.openxmlformats.org/drawingml/2006/main">
            <a:r>
              <a:t>- prompt_comparison_metrics.csv</a:t>
            </a:r>
          </a:p>
          <a:p xmlns:a="http://schemas.openxmlformats.org/drawingml/2006/main">
            <a:r>
              <a:t>- prompt_effect_counts.csv</a:t>
            </a:r>
          </a:p>
          <a:p xmlns:a="http://schemas.openxmlformats.org/drawingml/2006/main">
            <a:r>
              <a:t>- similarity_breakdown.csv</a:t>
            </a:r>
          </a:p>
          <a:p xmlns:a="http://schemas.openxmlformats.org/drawingml/2006/main">
            <a:r>
              <a:t>- demo_outputs.csv</a:t>
            </a:r>
          </a:p>
          <a:p xmlns:a="http://schemas.openxmlformats.org/drawingml/2006/main">
            <a:r>
              <a:t>- bonus_config.json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 the opening question. Base materially improves the small-model run, especially abstention, but still answers 30 of 40 unanswerable questions. The strict prompt reduces that to 28 while slightly lowering answerable F1. The next robust step is an evidence-support gate, followed by lightweight reranking.</a:t>
            </a:r>
          </a:p>
          <a:p xmlns:a="http://schemas.openxmlformats.org/drawingml/2006/main">
            <a:r>
              <a:t/>
            </a:r>
          </a:p>
          <a:p xmlns:a="http://schemas.openxmlformats.org/drawingml/2006/main">
            <a:r>
              <a:t>[Sources]</a:t>
            </a:r>
          </a:p>
          <a:p xmlns:a="http://schemas.openxmlformats.org/drawingml/2006/main">
            <a:r>
              <a:t>- phase2_metrics.json</a:t>
            </a:r>
          </a:p>
          <a:p xmlns:a="http://schemas.openxmlformats.org/drawingml/2006/main">
            <a:r>
              <a:t>- phase2_notes.json</a:t>
            </a:r>
          </a:p>
          <a:p xmlns:a="http://schemas.openxmlformats.org/drawingml/2006/main">
            <a:r>
              <a:t>- integration_contract.json</a:t>
            </a:r>
          </a:p>
          <a:p xmlns:a="http://schemas.openxmlformats.org/drawingml/2006/main">
            <a:r>
              <a:t>- prompt_comparison_metrics.csv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9af492553740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f0b76eb447494c" /><Relationship Type="http://schemas.openxmlformats.org/officeDocument/2006/relationships/slideLayout" Target="/ppt/slideLayouts/slideLayout1.xml" Id="R75ff32901b164f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5ff32901b164f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67ab9baab12445a" /><Relationship Type="http://schemas.openxmlformats.org/officeDocument/2006/relationships/notesSlide" Target="/ppt/notesSlides/notesSlide1.xml" Id="R0f85e0888d9845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3e5268f6524e0d" /><Relationship Type="http://schemas.openxmlformats.org/officeDocument/2006/relationships/notesSlide" Target="/ppt/notesSlides/notesSlide2.xml" Id="R0e3d81a9ef9a47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a63c0d416ce45ca" /><Relationship Type="http://schemas.openxmlformats.org/officeDocument/2006/relationships/notesSlide" Target="/ppt/notesSlides/notesSlide3.xml" Id="R79a3245c5a6d46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b50ffe57434fcd" /><Relationship Type="http://schemas.openxmlformats.org/officeDocument/2006/relationships/chart" Target="/ppt/slides/charts/chart1.xml" Id="R78f8a44d68324e4e" /><Relationship Type="http://schemas.openxmlformats.org/officeDocument/2006/relationships/notesSlide" Target="/ppt/notesSlides/notesSlide4.xml" Id="R2de3436d214f41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4e39f2c7b9a4982" /><Relationship Type="http://schemas.openxmlformats.org/officeDocument/2006/relationships/chart" Target="/ppt/slides/charts/chart2.xml" Id="R835668642e794e19" /><Relationship Type="http://schemas.openxmlformats.org/officeDocument/2006/relationships/notesSlide" Target="/ppt/notesSlides/notesSlide5.xml" Id="R07ec59c2803b4c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f20aee9cc994ed5" /><Relationship Type="http://schemas.openxmlformats.org/officeDocument/2006/relationships/chart" Target="/ppt/slides/charts/chart3.xml" Id="Ref2f216547f94cb0" /><Relationship Type="http://schemas.openxmlformats.org/officeDocument/2006/relationships/notesSlide" Target="/ppt/notesSlides/notesSlide6.xml" Id="R61ee26e528664c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eba910eac7449c" /><Relationship Type="http://schemas.openxmlformats.org/officeDocument/2006/relationships/chart" Target="/ppt/slides/charts/chart4.xml" Id="Rc8ef4153041a410c" /><Relationship Type="http://schemas.openxmlformats.org/officeDocument/2006/relationships/notesSlide" Target="/ppt/notesSlides/notesSlide7.xml" Id="R509b4d7dbaf949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e53aec80c54edc" /><Relationship Type="http://schemas.openxmlformats.org/officeDocument/2006/relationships/notesSlide" Target="/ppt/notesSlides/notesSlide8.xml" Id="Raa80784cb8bf4e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390c69d82d4321" /><Relationship Type="http://schemas.openxmlformats.org/officeDocument/2006/relationships/chart" Target="/ppt/slides/charts/chart5.xml" Id="Rd86dec42a5414606" /><Relationship Type="http://schemas.openxmlformats.org/officeDocument/2006/relationships/notesSlide" Target="/ppt/notesSlides/notesSlide9.xml" Id="R11614fcde9e34a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4636c31dd5e4c67" /><Relationship Type="http://schemas.openxmlformats.org/officeDocument/2006/relationships/chart" Target="/ppt/slides/charts/chart6.xml" Id="Ra55a40a645e44489" /><Relationship Type="http://schemas.openxmlformats.org/officeDocument/2006/relationships/notesSlide" Target="/ppt/notesSlides/notesSlide10.xml" Id="Ra49148878cb347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2e202ebd4224618" /><Relationship Type="http://schemas.openxmlformats.org/officeDocument/2006/relationships/notesSlide" Target="/ppt/notesSlides/notesSlide11.xml" Id="R3d4eb8db4d4f4a16" /></Relationships>
</file>

<file path=ppt/slides/charts/chart1.xml><?xml version="1.0" encoding="utf-8"?>
<c:chartSpace xmlns:c="http://schemas.openxmlformats.org/drawingml/2006/chart">
  <c:lang val="en-US"/>
  <c:chart>
    <c:plotArea>
      <c:barChart>
        <c:barDir val="col"/>
        <c:grouping val="clustered"/>
        <c:varyColors val="0"/>
        <c:ser>
          <c:idx val="0"/>
          <c:order val="0"/>
          <c:tx>
            <c:v>Retrieval</c:v>
          </c:tx>
          <c:spPr>
            <a:solidFill xmlns:a="http://schemas.openxmlformats.org/drawingml/2006/main">
              <a:srgbClr val="3B82F6"/>
            </a:solidFill>
          </c:spPr>
          <c:cat>
            <c:strLit>
              <c:ptCount val="2"/>
              <c:pt idx="0">
                <c:v>Rank 1</c:v>
              </c:pt>
              <c:pt idx="1">
                <c:v>Top 3</c:v>
              </c:pt>
            </c:strLit>
          </c:cat>
          <c:val>
            <c:numLit>
              <c:formatCode>General</c:formatCode>
              <c:ptCount val="2"/>
              <c:pt idx="0">
                <c:v>88.75</c:v>
              </c:pt>
              <c:pt idx="1">
                <c:v>98.75</c:v>
              </c:pt>
            </c:numLit>
          </c:val>
        </c:ser>
        <c:dLbls>
          <c:txPr>
            <a:bodyPr xmlns:a="http://schemas.openxmlformats.org/drawingml/2006/main" anchorCtr="1"/>
            <a:lstStyle xmlns:a="http://schemas.openxmlformats.org/drawingml/2006/main"/>
            <a:p xmlns:a="http://schemas.openxmlformats.org/drawingml/2006/main">
              <a:pPr>
                <a:defRPr sz="900" b="1">
                  <a:solidFill>
                    <a:srgbClr val="1E293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E9EEF4"/>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48B"/>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9525">
      <a:solidFill>
        <a:srgbClr val="E2E8F0"/>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Exact Match</c:v>
          </c:tx>
          <c:spPr>
            <a:solidFill xmlns:a="http://schemas.openxmlformats.org/drawingml/2006/main">
              <a:srgbClr val="3B82F6"/>
            </a:solidFill>
          </c:spPr>
          <c:cat>
            <c:strLit>
              <c:ptCount val="2"/>
              <c:pt idx="0">
                <c:v>Answerable</c:v>
              </c:pt>
              <c:pt idx="1">
                <c:v>Unanswerable</c:v>
              </c:pt>
            </c:strLit>
          </c:cat>
          <c:val>
            <c:numLit>
              <c:formatCode>General</c:formatCode>
              <c:ptCount val="2"/>
              <c:pt idx="0">
                <c:v>63.75</c:v>
              </c:pt>
              <c:pt idx="1">
                <c:v>25</c:v>
              </c:pt>
            </c:numLit>
          </c:val>
        </c:ser>
        <c:ser>
          <c:idx val="1"/>
          <c:order val="1"/>
          <c:tx>
            <c:v>Token F1</c:v>
          </c:tx>
          <c:spPr>
            <a:solidFill xmlns:a="http://schemas.openxmlformats.org/drawingml/2006/main">
              <a:srgbClr val="10B981"/>
            </a:solidFill>
          </c:spPr>
          <c:cat>
            <c:strLit>
              <c:ptCount val="2"/>
              <c:pt idx="0">
                <c:v>Answerable</c:v>
              </c:pt>
              <c:pt idx="1">
                <c:v>Unanswerable</c:v>
              </c:pt>
            </c:strLit>
          </c:cat>
          <c:val>
            <c:numLit>
              <c:formatCode>General</c:formatCode>
              <c:ptCount val="2"/>
              <c:pt idx="0">
                <c:v>76.13</c:v>
              </c:pt>
              <c:pt idx="1">
                <c:v>25</c:v>
              </c:pt>
            </c:numLit>
          </c:val>
        </c:ser>
        <c:dLbls>
          <c:txPr>
            <a:bodyPr xmlns:a="http://schemas.openxmlformats.org/drawingml/2006/main" anchorCtr="1"/>
            <a:lstStyle xmlns:a="http://schemas.openxmlformats.org/drawingml/2006/main"/>
            <a:p xmlns:a="http://schemas.openxmlformats.org/drawingml/2006/main">
              <a:pPr>
                <a:defRPr sz="900" b="1">
                  <a:solidFill>
                    <a:srgbClr val="1E293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E9EEF4"/>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48B"/>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64748B"/>
              </a:solidFill>
            </a:defRPr>
          </a:pPr>
        </a:p>
      </c:txPr>
    </c:legend>
    <c:plotVisOnly val="1"/>
  </c:chart>
  <c:spPr>
    <a:solidFill xmlns:a="http://schemas.openxmlformats.org/drawingml/2006/main">
      <a:srgbClr val="FFFFFF"/>
    </a:solidFill>
    <a:ln xmlns:a="http://schemas.openxmlformats.org/drawingml/2006/main" w="9525">
      <a:solidFill>
        <a:srgbClr val="E2E8F0"/>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Exact Match</c:v>
          </c:tx>
          <c:spPr>
            <a:solidFill xmlns:a="http://schemas.openxmlformats.org/drawingml/2006/main">
              <a:srgbClr val="3B82F6"/>
            </a:solidFill>
          </c:spPr>
          <c:cat>
            <c:strLit>
              <c:ptCount val="2"/>
              <c:pt idx="0">
                <c:v>Top-1 Hit</c:v>
              </c:pt>
              <c:pt idx="1">
                <c:v>Top-1 Miss</c:v>
              </c:pt>
            </c:strLit>
          </c:cat>
          <c:val>
            <c:numLit>
              <c:formatCode>General</c:formatCode>
              <c:ptCount val="2"/>
              <c:pt idx="0">
                <c:v>71.83</c:v>
              </c:pt>
              <c:pt idx="1">
                <c:v>0</c:v>
              </c:pt>
            </c:numLit>
          </c:val>
        </c:ser>
        <c:ser>
          <c:idx val="1"/>
          <c:order val="1"/>
          <c:tx>
            <c:v>Token F1</c:v>
          </c:tx>
          <c:spPr>
            <a:solidFill xmlns:a="http://schemas.openxmlformats.org/drawingml/2006/main">
              <a:srgbClr val="10B981"/>
            </a:solidFill>
          </c:spPr>
          <c:cat>
            <c:strLit>
              <c:ptCount val="2"/>
              <c:pt idx="0">
                <c:v>Top-1 Hit</c:v>
              </c:pt>
              <c:pt idx="1">
                <c:v>Top-1 Miss</c:v>
              </c:pt>
            </c:strLit>
          </c:cat>
          <c:val>
            <c:numLit>
              <c:formatCode>General</c:formatCode>
              <c:ptCount val="2"/>
              <c:pt idx="0">
                <c:v>85.78</c:v>
              </c:pt>
              <c:pt idx="1">
                <c:v>0</c:v>
              </c:pt>
            </c:numLit>
          </c:val>
        </c:ser>
        <c:dLbls>
          <c:txPr>
            <a:bodyPr xmlns:a="http://schemas.openxmlformats.org/drawingml/2006/main" anchorCtr="1"/>
            <a:lstStyle xmlns:a="http://schemas.openxmlformats.org/drawingml/2006/main"/>
            <a:p xmlns:a="http://schemas.openxmlformats.org/drawingml/2006/main">
              <a:pPr>
                <a:defRPr sz="900" b="1">
                  <a:solidFill>
                    <a:srgbClr val="1E293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E9EEF4"/>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48B"/>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64748B"/>
              </a:solidFill>
            </a:defRPr>
          </a:pPr>
        </a:p>
      </c:txPr>
    </c:legend>
    <c:plotVisOnly val="1"/>
  </c:chart>
  <c:spPr>
    <a:solidFill xmlns:a="http://schemas.openxmlformats.org/drawingml/2006/main">
      <a:srgbClr val="FFFFFF"/>
    </a:solidFill>
    <a:ln xmlns:a="http://schemas.openxmlformats.org/drawingml/2006/main" w="9525">
      <a:solidFill>
        <a:srgbClr val="E2E8F0"/>
      </a:solidFill>
      <a:prstDash val="solid"/>
    </a:ln>
  </c:spPr>
</c:chartSpace>
</file>

<file path=ppt/slides/charts/chart4.xml><?xml version="1.0" encoding="utf-8"?>
<c:chartSpace xmlns:c="http://schemas.openxmlformats.org/drawingml/2006/chart">
  <c:lang val="en-US"/>
  <c:chart>
    <c:plotArea>
      <c:barChart>
        <c:barDir val="bar"/>
        <c:grouping val="clustered"/>
        <c:varyColors val="1"/>
        <c:ser>
          <c:idx val="0"/>
          <c:order val="0"/>
          <c:tx>
            <c:v>Count</c:v>
          </c:tx>
          <c:spPr>
            <a:solidFill xmlns:a="http://schemas.openxmlformats.org/drawingml/2006/main">
              <a:srgbClr val="10B981"/>
            </a:solidFill>
          </c:spPr>
          <c:dPt>
            <c:idx val="0"/>
            <c:invertIfNegative val="0"/>
            <c:spPr>
              <a:solidFill xmlns:a="http://schemas.openxmlformats.org/drawingml/2006/main">
                <a:srgbClr val="10B981"/>
              </a:solidFill>
            </c:spPr>
          </c:dPt>
          <c:dPt>
            <c:idx val="1"/>
            <c:invertIfNegative val="0"/>
            <c:spPr>
              <a:solidFill xmlns:a="http://schemas.openxmlformats.org/drawingml/2006/main">
                <a:srgbClr val="F59E0B"/>
              </a:solidFill>
            </c:spPr>
          </c:dPt>
          <c:dPt>
            <c:idx val="2"/>
            <c:invertIfNegative val="0"/>
            <c:spPr>
              <a:solidFill xmlns:a="http://schemas.openxmlformats.org/drawingml/2006/main">
                <a:srgbClr val="3B82F6"/>
              </a:solidFill>
            </c:spPr>
          </c:dPt>
          <c:dPt>
            <c:idx val="3"/>
            <c:invertIfNegative val="0"/>
            <c:spPr>
              <a:solidFill xmlns:a="http://schemas.openxmlformats.org/drawingml/2006/main">
                <a:srgbClr val="8B5CF6"/>
              </a:solidFill>
            </c:spPr>
          </c:dPt>
          <c:dPt>
            <c:idx val="4"/>
            <c:invertIfNegative val="0"/>
            <c:spPr>
              <a:solidFill xmlns:a="http://schemas.openxmlformats.org/drawingml/2006/main">
                <a:srgbClr val="EF4444"/>
              </a:solidFill>
            </c:spPr>
          </c:dPt>
          <c:dPt>
            <c:idx val="5"/>
            <c:invertIfNegative val="0"/>
            <c:spPr>
              <a:solidFill xmlns:a="http://schemas.openxmlformats.org/drawingml/2006/main">
                <a:srgbClr val="64748B"/>
              </a:solidFill>
            </c:spPr>
          </c:dPt>
          <c:dPt>
            <c:idx val="6"/>
            <c:invertIfNegative val="0"/>
            <c:spPr>
              <a:solidFill xmlns:a="http://schemas.openxmlformats.org/drawingml/2006/main">
                <a:srgbClr val="10B981"/>
              </a:solidFill>
            </c:spPr>
          </c:dPt>
          <c:cat>
            <c:strLit>
              <c:ptCount val="7"/>
              <c:pt idx="0">
                <c:v>Correct</c:v>
              </c:pt>
              <c:pt idx="1">
                <c:v>Absent evidence</c:v>
              </c:pt>
              <c:pt idx="2">
                <c:v>Partial</c:v>
              </c:pt>
              <c:pt idx="3">
                <c:v>Ranking error</c:v>
              </c:pt>
              <c:pt idx="4">
                <c:v>Ignored evidence</c:v>
              </c:pt>
              <c:pt idx="5">
                <c:v>Retrieval miss</c:v>
              </c:pt>
              <c:pt idx="6">
                <c:v>Correct abstention</c:v>
              </c:pt>
            </c:strLit>
          </c:cat>
          <c:val>
            <c:numLit>
              <c:formatCode>General</c:formatCode>
              <c:ptCount val="7"/>
              <c:pt idx="0">
                <c:v>51</c:v>
              </c:pt>
              <c:pt idx="1">
                <c:v>30</c:v>
              </c:pt>
              <c:pt idx="2">
                <c:v>17</c:v>
              </c:pt>
              <c:pt idx="3">
                <c:v>8</c:v>
              </c:pt>
              <c:pt idx="4">
                <c:v>3</c:v>
              </c:pt>
              <c:pt idx="5">
                <c:v>1</c:v>
              </c:pt>
              <c:pt idx="6">
                <c:v>10</c:v>
              </c:pt>
            </c:numLit>
          </c:val>
        </c:ser>
        <c:dLbls>
          <c:txPr>
            <a:bodyPr xmlns:a="http://schemas.openxmlformats.org/drawingml/2006/main" anchorCtr="1"/>
            <a:lstStyle xmlns:a="http://schemas.openxmlformats.org/drawingml/2006/main"/>
            <a:p xmlns:a="http://schemas.openxmlformats.org/drawingml/2006/main">
              <a:pPr>
                <a:defRPr sz="900" b="1">
                  <a:solidFill>
                    <a:srgbClr val="1E293B"/>
                  </a:solidFill>
                </a:defRPr>
              </a:pPr>
            </a:p>
          </c:txPr>
          <c:dLblPos val="outEnd"/>
          <c:showLegendKey val="0"/>
          <c:showVal val="1"/>
          <c:showCatName val="0"/>
          <c:showSerName val="0"/>
          <c:showPercent val="0"/>
          <c:showBubbleSize val="0"/>
          <c:showLeaderLines val="0"/>
        </c:dLbls>
        <c:gapWidth val="4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75">
                <a:solidFill>
                  <a:srgbClr val="1E293B"/>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9525">
      <a:solidFill>
        <a:srgbClr val="E2E8F0"/>
      </a:solidFill>
      <a:prstDash val="solid"/>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FLAN-T5-small</c:v>
          </c:tx>
          <c:spPr>
            <a:solidFill xmlns:a="http://schemas.openxmlformats.org/drawingml/2006/main">
              <a:srgbClr val="8EA1B7"/>
            </a:solidFill>
          </c:spPr>
          <c:cat>
            <c:strLit>
              <c:ptCount val="3"/>
              <c:pt idx="0">
                <c:v>Overall EM</c:v>
              </c:pt>
              <c:pt idx="1">
                <c:v>Overall F1</c:v>
              </c:pt>
              <c:pt idx="2">
                <c:v>UA abstention</c:v>
              </c:pt>
            </c:strLit>
          </c:cat>
          <c:val>
            <c:numLit>
              <c:formatCode>General</c:formatCode>
              <c:ptCount val="3"/>
              <c:pt idx="0">
                <c:v>43.33</c:v>
              </c:pt>
              <c:pt idx="1">
                <c:v>50.66</c:v>
              </c:pt>
              <c:pt idx="2">
                <c:v>2.5</c:v>
              </c:pt>
            </c:numLit>
          </c:val>
        </c:ser>
        <c:ser>
          <c:idx val="1"/>
          <c:order val="1"/>
          <c:tx>
            <c:v>FLAN-T5-base</c:v>
          </c:tx>
          <c:spPr>
            <a:solidFill xmlns:a="http://schemas.openxmlformats.org/drawingml/2006/main">
              <a:srgbClr val="10B981"/>
            </a:solidFill>
          </c:spPr>
          <c:cat>
            <c:strLit>
              <c:ptCount val="3"/>
              <c:pt idx="0">
                <c:v>Overall EM</c:v>
              </c:pt>
              <c:pt idx="1">
                <c:v>Overall F1</c:v>
              </c:pt>
              <c:pt idx="2">
                <c:v>UA abstention</c:v>
              </c:pt>
            </c:strLit>
          </c:cat>
          <c:val>
            <c:numLit>
              <c:formatCode>General</c:formatCode>
              <c:ptCount val="3"/>
              <c:pt idx="0">
                <c:v>50.83</c:v>
              </c:pt>
              <c:pt idx="1">
                <c:v>59.09</c:v>
              </c:pt>
              <c:pt idx="2">
                <c:v>25</c:v>
              </c:pt>
            </c:numLit>
          </c:val>
        </c:ser>
        <c:dLbls>
          <c:txPr>
            <a:bodyPr xmlns:a="http://schemas.openxmlformats.org/drawingml/2006/main" anchorCtr="1"/>
            <a:lstStyle xmlns:a="http://schemas.openxmlformats.org/drawingml/2006/main"/>
            <a:p xmlns:a="http://schemas.openxmlformats.org/drawingml/2006/main">
              <a:pPr>
                <a:defRPr sz="900" b="1">
                  <a:solidFill>
                    <a:srgbClr val="1E293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E9EEF4"/>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48B"/>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64748B"/>
              </a:solidFill>
            </a:defRPr>
          </a:pPr>
        </a:p>
      </c:txPr>
    </c:legend>
    <c:plotVisOnly val="1"/>
  </c:chart>
  <c:spPr>
    <a:solidFill xmlns:a="http://schemas.openxmlformats.org/drawingml/2006/main">
      <a:srgbClr val="FFFFFF"/>
    </a:solidFill>
    <a:ln xmlns:a="http://schemas.openxmlformats.org/drawingml/2006/main" w="9525">
      <a:solidFill>
        <a:srgbClr val="E2E8F0"/>
      </a:solidFill>
      <a:prstDash val="solid"/>
    </a:ln>
  </c:spPr>
</c:chartSpace>
</file>

<file path=ppt/slides/charts/chart6.xml><?xml version="1.0" encoding="utf-8"?>
<c:chartSpace xmlns:c="http://schemas.openxmlformats.org/drawingml/2006/chart">
  <c:lang val="en-US"/>
  <c:chart>
    <c:plotArea>
      <c:barChart>
        <c:barDir val="col"/>
        <c:grouping val="clustered"/>
        <c:varyColors val="0"/>
        <c:ser>
          <c:idx val="0"/>
          <c:order val="0"/>
          <c:tx>
            <c:v>Answerable Token F1</c:v>
          </c:tx>
          <c:spPr>
            <a:solidFill xmlns:a="http://schemas.openxmlformats.org/drawingml/2006/main">
              <a:srgbClr val="10B981"/>
            </a:solidFill>
          </c:spPr>
          <c:cat>
            <c:strLit>
              <c:ptCount val="3"/>
              <c:pt idx="0">
                <c:v>Low</c:v>
              </c:pt>
              <c:pt idx="1">
                <c:v>Medium</c:v>
              </c:pt>
              <c:pt idx="2">
                <c:v>High</c:v>
              </c:pt>
            </c:strLit>
          </c:cat>
          <c:val>
            <c:numLit>
              <c:formatCode>General</c:formatCode>
              <c:ptCount val="3"/>
              <c:pt idx="0">
                <c:v>60.48</c:v>
              </c:pt>
              <c:pt idx="1">
                <c:v>81.9</c:v>
              </c:pt>
              <c:pt idx="2">
                <c:v>80.8</c:v>
              </c:pt>
            </c:numLit>
          </c:val>
        </c:ser>
        <c:dLbls>
          <c:txPr>
            <a:bodyPr xmlns:a="http://schemas.openxmlformats.org/drawingml/2006/main" anchorCtr="1"/>
            <a:lstStyle xmlns:a="http://schemas.openxmlformats.org/drawingml/2006/main"/>
            <a:p xmlns:a="http://schemas.openxmlformats.org/drawingml/2006/main">
              <a:pPr>
                <a:defRPr sz="900" b="1">
                  <a:solidFill>
                    <a:srgbClr val="1E293B"/>
                  </a:solidFil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E2E8F0"/>
            </a:solidFill>
            <a:prstDash val="solid"/>
          </a:ln>
        </c:spPr>
        <c:txPr>
          <a:bodyPr xmlns:a="http://schemas.openxmlformats.org/drawingml/2006/main" anchorCtr="1"/>
          <a:lstStyle xmlns:a="http://schemas.openxmlformats.org/drawingml/2006/main"/>
          <a:p xmlns:a="http://schemas.openxmlformats.org/drawingml/2006/main">
            <a:pPr>
              <a:defRPr sz="900">
                <a:solidFill>
                  <a:srgbClr val="64748B"/>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E9EEF4"/>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48B"/>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9525">
      <a:solidFill>
        <a:srgbClr val="E2E8F0"/>
      </a:solidFill>
      <a:prstDash val="solid"/>
    </a:ln>
  </c:spPr>
</c:chartSpace>
</file>

<file path=ppt/slides/slide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9" name="cover-blue-glow">
            <a:extLst xmlns:a="http://schemas.openxmlformats.org/drawingml/2006/main">
              <a:ext uri="{FF2B5EF4-FFF2-40B4-BE49-F238E27FC236}">
                <a16:creationId xmlns:a16="http://schemas.microsoft.com/office/drawing/2014/main" id="{1100E5EA-C4E3-4067-9D97-65E7BBCFB65A}"/>
              </a:ext>
            </a:extLst>
          </p:cNvPr>
          <p:cNvSpPr>
            <a:spLocks xmlns:a="http://schemas.openxmlformats.org/drawingml/2006/main" noGrp="1"/>
          </p:cNvSpPr>
          <p:nvPr/>
        </p:nvSpPr>
        <p:spPr>
          <a:xfrm xmlns:a="http://schemas.openxmlformats.org/drawingml/2006/main">
            <a:off x="9525000" y="0"/>
            <a:ext cx="2667000" cy="2667000"/>
          </a:xfrm>
          <a:prstGeom xmlns:a="http://schemas.openxmlformats.org/drawingml/2006/main" prst="ellipse">
            <a:avLst/>
          </a:prstGeom>
          <a:solidFill xmlns:a="http://schemas.openxmlformats.org/drawingml/2006/main">
            <a:srgbClr val="1E3A5F"/>
          </a:solidFill>
          <a:ln xmlns:a="http://schemas.openxmlformats.org/drawingml/2006/main" w="0">
            <a:solidFill>
              <a:srgbClr val="1E3A5F"/>
            </a:solidFill>
            <a:prstDash val="solid"/>
          </a:ln>
        </p:spPr>
      </p:sp>
      <p:sp>
        <p:nvSpPr>
          <p:cNvPr id="2" name="cover-green-glow">
            <a:extLst xmlns:a="http://schemas.openxmlformats.org/drawingml/2006/main">
              <a:ext uri="{FF2B5EF4-FFF2-40B4-BE49-F238E27FC236}">
                <a16:creationId xmlns:a16="http://schemas.microsoft.com/office/drawing/2014/main" id="{B3DAC235-1E44-4C73-9BE4-EAC7437E4C06}"/>
              </a:ext>
            </a:extLst>
          </p:cNvPr>
          <p:cNvSpPr>
            <a:spLocks xmlns:a="http://schemas.openxmlformats.org/drawingml/2006/main" noGrp="1"/>
          </p:cNvSpPr>
          <p:nvPr/>
        </p:nvSpPr>
        <p:spPr>
          <a:xfrm xmlns:a="http://schemas.openxmlformats.org/drawingml/2006/main">
            <a:off x="0" y="4953000"/>
            <a:ext cx="1905000" cy="1905000"/>
          </a:xfrm>
          <a:prstGeom xmlns:a="http://schemas.openxmlformats.org/drawingml/2006/main" prst="ellipse">
            <a:avLst/>
          </a:prstGeom>
          <a:solidFill xmlns:a="http://schemas.openxmlformats.org/drawingml/2006/main">
            <a:srgbClr val="123D39"/>
          </a:solidFill>
          <a:ln xmlns:a="http://schemas.openxmlformats.org/drawingml/2006/main" w="0">
            <a:solidFill>
              <a:srgbClr val="123D39"/>
            </a:solidFill>
            <a:prstDash val="solid"/>
          </a:ln>
        </p:spPr>
      </p:sp>
      <p:sp>
        <p:nvSpPr>
          <p:cNvPr id="3" name="cover-pill">
            <a:extLst xmlns:a="http://schemas.openxmlformats.org/drawingml/2006/main">
              <a:ext uri="{FF2B5EF4-FFF2-40B4-BE49-F238E27FC236}">
                <a16:creationId xmlns:a16="http://schemas.microsoft.com/office/drawing/2014/main" id="{2FE6C629-9451-44C8-8FE4-E457994E0878}"/>
              </a:ext>
            </a:extLst>
          </p:cNvPr>
          <p:cNvSpPr>
            <a:spLocks xmlns:a="http://schemas.openxmlformats.org/drawingml/2006/main" noGrp="1"/>
          </p:cNvSpPr>
          <p:nvPr/>
        </p:nvSpPr>
        <p:spPr>
          <a:xfrm xmlns:a="http://schemas.openxmlformats.org/drawingml/2006/main">
            <a:off x="4762500" y="1543050"/>
            <a:ext cx="2667000" cy="361950"/>
          </a:xfrm>
          <a:prstGeom xmlns:a="http://schemas.openxmlformats.org/drawingml/2006/main" prst="roundRect">
            <a:avLst>
              <a:gd name="adj" fmla="val 47368"/>
            </a:avLst>
          </a:prstGeom>
          <a:solidFill xmlns:a="http://schemas.openxmlformats.org/drawingml/2006/main">
            <a:srgbClr val="18345C"/>
          </a:solidFill>
          <a:ln xmlns:a="http://schemas.openxmlformats.org/drawingml/2006/main" w="9525">
            <a:solidFill>
              <a:srgbClr val="3B82F6"/>
            </a:solidFill>
            <a:prstDash val="solid"/>
          </a:ln>
        </p:spPr>
      </p:sp>
      <p:sp>
        <p:nvSpPr>
          <p:cNvPr id="4" name="cover-pill-text">
            <a:extLst xmlns:a="http://schemas.openxmlformats.org/drawingml/2006/main">
              <a:ext uri="{FF2B5EF4-FFF2-40B4-BE49-F238E27FC236}">
                <a16:creationId xmlns:a16="http://schemas.microsoft.com/office/drawing/2014/main" id="{17D4055D-2925-4214-9F1E-77CB7F4CDC81}"/>
              </a:ext>
            </a:extLst>
          </p:cNvPr>
          <p:cNvSpPr>
            <a:spLocks xmlns:a="http://schemas.openxmlformats.org/drawingml/2006/main" noGrp="1"/>
          </p:cNvSpPr>
          <p:nvPr/>
        </p:nvSpPr>
        <p:spPr>
          <a:xfrm xmlns:a="http://schemas.openxmlformats.org/drawingml/2006/main">
            <a:off x="4762500" y="16192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p xmlns:a="http://schemas.openxmlformats.org/drawingml/2006/main">
            <a:pPr algn="ctr">
              <a:defRPr sz="975" b="1">
                <a:solidFill>
                  <a:srgbClr val="60A5FA"/>
                </a:solidFill>
                <a:latin typeface="DejaVu Sans"/>
                <a:ea typeface="DejaVu Sans"/>
                <a:cs typeface="DejaVu Sans"/>
              </a:defRPr>
            </a:pPr>
            <a:r>
              <a:rPr sz="975" b="1">
                <a:solidFill>
                  <a:srgbClr val="60A5FA"/>
                </a:solidFill>
                <a:latin typeface="DejaVu Sans"/>
                <a:ea typeface="DejaVu Sans"/>
                <a:cs typeface="DejaVu Sans"/>
              </a:rPr>
              <a:t>T-05 · YADYAR LITE · FINAL</a:t>
            </a:r>
          </a:p>
        </p:txBody>
      </p:sp>
      <p:sp>
        <p:nvSpPr>
          <p:cNvPr id="5" name="cover-title">
            <a:extLst xmlns:a="http://schemas.openxmlformats.org/drawingml/2006/main">
              <a:ext uri="{FF2B5EF4-FFF2-40B4-BE49-F238E27FC236}">
                <a16:creationId xmlns:a16="http://schemas.microsoft.com/office/drawing/2014/main" id="{17215803-1982-42E6-B024-FD18A42BF18A}"/>
              </a:ext>
            </a:extLst>
          </p:cNvPr>
          <p:cNvSpPr>
            <a:spLocks xmlns:a="http://schemas.openxmlformats.org/drawingml/2006/main" noGrp="1"/>
          </p:cNvSpPr>
          <p:nvPr/>
        </p:nvSpPr>
        <p:spPr>
          <a:xfrm xmlns:a="http://schemas.openxmlformats.org/drawingml/2006/main">
            <a:off x="1666875" y="2381250"/>
            <a:ext cx="8858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616"/>
          </a:bodyPr>
          <a:lstStyle xmlns:a="http://schemas.openxmlformats.org/drawingml/2006/main"/>
          <a:p xmlns:a="http://schemas.openxmlformats.org/drawingml/2006/main">
            <a:pPr algn="ctr">
              <a:defRPr sz="3900" b="1">
                <a:solidFill>
                  <a:srgbClr val="FFFFFF"/>
                </a:solidFill>
                <a:latin typeface="DejaVu Sans"/>
                <a:ea typeface="DejaVu Sans"/>
                <a:cs typeface="DejaVu Sans"/>
              </a:defRPr>
            </a:pPr>
            <a:r>
              <a:rPr sz="3900" b="1">
                <a:solidFill>
                  <a:srgbClr val="FFFFFF"/>
                </a:solidFill>
                <a:latin typeface="DejaVu Sans"/>
                <a:ea typeface="DejaVu Sans"/>
                <a:cs typeface="DejaVu Sans"/>
              </a:rPr>
              <a:t>Retrieval-Augmented Generation</a:t>
            </a:r>
          </a:p>
          <a:p xmlns:a="http://schemas.openxmlformats.org/drawingml/2006/main">
            <a:pPr algn="ctr">
              <a:defRPr sz="3900" b="1">
                <a:solidFill>
                  <a:srgbClr val="FFFFFF"/>
                </a:solidFill>
                <a:latin typeface="DejaVu Sans"/>
                <a:ea typeface="DejaVu Sans"/>
                <a:cs typeface="DejaVu Sans"/>
              </a:defRPr>
            </a:pPr>
            <a:r>
              <a:rPr sz="3900" b="1">
                <a:solidFill>
                  <a:srgbClr val="FFFFFF"/>
                </a:solidFill>
                <a:latin typeface="DejaVu Sans"/>
                <a:ea typeface="DejaVu Sans"/>
                <a:cs typeface="DejaVu Sans"/>
              </a:rPr>
              <a:t>and Hallucination in RAG Systems</a:t>
            </a:r>
          </a:p>
        </p:txBody>
      </p:sp>
      <p:sp>
        <p:nvSpPr>
          <p:cNvPr id="6" name="cover-title-en">
            <a:extLst xmlns:a="http://schemas.openxmlformats.org/drawingml/2006/main">
              <a:ext uri="{FF2B5EF4-FFF2-40B4-BE49-F238E27FC236}">
                <a16:creationId xmlns:a16="http://schemas.microsoft.com/office/drawing/2014/main" id="{5881140A-8D1A-42F0-8D7C-9EC52F0AFD10}"/>
              </a:ext>
            </a:extLst>
          </p:cNvPr>
          <p:cNvSpPr>
            <a:spLocks xmlns:a="http://schemas.openxmlformats.org/drawingml/2006/main" noGrp="1"/>
          </p:cNvSpPr>
          <p:nvPr/>
        </p:nvSpPr>
        <p:spPr>
          <a:xfrm xmlns:a="http://schemas.openxmlformats.org/drawingml/2006/main">
            <a:off x="2476500" y="404812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425" b="0">
                <a:solidFill>
                  <a:srgbClr val="CBD5E1"/>
                </a:solidFill>
                <a:latin typeface="DejaVu Sans"/>
                <a:ea typeface="DejaVu Sans"/>
                <a:cs typeface="DejaVu Sans"/>
              </a:defRPr>
            </a:pPr>
            <a:r>
              <a:rPr sz="1425" b="0">
                <a:solidFill>
                  <a:srgbClr val="CBD5E1"/>
                </a:solidFill>
                <a:latin typeface="DejaVu Sans"/>
                <a:ea typeface="DejaVu Sans"/>
                <a:cs typeface="DejaVu Sans"/>
              </a:rPr>
              <a:t>A lightweight, evidence-focused evaluation on SQuAD v2</a:t>
            </a:r>
          </a:p>
        </p:txBody>
      </p:sp>
      <p:sp>
        <p:nvSpPr>
          <p:cNvPr id="7" name="cover-meta">
            <a:extLst xmlns:a="http://schemas.openxmlformats.org/drawingml/2006/main">
              <a:ext uri="{FF2B5EF4-FFF2-40B4-BE49-F238E27FC236}">
                <a16:creationId xmlns:a16="http://schemas.microsoft.com/office/drawing/2014/main" id="{8C482E5F-654F-4530-84EA-692C40A27746}"/>
              </a:ext>
            </a:extLst>
          </p:cNvPr>
          <p:cNvSpPr>
            <a:spLocks xmlns:a="http://schemas.openxmlformats.org/drawingml/2006/main" noGrp="1"/>
          </p:cNvSpPr>
          <p:nvPr/>
        </p:nvSpPr>
        <p:spPr>
          <a:xfrm xmlns:a="http://schemas.openxmlformats.org/drawingml/2006/main">
            <a:off x="2857500" y="5819775"/>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p xmlns:a="http://schemas.openxmlformats.org/drawingml/2006/main">
            <a:pPr algn="ctr">
              <a:defRPr sz="975" b="0">
                <a:solidFill>
                  <a:srgbClr val="8FA3BD"/>
                </a:solidFill>
                <a:latin typeface="DejaVu Sans"/>
                <a:ea typeface="DejaVu Sans"/>
                <a:cs typeface="DejaVu Sans"/>
              </a:defRPr>
            </a:pPr>
            <a:r>
              <a:rPr sz="975" b="0">
                <a:solidFill>
                  <a:srgbClr val="8FA3BD"/>
                </a:solidFill>
                <a:latin typeface="DejaVu Sans"/>
                <a:ea typeface="DejaVu Sans"/>
                <a:cs typeface="DejaVu Sans"/>
              </a:rPr>
              <a:t>Artificial Intelligence · Dr. Koohzadi · Spring 1404-1405</a:t>
            </a:r>
          </a:p>
        </p:txBody>
      </p:sp>
      <p:sp>
        <p:nvSpPr>
          <p:cNvPr id="8" name="cover-footer">
            <a:extLst xmlns:a="http://schemas.openxmlformats.org/drawingml/2006/main">
              <a:ext uri="{FF2B5EF4-FFF2-40B4-BE49-F238E27FC236}">
                <a16:creationId xmlns:a16="http://schemas.microsoft.com/office/drawing/2014/main" id="{26866981-906B-4642-8862-0E979C8C047F}"/>
              </a:ext>
            </a:extLst>
          </p:cNvPr>
          <p:cNvSpPr>
            <a:spLocks xmlns:a="http://schemas.openxmlformats.org/drawingml/2006/main" noGrp="1"/>
          </p:cNvSpPr>
          <p:nvPr/>
        </p:nvSpPr>
        <p:spPr>
          <a:xfrm xmlns:a="http://schemas.openxmlformats.org/drawingml/2006/main">
            <a:off x="3333750" y="6400800"/>
            <a:ext cx="552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F87A5"/>
                </a:solidFill>
                <a:latin typeface="DejaVu Sans"/>
                <a:ea typeface="DejaVu Sans"/>
                <a:cs typeface="DejaVu Sans"/>
              </a:defRPr>
            </a:pPr>
            <a:r>
              <a:rPr sz="750" b="0">
                <a:solidFill>
                  <a:srgbClr val="6F87A5"/>
                </a:solidFill>
                <a:latin typeface="DejaVu Sans"/>
                <a:ea typeface="DejaVu Sans"/>
                <a:cs typeface="DejaVu Sans"/>
              </a:rPr>
              <a:t>Faculty of Computer Engineering · YadYar Lite</a:t>
            </a:r>
          </a:p>
        </p:txBody>
      </p:sp>
    </p:spTree>
    <p:extLst>
      <p:ext uri="{BB962C8B-B14F-4D97-AF65-F5344CB8AC3E}">
        <p14:creationId xmlns:p14="http://schemas.microsoft.com/office/powerpoint/2010/main" val="1795837015"/>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1" name="section-pill-1">
            <a:extLst xmlns:a="http://schemas.openxmlformats.org/drawingml/2006/main">
              <a:ext uri="{FF2B5EF4-FFF2-40B4-BE49-F238E27FC236}">
                <a16:creationId xmlns:a16="http://schemas.microsoft.com/office/drawing/2014/main" id="{02996ECD-E81B-44DE-AC38-5E181BC69519}"/>
              </a:ext>
            </a:extLst>
          </p:cNvPr>
          <p:cNvSpPr>
            <a:spLocks xmlns:a="http://schemas.openxmlformats.org/drawingml/2006/main" noGrp="1"/>
          </p:cNvSpPr>
          <p:nvPr/>
        </p:nvSpPr>
        <p:spPr>
          <a:xfrm xmlns:a="http://schemas.openxmlformats.org/drawingml/2006/main">
            <a:off x="666750" y="323850"/>
            <a:ext cx="1285875" cy="304800"/>
          </a:xfrm>
          <a:prstGeom xmlns:a="http://schemas.openxmlformats.org/drawingml/2006/main" prst="roundRect">
            <a:avLst>
              <a:gd name="adj" fmla="val 18750"/>
            </a:avLst>
          </a:prstGeom>
          <a:solidFill xmlns:a="http://schemas.openxmlformats.org/drawingml/2006/main">
            <a:srgbClr val="EFF6FF"/>
          </a:solidFill>
          <a:ln xmlns:a="http://schemas.openxmlformats.org/drawingml/2006/main" w="0">
            <a:noFill/>
            <a:prstDash val="solid"/>
          </a:ln>
        </p:spPr>
      </p:sp>
      <p:sp>
        <p:nvSpPr>
          <p:cNvPr id="2" name="section-label-1">
            <a:extLst xmlns:a="http://schemas.openxmlformats.org/drawingml/2006/main">
              <a:ext uri="{FF2B5EF4-FFF2-40B4-BE49-F238E27FC236}">
                <a16:creationId xmlns:a16="http://schemas.microsoft.com/office/drawing/2014/main" id="{F7080DF3-D952-496A-9CF8-FC0F15F4F679}"/>
              </a:ext>
            </a:extLst>
          </p:cNvPr>
          <p:cNvSpPr>
            <a:spLocks xmlns:a="http://schemas.openxmlformats.org/drawingml/2006/main" noGrp="1"/>
          </p:cNvSpPr>
          <p:nvPr/>
        </p:nvSpPr>
        <p:spPr>
          <a:xfrm xmlns:a="http://schemas.openxmlformats.org/drawingml/2006/main">
            <a:off x="666750" y="3714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ctr">
              <a:defRPr sz="1050" b="1">
                <a:solidFill>
                  <a:srgbClr val="3B82F6"/>
                </a:solidFill>
                <a:latin typeface="DejaVu Sans"/>
                <a:ea typeface="DejaVu Sans"/>
                <a:cs typeface="DejaVu Sans"/>
              </a:defRPr>
            </a:pPr>
            <a:r>
              <a:rPr sz="1050" b="1">
                <a:solidFill>
                  <a:srgbClr val="3B82F6"/>
                </a:solidFill>
                <a:latin typeface="DejaVu Sans"/>
                <a:ea typeface="DejaVu Sans"/>
                <a:cs typeface="DejaVu Sans"/>
              </a:rPr>
              <a:t>SECTION 1</a:t>
            </a:r>
          </a:p>
        </p:txBody>
      </p:sp>
      <p:sp>
        <p:nvSpPr>
          <p:cNvPr id="3" name="title-1">
            <a:extLst xmlns:a="http://schemas.openxmlformats.org/drawingml/2006/main">
              <a:ext uri="{FF2B5EF4-FFF2-40B4-BE49-F238E27FC236}">
                <a16:creationId xmlns:a16="http://schemas.microsoft.com/office/drawing/2014/main" id="{C0B49C13-8D48-4862-969C-DDB41B74BC4F}"/>
              </a:ext>
            </a:extLst>
          </p:cNvPr>
          <p:cNvSpPr>
            <a:spLocks xmlns:a="http://schemas.openxmlformats.org/drawingml/2006/main" noGrp="1"/>
          </p:cNvSpPr>
          <p:nvPr/>
        </p:nvSpPr>
        <p:spPr>
          <a:xfrm xmlns:a="http://schemas.openxmlformats.org/drawingml/2006/main">
            <a:off x="6667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798"/>
          </a:bodyPr>
          <a:lstStyle xmlns:a="http://schemas.openxmlformats.org/drawingml/2006/main"/>
          <a:p xmlns:a="http://schemas.openxmlformats.org/drawingml/2006/main">
            <a:pPr algn="l">
              <a:defRPr sz="3225" b="1">
                <a:solidFill>
                  <a:srgbClr val="1E293B"/>
                </a:solidFill>
                <a:latin typeface="DejaVu Sans"/>
                <a:ea typeface="DejaVu Sans"/>
                <a:cs typeface="DejaVu Sans"/>
              </a:defRPr>
            </a:pPr>
            <a:r>
              <a:rPr sz="3225" b="1">
                <a:solidFill>
                  <a:srgbClr val="1E293B"/>
                </a:solidFill>
                <a:latin typeface="DejaVu Sans"/>
                <a:ea typeface="DejaVu Sans"/>
                <a:cs typeface="DejaVu Sans"/>
              </a:rPr>
              <a:t>Research Question and Experimental Design</a:t>
            </a:r>
          </a:p>
        </p:txBody>
      </p:sp>
      <p:sp>
        <p:nvSpPr>
          <p:cNvPr id="4" name="subtitle-1">
            <a:extLst xmlns:a="http://schemas.openxmlformats.org/drawingml/2006/main">
              <a:ext uri="{FF2B5EF4-FFF2-40B4-BE49-F238E27FC236}">
                <a16:creationId xmlns:a16="http://schemas.microsoft.com/office/drawing/2014/main" id="{0DD96E23-821F-4B9E-8445-AF6490478A3F}"/>
              </a:ext>
            </a:extLst>
          </p:cNvPr>
          <p:cNvSpPr>
            <a:spLocks xmlns:a="http://schemas.openxmlformats.org/drawingml/2006/main" noGrp="1"/>
          </p:cNvSpPr>
          <p:nvPr/>
        </p:nvSpPr>
        <p:spPr>
          <a:xfrm xmlns:a="http://schemas.openxmlformats.org/drawingml/2006/main">
            <a:off x="666750" y="13620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0">
                <a:solidFill>
                  <a:srgbClr val="94A3B8"/>
                </a:solidFill>
                <a:latin typeface="DejaVu Sans"/>
                <a:ea typeface="DejaVu Sans"/>
                <a:cs typeface="DejaVu Sans"/>
              </a:defRPr>
            </a:pPr>
            <a:r>
              <a:rPr sz="1125" b="0">
                <a:solidFill>
                  <a:srgbClr val="94A3B8"/>
                </a:solidFill>
                <a:latin typeface="DejaVu Sans"/>
                <a:ea typeface="DejaVu Sans"/>
                <a:cs typeface="DejaVu Sans"/>
              </a:rPr>
              <a:t>A fixed, inspectable benchmark for separating retrieval, generation, and abstention failures</a:t>
            </a:r>
          </a:p>
        </p:txBody>
      </p:sp>
      <p:sp>
        <p:nvSpPr>
          <p:cNvPr id="5" name="blue-rule-1">
            <a:extLst xmlns:a="http://schemas.openxmlformats.org/drawingml/2006/main">
              <a:ext uri="{FF2B5EF4-FFF2-40B4-BE49-F238E27FC236}">
                <a16:creationId xmlns:a16="http://schemas.microsoft.com/office/drawing/2014/main" id="{D199C241-16A2-4070-B38D-D9A4A220EF8E}"/>
              </a:ext>
            </a:extLst>
          </p:cNvPr>
          <p:cNvSpPr>
            <a:spLocks xmlns:a="http://schemas.openxmlformats.org/drawingml/2006/main" noGrp="1"/>
          </p:cNvSpPr>
          <p:nvPr/>
        </p:nvSpPr>
        <p:spPr>
          <a:xfrm xmlns:a="http://schemas.openxmlformats.org/drawingml/2006/main">
            <a:off x="666750" y="1685925"/>
            <a:ext cx="552450" cy="0"/>
          </a:xfrm>
          <a:prstGeom xmlns:a="http://schemas.openxmlformats.org/drawingml/2006/main" prst="line">
            <a:avLst/>
          </a:prstGeom>
          <a:noFill xmlns:a="http://schemas.openxmlformats.org/drawingml/2006/main"/>
          <a:ln xmlns:a="http://schemas.openxmlformats.org/drawingml/2006/main" w="28575">
            <a:solidFill>
              <a:srgbClr val="3B82F6"/>
            </a:solidFill>
            <a:prstDash val="solid"/>
          </a:ln>
        </p:spPr>
      </p:sp>
      <p:sp>
        <p:nvSpPr>
          <p:cNvPr id="6" name="green-rule-1">
            <a:extLst xmlns:a="http://schemas.openxmlformats.org/drawingml/2006/main">
              <a:ext uri="{FF2B5EF4-FFF2-40B4-BE49-F238E27FC236}">
                <a16:creationId xmlns:a16="http://schemas.microsoft.com/office/drawing/2014/main" id="{5C466068-F763-43E7-87DD-8106ED15043E}"/>
              </a:ext>
            </a:extLst>
          </p:cNvPr>
          <p:cNvSpPr>
            <a:spLocks xmlns:a="http://schemas.openxmlformats.org/drawingml/2006/main" noGrp="1"/>
          </p:cNvSpPr>
          <p:nvPr/>
        </p:nvSpPr>
        <p:spPr>
          <a:xfrm xmlns:a="http://schemas.openxmlformats.org/drawingml/2006/main">
            <a:off x="1219200" y="1685925"/>
            <a:ext cx="323850" cy="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sp>
        <p:nvSpPr>
          <p:cNvPr id="7" name="research-question-surface">
            <a:extLst xmlns:a="http://schemas.openxmlformats.org/drawingml/2006/main">
              <a:ext uri="{FF2B5EF4-FFF2-40B4-BE49-F238E27FC236}">
                <a16:creationId xmlns:a16="http://schemas.microsoft.com/office/drawing/2014/main" id="{B189DF93-CEB2-4889-9ECF-D51427B8D6E3}"/>
              </a:ext>
            </a:extLst>
          </p:cNvPr>
          <p:cNvSpPr>
            <a:spLocks xmlns:a="http://schemas.openxmlformats.org/drawingml/2006/main" noGrp="1"/>
          </p:cNvSpPr>
          <p:nvPr/>
        </p:nvSpPr>
        <p:spPr>
          <a:xfrm xmlns:a="http://schemas.openxmlformats.org/drawingml/2006/main">
            <a:off x="666750" y="1981200"/>
            <a:ext cx="10858500" cy="1104900"/>
          </a:xfrm>
          <a:prstGeom xmlns:a="http://schemas.openxmlformats.org/drawingml/2006/main" prst="roundRect">
            <a:avLst>
              <a:gd name="adj" fmla="val 10345"/>
            </a:avLst>
          </a:prstGeom>
          <a:solidFill xmlns:a="http://schemas.openxmlformats.org/drawingml/2006/main">
            <a:srgbClr val="FFFFFF"/>
          </a:solidFill>
          <a:ln xmlns:a="http://schemas.openxmlformats.org/drawingml/2006/main" w="9525">
            <a:solidFill>
              <a:srgbClr val="E2E8F0"/>
            </a:solidFill>
            <a:prstDash val="solid"/>
          </a:ln>
        </p:spPr>
      </p:sp>
      <p:sp>
        <p:nvSpPr>
          <p:cNvPr id="8" name="research-question-accent">
            <a:extLst xmlns:a="http://schemas.openxmlformats.org/drawingml/2006/main">
              <a:ext uri="{FF2B5EF4-FFF2-40B4-BE49-F238E27FC236}">
                <a16:creationId xmlns:a16="http://schemas.microsoft.com/office/drawing/2014/main" id="{0B9BEF2B-1954-4260-BFAB-784F7D139465}"/>
              </a:ext>
            </a:extLst>
          </p:cNvPr>
          <p:cNvSpPr>
            <a:spLocks xmlns:a="http://schemas.openxmlformats.org/drawingml/2006/main" noGrp="1"/>
          </p:cNvSpPr>
          <p:nvPr/>
        </p:nvSpPr>
        <p:spPr>
          <a:xfrm xmlns:a="http://schemas.openxmlformats.org/drawingml/2006/main">
            <a:off x="666750" y="1981200"/>
            <a:ext cx="76200" cy="11049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9" name="research-question-text">
            <a:extLst xmlns:a="http://schemas.openxmlformats.org/drawingml/2006/main">
              <a:ext uri="{FF2B5EF4-FFF2-40B4-BE49-F238E27FC236}">
                <a16:creationId xmlns:a16="http://schemas.microsoft.com/office/drawing/2014/main" id="{0130E900-4667-4FF3-9B8C-457098244905}"/>
              </a:ext>
            </a:extLst>
          </p:cNvPr>
          <p:cNvSpPr>
            <a:spLocks xmlns:a="http://schemas.openxmlformats.org/drawingml/2006/main" noGrp="1"/>
          </p:cNvSpPr>
          <p:nvPr/>
        </p:nvSpPr>
        <p:spPr>
          <a:xfrm xmlns:a="http://schemas.openxmlformats.org/drawingml/2006/main">
            <a:off x="971550" y="2190750"/>
            <a:ext cx="1026795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E293B"/>
                </a:solidFill>
                <a:latin typeface="DejaVu Sans"/>
                <a:ea typeface="DejaVu Sans"/>
                <a:cs typeface="DejaVu Sans"/>
              </a:defRPr>
            </a:pPr>
            <a:r>
              <a:rPr sz="1500" b="1">
                <a:solidFill>
                  <a:srgbClr val="1E293B"/>
                </a:solidFill>
                <a:latin typeface="DejaVu Sans"/>
                <a:ea typeface="DejaVu Sans"/>
                <a:cs typeface="DejaVu Sans"/>
              </a:rPr>
              <a:t>How accurately does a lightweight RAG baseline answer, and do its failures come from retrieval, generation, or failed abstention?</a:t>
            </a:r>
          </a:p>
        </p:txBody>
      </p:sp>
      <p:sp>
        <p:nvSpPr>
          <p:cNvPr id="10" name="questions-card">
            <a:extLst xmlns:a="http://schemas.openxmlformats.org/drawingml/2006/main">
              <a:ext uri="{FF2B5EF4-FFF2-40B4-BE49-F238E27FC236}">
                <a16:creationId xmlns:a16="http://schemas.microsoft.com/office/drawing/2014/main" id="{642B1009-B8C0-4583-B3C0-DB34CA08A465}"/>
              </a:ext>
            </a:extLst>
          </p:cNvPr>
          <p:cNvSpPr>
            <a:spLocks xmlns:a="http://schemas.openxmlformats.org/drawingml/2006/main" noGrp="1"/>
          </p:cNvSpPr>
          <p:nvPr/>
        </p:nvSpPr>
        <p:spPr>
          <a:xfrm xmlns:a="http://schemas.openxmlformats.org/drawingml/2006/main">
            <a:off x="666750" y="3543300"/>
            <a:ext cx="32385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11" name="questions-value">
            <a:extLst xmlns:a="http://schemas.openxmlformats.org/drawingml/2006/main">
              <a:ext uri="{FF2B5EF4-FFF2-40B4-BE49-F238E27FC236}">
                <a16:creationId xmlns:a16="http://schemas.microsoft.com/office/drawing/2014/main" id="{4A1ABFD7-D3A0-4D96-98CC-FFF449BBCEE0}"/>
              </a:ext>
            </a:extLst>
          </p:cNvPr>
          <p:cNvSpPr>
            <a:spLocks xmlns:a="http://schemas.openxmlformats.org/drawingml/2006/main" noGrp="1"/>
          </p:cNvSpPr>
          <p:nvPr/>
        </p:nvSpPr>
        <p:spPr>
          <a:xfrm xmlns:a="http://schemas.openxmlformats.org/drawingml/2006/main">
            <a:off x="857250" y="37719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3B82F6"/>
                </a:solidFill>
                <a:latin typeface="DejaVu Sans"/>
                <a:ea typeface="DejaVu Sans"/>
                <a:cs typeface="DejaVu Sans"/>
              </a:defRPr>
            </a:pPr>
            <a:r>
              <a:rPr sz="2400" b="1">
                <a:solidFill>
                  <a:srgbClr val="3B82F6"/>
                </a:solidFill>
                <a:latin typeface="DejaVu Sans"/>
                <a:ea typeface="DejaVu Sans"/>
                <a:cs typeface="DejaVu Sans"/>
              </a:rPr>
              <a:t>120</a:t>
            </a:r>
          </a:p>
        </p:txBody>
      </p:sp>
      <p:sp>
        <p:nvSpPr>
          <p:cNvPr id="12" name="questions-label">
            <a:extLst xmlns:a="http://schemas.openxmlformats.org/drawingml/2006/main">
              <a:ext uri="{FF2B5EF4-FFF2-40B4-BE49-F238E27FC236}">
                <a16:creationId xmlns:a16="http://schemas.microsoft.com/office/drawing/2014/main" id="{82487C4B-95BE-49EB-8E64-D18D38FE054F}"/>
              </a:ext>
            </a:extLst>
          </p:cNvPr>
          <p:cNvSpPr>
            <a:spLocks xmlns:a="http://schemas.openxmlformats.org/drawingml/2006/main" noGrp="1"/>
          </p:cNvSpPr>
          <p:nvPr/>
        </p:nvSpPr>
        <p:spPr>
          <a:xfrm xmlns:a="http://schemas.openxmlformats.org/drawingml/2006/main">
            <a:off x="838200" y="4324350"/>
            <a:ext cx="2895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evaluation questions</a:t>
            </a:r>
          </a:p>
        </p:txBody>
      </p:sp>
      <p:sp>
        <p:nvSpPr>
          <p:cNvPr id="13" name="answerability-card">
            <a:extLst xmlns:a="http://schemas.openxmlformats.org/drawingml/2006/main">
              <a:ext uri="{FF2B5EF4-FFF2-40B4-BE49-F238E27FC236}">
                <a16:creationId xmlns:a16="http://schemas.microsoft.com/office/drawing/2014/main" id="{E087477B-939E-4C69-ABFF-C1B13E3A6570}"/>
              </a:ext>
            </a:extLst>
          </p:cNvPr>
          <p:cNvSpPr>
            <a:spLocks xmlns:a="http://schemas.openxmlformats.org/drawingml/2006/main" noGrp="1"/>
          </p:cNvSpPr>
          <p:nvPr/>
        </p:nvSpPr>
        <p:spPr>
          <a:xfrm xmlns:a="http://schemas.openxmlformats.org/drawingml/2006/main">
            <a:off x="4476750" y="3543300"/>
            <a:ext cx="32385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14" name="answerability-value">
            <a:extLst xmlns:a="http://schemas.openxmlformats.org/drawingml/2006/main">
              <a:ext uri="{FF2B5EF4-FFF2-40B4-BE49-F238E27FC236}">
                <a16:creationId xmlns:a16="http://schemas.microsoft.com/office/drawing/2014/main" id="{EC507F8E-C5AE-475F-B568-3639E89BA3F3}"/>
              </a:ext>
            </a:extLst>
          </p:cNvPr>
          <p:cNvSpPr>
            <a:spLocks xmlns:a="http://schemas.openxmlformats.org/drawingml/2006/main" noGrp="1"/>
          </p:cNvSpPr>
          <p:nvPr/>
        </p:nvSpPr>
        <p:spPr>
          <a:xfrm xmlns:a="http://schemas.openxmlformats.org/drawingml/2006/main">
            <a:off x="4667250" y="37719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10B981"/>
                </a:solidFill>
                <a:latin typeface="DejaVu Sans"/>
                <a:ea typeface="DejaVu Sans"/>
                <a:cs typeface="DejaVu Sans"/>
              </a:defRPr>
            </a:pPr>
            <a:r>
              <a:rPr sz="2400" b="1">
                <a:solidFill>
                  <a:srgbClr val="10B981"/>
                </a:solidFill>
                <a:latin typeface="DejaVu Sans"/>
                <a:ea typeface="DejaVu Sans"/>
                <a:cs typeface="DejaVu Sans"/>
              </a:rPr>
              <a:t>80 / 40</a:t>
            </a:r>
          </a:p>
        </p:txBody>
      </p:sp>
      <p:sp>
        <p:nvSpPr>
          <p:cNvPr id="15" name="answerability-label">
            <a:extLst xmlns:a="http://schemas.openxmlformats.org/drawingml/2006/main">
              <a:ext uri="{FF2B5EF4-FFF2-40B4-BE49-F238E27FC236}">
                <a16:creationId xmlns:a16="http://schemas.microsoft.com/office/drawing/2014/main" id="{36FCCB05-70B8-4798-90FC-A7080F79FCD4}"/>
              </a:ext>
            </a:extLst>
          </p:cNvPr>
          <p:cNvSpPr>
            <a:spLocks xmlns:a="http://schemas.openxmlformats.org/drawingml/2006/main" noGrp="1"/>
          </p:cNvSpPr>
          <p:nvPr/>
        </p:nvSpPr>
        <p:spPr>
          <a:xfrm xmlns:a="http://schemas.openxmlformats.org/drawingml/2006/main">
            <a:off x="4648200" y="4324350"/>
            <a:ext cx="2895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answerable / unanswerable</a:t>
            </a:r>
          </a:p>
        </p:txBody>
      </p:sp>
      <p:sp>
        <p:nvSpPr>
          <p:cNvPr id="16" name="corpus-card">
            <a:extLst xmlns:a="http://schemas.openxmlformats.org/drawingml/2006/main">
              <a:ext uri="{FF2B5EF4-FFF2-40B4-BE49-F238E27FC236}">
                <a16:creationId xmlns:a16="http://schemas.microsoft.com/office/drawing/2014/main" id="{D658499C-AD6E-4B53-96BD-40BDDAEDD1DB}"/>
              </a:ext>
            </a:extLst>
          </p:cNvPr>
          <p:cNvSpPr>
            <a:spLocks xmlns:a="http://schemas.openxmlformats.org/drawingml/2006/main" noGrp="1"/>
          </p:cNvSpPr>
          <p:nvPr/>
        </p:nvSpPr>
        <p:spPr>
          <a:xfrm xmlns:a="http://schemas.openxmlformats.org/drawingml/2006/main">
            <a:off x="8286750" y="3543300"/>
            <a:ext cx="32385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17" name="corpus-value">
            <a:extLst xmlns:a="http://schemas.openxmlformats.org/drawingml/2006/main">
              <a:ext uri="{FF2B5EF4-FFF2-40B4-BE49-F238E27FC236}">
                <a16:creationId xmlns:a16="http://schemas.microsoft.com/office/drawing/2014/main" id="{3B894C94-6F16-4833-A26D-E91CA3FEB8D9}"/>
              </a:ext>
            </a:extLst>
          </p:cNvPr>
          <p:cNvSpPr>
            <a:spLocks xmlns:a="http://schemas.openxmlformats.org/drawingml/2006/main" noGrp="1"/>
          </p:cNvSpPr>
          <p:nvPr/>
        </p:nvSpPr>
        <p:spPr>
          <a:xfrm xmlns:a="http://schemas.openxmlformats.org/drawingml/2006/main">
            <a:off x="8477250" y="37719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10B981"/>
                </a:solidFill>
                <a:latin typeface="DejaVu Sans"/>
                <a:ea typeface="DejaVu Sans"/>
                <a:cs typeface="DejaVu Sans"/>
              </a:defRPr>
            </a:pPr>
            <a:r>
              <a:rPr sz="2400" b="1">
                <a:solidFill>
                  <a:srgbClr val="10B981"/>
                </a:solidFill>
                <a:latin typeface="DejaVu Sans"/>
                <a:ea typeface="DejaVu Sans"/>
                <a:cs typeface="DejaVu Sans"/>
              </a:rPr>
              <a:t>113</a:t>
            </a:r>
          </a:p>
        </p:txBody>
      </p:sp>
      <p:sp>
        <p:nvSpPr>
          <p:cNvPr id="18" name="corpus-label">
            <a:extLst xmlns:a="http://schemas.openxmlformats.org/drawingml/2006/main">
              <a:ext uri="{FF2B5EF4-FFF2-40B4-BE49-F238E27FC236}">
                <a16:creationId xmlns:a16="http://schemas.microsoft.com/office/drawing/2014/main" id="{27CB68CC-6D8E-49F4-883B-A5B328F4C110}"/>
              </a:ext>
            </a:extLst>
          </p:cNvPr>
          <p:cNvSpPr>
            <a:spLocks xmlns:a="http://schemas.openxmlformats.org/drawingml/2006/main" noGrp="1"/>
          </p:cNvSpPr>
          <p:nvPr/>
        </p:nvSpPr>
        <p:spPr>
          <a:xfrm xmlns:a="http://schemas.openxmlformats.org/drawingml/2006/main">
            <a:off x="8458200" y="4324350"/>
            <a:ext cx="2895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unique passages</a:t>
            </a:r>
          </a:p>
        </p:txBody>
      </p:sp>
      <p:sp>
        <p:nvSpPr>
          <p:cNvPr id="19" name="scope-note">
            <a:extLst xmlns:a="http://schemas.openxmlformats.org/drawingml/2006/main">
              <a:ext uri="{FF2B5EF4-FFF2-40B4-BE49-F238E27FC236}">
                <a16:creationId xmlns:a16="http://schemas.microsoft.com/office/drawing/2014/main" id="{215C966E-8163-4F98-9B67-EEE6F0E2E2CC}"/>
              </a:ext>
            </a:extLst>
          </p:cNvPr>
          <p:cNvSpPr>
            <a:spLocks xmlns:a="http://schemas.openxmlformats.org/drawingml/2006/main" noGrp="1"/>
          </p:cNvSpPr>
          <p:nvPr/>
        </p:nvSpPr>
        <p:spPr>
          <a:xfrm xmlns:a="http://schemas.openxmlformats.org/drawingml/2006/main">
            <a:off x="1714500" y="5238750"/>
            <a:ext cx="8763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425" b="0">
                <a:solidFill>
                  <a:srgbClr val="64748B"/>
                </a:solidFill>
                <a:latin typeface="DejaVu Sans"/>
                <a:ea typeface="DejaVu Sans"/>
                <a:cs typeface="DejaVu Sans"/>
              </a:defRPr>
            </a:pPr>
            <a:r>
              <a:rPr sz="1425" b="0">
                <a:solidFill>
                  <a:srgbClr val="64748B"/>
                </a:solidFill>
                <a:latin typeface="DejaVu Sans"/>
                <a:ea typeface="DejaVu Sans"/>
                <a:cs typeface="DejaVu Sans"/>
              </a:rPr>
              <a:t>Fixed seed 42 · SQuAD v2 validation · no training or fine-tuning</a:t>
            </a:r>
          </a:p>
        </p:txBody>
      </p:sp>
      <p:sp>
        <p:nvSpPr>
          <p:cNvPr id="20" name="footer-2">
            <a:extLst xmlns:a="http://schemas.openxmlformats.org/drawingml/2006/main">
              <a:ext uri="{FF2B5EF4-FFF2-40B4-BE49-F238E27FC236}">
                <a16:creationId xmlns:a16="http://schemas.microsoft.com/office/drawing/2014/main" id="{8636B960-19A0-47C7-8FC5-65D47ADF72F2}"/>
              </a:ext>
            </a:extLst>
          </p:cNvPr>
          <p:cNvSpPr>
            <a:spLocks xmlns:a="http://schemas.openxmlformats.org/drawingml/2006/main" noGrp="1"/>
          </p:cNvSpPr>
          <p:nvPr/>
        </p:nvSpPr>
        <p:spPr>
          <a:xfrm xmlns:a="http://schemas.openxmlformats.org/drawingml/2006/main">
            <a:off x="5619750" y="65341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4748B"/>
                </a:solidFill>
                <a:latin typeface="DejaVu Sans"/>
                <a:ea typeface="DejaVu Sans"/>
                <a:cs typeface="DejaVu Sans"/>
              </a:defRPr>
            </a:pPr>
            <a:r>
              <a:rPr sz="750" b="0">
                <a:solidFill>
                  <a:srgbClr val="64748B"/>
                </a:solidFill>
                <a:latin typeface="DejaVu Sans"/>
                <a:ea typeface="DejaVu Sans"/>
                <a:cs typeface="DejaVu Sans"/>
              </a:rPr>
              <a:t>2 / 11</a:t>
            </a:r>
          </a:p>
        </p:txBody>
      </p:sp>
    </p:spTree>
    <p:extLst>
      <p:ext uri="{BB962C8B-B14F-4D97-AF65-F5344CB8AC3E}">
        <p14:creationId xmlns:p14="http://schemas.microsoft.com/office/powerpoint/2010/main" val="1689334123"/>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0" name="section-pill-2">
            <a:extLst xmlns:a="http://schemas.openxmlformats.org/drawingml/2006/main">
              <a:ext uri="{FF2B5EF4-FFF2-40B4-BE49-F238E27FC236}">
                <a16:creationId xmlns:a16="http://schemas.microsoft.com/office/drawing/2014/main" id="{F5C184C1-2E6D-49B3-9B78-1ADB9C9355AF}"/>
              </a:ext>
            </a:extLst>
          </p:cNvPr>
          <p:cNvSpPr>
            <a:spLocks xmlns:a="http://schemas.openxmlformats.org/drawingml/2006/main" noGrp="1"/>
          </p:cNvSpPr>
          <p:nvPr/>
        </p:nvSpPr>
        <p:spPr>
          <a:xfrm xmlns:a="http://schemas.openxmlformats.org/drawingml/2006/main">
            <a:off x="666750" y="323850"/>
            <a:ext cx="1285875" cy="304800"/>
          </a:xfrm>
          <a:prstGeom xmlns:a="http://schemas.openxmlformats.org/drawingml/2006/main" prst="roundRect">
            <a:avLst>
              <a:gd name="adj" fmla="val 18750"/>
            </a:avLst>
          </a:prstGeom>
          <a:solidFill xmlns:a="http://schemas.openxmlformats.org/drawingml/2006/main">
            <a:srgbClr val="EFF6FF"/>
          </a:solidFill>
          <a:ln xmlns:a="http://schemas.openxmlformats.org/drawingml/2006/main" w="0">
            <a:noFill/>
            <a:prstDash val="solid"/>
          </a:ln>
        </p:spPr>
      </p:sp>
      <p:sp>
        <p:nvSpPr>
          <p:cNvPr id="2" name="section-label-2">
            <a:extLst xmlns:a="http://schemas.openxmlformats.org/drawingml/2006/main">
              <a:ext uri="{FF2B5EF4-FFF2-40B4-BE49-F238E27FC236}">
                <a16:creationId xmlns:a16="http://schemas.microsoft.com/office/drawing/2014/main" id="{86D542F1-D0E5-4B6A-A2BF-F392CA089584}"/>
              </a:ext>
            </a:extLst>
          </p:cNvPr>
          <p:cNvSpPr>
            <a:spLocks xmlns:a="http://schemas.openxmlformats.org/drawingml/2006/main" noGrp="1"/>
          </p:cNvSpPr>
          <p:nvPr/>
        </p:nvSpPr>
        <p:spPr>
          <a:xfrm xmlns:a="http://schemas.openxmlformats.org/drawingml/2006/main">
            <a:off x="666750" y="3714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ctr">
              <a:defRPr sz="1050" b="1">
                <a:solidFill>
                  <a:srgbClr val="3B82F6"/>
                </a:solidFill>
                <a:latin typeface="DejaVu Sans"/>
                <a:ea typeface="DejaVu Sans"/>
                <a:cs typeface="DejaVu Sans"/>
              </a:defRPr>
            </a:pPr>
            <a:r>
              <a:rPr sz="1050" b="1">
                <a:solidFill>
                  <a:srgbClr val="3B82F6"/>
                </a:solidFill>
                <a:latin typeface="DejaVu Sans"/>
                <a:ea typeface="DejaVu Sans"/>
                <a:cs typeface="DejaVu Sans"/>
              </a:rPr>
              <a:t>SECTION 2</a:t>
            </a:r>
          </a:p>
        </p:txBody>
      </p:sp>
      <p:sp>
        <p:nvSpPr>
          <p:cNvPr id="3" name="title-2">
            <a:extLst xmlns:a="http://schemas.openxmlformats.org/drawingml/2006/main">
              <a:ext uri="{FF2B5EF4-FFF2-40B4-BE49-F238E27FC236}">
                <a16:creationId xmlns:a16="http://schemas.microsoft.com/office/drawing/2014/main" id="{7456C035-D4A7-45D1-AE3A-CA4718853F5A}"/>
              </a:ext>
            </a:extLst>
          </p:cNvPr>
          <p:cNvSpPr>
            <a:spLocks xmlns:a="http://schemas.openxmlformats.org/drawingml/2006/main" noGrp="1"/>
          </p:cNvSpPr>
          <p:nvPr/>
        </p:nvSpPr>
        <p:spPr>
          <a:xfrm xmlns:a="http://schemas.openxmlformats.org/drawingml/2006/main">
            <a:off x="6667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798"/>
          </a:bodyPr>
          <a:lstStyle xmlns:a="http://schemas.openxmlformats.org/drawingml/2006/main"/>
          <a:p xmlns:a="http://schemas.openxmlformats.org/drawingml/2006/main">
            <a:pPr algn="l">
              <a:defRPr sz="3225" b="1">
                <a:solidFill>
                  <a:srgbClr val="1E293B"/>
                </a:solidFill>
                <a:latin typeface="DejaVu Sans"/>
                <a:ea typeface="DejaVu Sans"/>
                <a:cs typeface="DejaVu Sans"/>
              </a:defRPr>
            </a:pPr>
            <a:r>
              <a:rPr sz="3225" b="1">
                <a:solidFill>
                  <a:srgbClr val="1E293B"/>
                </a:solidFill>
                <a:latin typeface="DejaVu Sans"/>
                <a:ea typeface="DejaVu Sans"/>
                <a:cs typeface="DejaVu Sans"/>
              </a:rPr>
              <a:t>Baseline Model and System Architecture</a:t>
            </a:r>
          </a:p>
        </p:txBody>
      </p:sp>
      <p:sp>
        <p:nvSpPr>
          <p:cNvPr id="4" name="subtitle-2">
            <a:extLst xmlns:a="http://schemas.openxmlformats.org/drawingml/2006/main">
              <a:ext uri="{FF2B5EF4-FFF2-40B4-BE49-F238E27FC236}">
                <a16:creationId xmlns:a16="http://schemas.microsoft.com/office/drawing/2014/main" id="{7B94F862-381F-4CA7-B2F8-D6CF1281A493}"/>
              </a:ext>
            </a:extLst>
          </p:cNvPr>
          <p:cNvSpPr>
            <a:spLocks xmlns:a="http://schemas.openxmlformats.org/drawingml/2006/main" noGrp="1"/>
          </p:cNvSpPr>
          <p:nvPr/>
        </p:nvSpPr>
        <p:spPr>
          <a:xfrm xmlns:a="http://schemas.openxmlformats.org/drawingml/2006/main">
            <a:off x="666750" y="13620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0">
                <a:solidFill>
                  <a:srgbClr val="94A3B8"/>
                </a:solidFill>
                <a:latin typeface="DejaVu Sans"/>
                <a:ea typeface="DejaVu Sans"/>
                <a:cs typeface="DejaVu Sans"/>
              </a:defRPr>
            </a:pPr>
            <a:r>
              <a:rPr sz="1125" b="0">
                <a:solidFill>
                  <a:srgbClr val="94A3B8"/>
                </a:solidFill>
                <a:latin typeface="DejaVu Sans"/>
                <a:ea typeface="DejaVu Sans"/>
                <a:cs typeface="DejaVu Sans"/>
              </a:rPr>
              <a:t>A transparent low-code pipeline with deterministic generation</a:t>
            </a:r>
          </a:p>
        </p:txBody>
      </p:sp>
      <p:sp>
        <p:nvSpPr>
          <p:cNvPr id="5" name="blue-rule-2">
            <a:extLst xmlns:a="http://schemas.openxmlformats.org/drawingml/2006/main">
              <a:ext uri="{FF2B5EF4-FFF2-40B4-BE49-F238E27FC236}">
                <a16:creationId xmlns:a16="http://schemas.microsoft.com/office/drawing/2014/main" id="{3DABEBE2-4FC3-41C7-B172-020442A681A8}"/>
              </a:ext>
            </a:extLst>
          </p:cNvPr>
          <p:cNvSpPr>
            <a:spLocks xmlns:a="http://schemas.openxmlformats.org/drawingml/2006/main" noGrp="1"/>
          </p:cNvSpPr>
          <p:nvPr/>
        </p:nvSpPr>
        <p:spPr>
          <a:xfrm xmlns:a="http://schemas.openxmlformats.org/drawingml/2006/main">
            <a:off x="666750" y="1685925"/>
            <a:ext cx="552450" cy="0"/>
          </a:xfrm>
          <a:prstGeom xmlns:a="http://schemas.openxmlformats.org/drawingml/2006/main" prst="line">
            <a:avLst/>
          </a:prstGeom>
          <a:noFill xmlns:a="http://schemas.openxmlformats.org/drawingml/2006/main"/>
          <a:ln xmlns:a="http://schemas.openxmlformats.org/drawingml/2006/main" w="28575">
            <a:solidFill>
              <a:srgbClr val="3B82F6"/>
            </a:solidFill>
            <a:prstDash val="solid"/>
          </a:ln>
        </p:spPr>
      </p:sp>
      <p:sp>
        <p:nvSpPr>
          <p:cNvPr id="6" name="green-rule-2">
            <a:extLst xmlns:a="http://schemas.openxmlformats.org/drawingml/2006/main">
              <a:ext uri="{FF2B5EF4-FFF2-40B4-BE49-F238E27FC236}">
                <a16:creationId xmlns:a16="http://schemas.microsoft.com/office/drawing/2014/main" id="{2AB224EA-8F0B-4CBA-AB35-B9D81908694C}"/>
              </a:ext>
            </a:extLst>
          </p:cNvPr>
          <p:cNvSpPr>
            <a:spLocks xmlns:a="http://schemas.openxmlformats.org/drawingml/2006/main" noGrp="1"/>
          </p:cNvSpPr>
          <p:nvPr/>
        </p:nvSpPr>
        <p:spPr>
          <a:xfrm xmlns:a="http://schemas.openxmlformats.org/drawingml/2006/main">
            <a:off x="1219200" y="1685925"/>
            <a:ext cx="323850" cy="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sp>
        <p:nvSpPr>
          <p:cNvPr id="7" name="pipeline-arrow-0">
            <a:extLst xmlns:a="http://schemas.openxmlformats.org/drawingml/2006/main">
              <a:ext uri="{FF2B5EF4-FFF2-40B4-BE49-F238E27FC236}">
                <a16:creationId xmlns:a16="http://schemas.microsoft.com/office/drawing/2014/main" id="{AB08FD8A-B5E9-4BEF-A129-734F415A4CB8}"/>
              </a:ext>
            </a:extLst>
          </p:cNvPr>
          <p:cNvSpPr>
            <a:spLocks xmlns:a="http://schemas.openxmlformats.org/drawingml/2006/main" noGrp="1"/>
          </p:cNvSpPr>
          <p:nvPr/>
        </p:nvSpPr>
        <p:spPr>
          <a:xfrm xmlns:a="http://schemas.openxmlformats.org/drawingml/2006/main">
            <a:off x="2286000" y="3143250"/>
            <a:ext cx="523875" cy="26670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sp>
      <p:sp>
        <p:nvSpPr>
          <p:cNvPr id="8" name="pipeline-arrow-1">
            <a:extLst xmlns:a="http://schemas.openxmlformats.org/drawingml/2006/main">
              <a:ext uri="{FF2B5EF4-FFF2-40B4-BE49-F238E27FC236}">
                <a16:creationId xmlns:a16="http://schemas.microsoft.com/office/drawing/2014/main" id="{5B0E608A-678F-4706-8583-4BD363CC250B}"/>
              </a:ext>
            </a:extLst>
          </p:cNvPr>
          <p:cNvSpPr>
            <a:spLocks xmlns:a="http://schemas.openxmlformats.org/drawingml/2006/main" noGrp="1"/>
          </p:cNvSpPr>
          <p:nvPr/>
        </p:nvSpPr>
        <p:spPr>
          <a:xfrm xmlns:a="http://schemas.openxmlformats.org/drawingml/2006/main">
            <a:off x="4572000" y="3143250"/>
            <a:ext cx="523875" cy="26670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sp>
      <p:sp>
        <p:nvSpPr>
          <p:cNvPr id="9" name="pipeline-arrow-2">
            <a:extLst xmlns:a="http://schemas.openxmlformats.org/drawingml/2006/main">
              <a:ext uri="{FF2B5EF4-FFF2-40B4-BE49-F238E27FC236}">
                <a16:creationId xmlns:a16="http://schemas.microsoft.com/office/drawing/2014/main" id="{0A1BB68C-5C39-447A-AB8F-CB4D81E70F06}"/>
              </a:ext>
            </a:extLst>
          </p:cNvPr>
          <p:cNvSpPr>
            <a:spLocks xmlns:a="http://schemas.openxmlformats.org/drawingml/2006/main" noGrp="1"/>
          </p:cNvSpPr>
          <p:nvPr/>
        </p:nvSpPr>
        <p:spPr>
          <a:xfrm xmlns:a="http://schemas.openxmlformats.org/drawingml/2006/main">
            <a:off x="6858000" y="3143250"/>
            <a:ext cx="523875" cy="26670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sp>
      <p:sp>
        <p:nvSpPr>
          <p:cNvPr id="10" name="pipeline-arrow-3">
            <a:extLst xmlns:a="http://schemas.openxmlformats.org/drawingml/2006/main">
              <a:ext uri="{FF2B5EF4-FFF2-40B4-BE49-F238E27FC236}">
                <a16:creationId xmlns:a16="http://schemas.microsoft.com/office/drawing/2014/main" id="{9EA5A0E5-EBFE-4EE0-9440-6FAE4B274901}"/>
              </a:ext>
            </a:extLst>
          </p:cNvPr>
          <p:cNvSpPr>
            <a:spLocks xmlns:a="http://schemas.openxmlformats.org/drawingml/2006/main" noGrp="1"/>
          </p:cNvSpPr>
          <p:nvPr/>
        </p:nvSpPr>
        <p:spPr>
          <a:xfrm xmlns:a="http://schemas.openxmlformats.org/drawingml/2006/main">
            <a:off x="9144000" y="3143250"/>
            <a:ext cx="523875" cy="266700"/>
          </a:xfrm>
          <a:prstGeom xmlns:a="http://schemas.openxmlformats.org/drawingml/2006/main" prst="rightArrow">
            <a:avLst/>
          </a:prstGeom>
          <a:solidFill xmlns:a="http://schemas.openxmlformats.org/drawingml/2006/main">
            <a:srgbClr val="10B981"/>
          </a:solidFill>
          <a:ln xmlns:a="http://schemas.openxmlformats.org/drawingml/2006/main" w="0">
            <a:solidFill>
              <a:srgbClr val="10B981"/>
            </a:solidFill>
            <a:prstDash val="solid"/>
          </a:ln>
        </p:spPr>
      </p:sp>
      <p:sp>
        <p:nvSpPr>
          <p:cNvPr id="11" name="pipeline-step-0">
            <a:extLst xmlns:a="http://schemas.openxmlformats.org/drawingml/2006/main">
              <a:ext uri="{FF2B5EF4-FFF2-40B4-BE49-F238E27FC236}">
                <a16:creationId xmlns:a16="http://schemas.microsoft.com/office/drawing/2014/main" id="{FF4372F5-B5E3-4AB1-B876-145FBB77A3AF}"/>
              </a:ext>
            </a:extLst>
          </p:cNvPr>
          <p:cNvSpPr>
            <a:spLocks xmlns:a="http://schemas.openxmlformats.org/drawingml/2006/main" noGrp="1"/>
          </p:cNvSpPr>
          <p:nvPr/>
        </p:nvSpPr>
        <p:spPr>
          <a:xfrm xmlns:a="http://schemas.openxmlformats.org/drawingml/2006/main">
            <a:off x="619125" y="2524125"/>
            <a:ext cx="1666875" cy="1524000"/>
          </a:xfrm>
          <a:prstGeom xmlns:a="http://schemas.openxmlformats.org/drawingml/2006/main" prst="roundRect">
            <a:avLst>
              <a:gd name="adj" fmla="val 11250"/>
            </a:avLst>
          </a:prstGeom>
          <a:solidFill xmlns:a="http://schemas.openxmlformats.org/drawingml/2006/main">
            <a:srgbClr val="F8FAFC"/>
          </a:solidFill>
          <a:ln xmlns:a="http://schemas.openxmlformats.org/drawingml/2006/main" w="9525">
            <a:solidFill>
              <a:srgbClr val="E2E8F0"/>
            </a:solidFill>
            <a:prstDash val="solid"/>
          </a:ln>
        </p:spPr>
      </p:sp>
      <p:sp>
        <p:nvSpPr>
          <p:cNvPr id="12" name="pipeline-fa-0">
            <a:extLst xmlns:a="http://schemas.openxmlformats.org/drawingml/2006/main">
              <a:ext uri="{FF2B5EF4-FFF2-40B4-BE49-F238E27FC236}">
                <a16:creationId xmlns:a16="http://schemas.microsoft.com/office/drawing/2014/main" id="{34040BC8-39CA-4529-B6A8-9CEC4CA2A477}"/>
              </a:ext>
            </a:extLst>
          </p:cNvPr>
          <p:cNvSpPr>
            <a:spLocks xmlns:a="http://schemas.openxmlformats.org/drawingml/2006/main" noGrp="1"/>
          </p:cNvSpPr>
          <p:nvPr/>
        </p:nvSpPr>
        <p:spPr>
          <a:xfrm xmlns:a="http://schemas.openxmlformats.org/drawingml/2006/main">
            <a:off x="733425" y="2838450"/>
            <a:ext cx="14382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E293B"/>
                </a:solidFill>
                <a:latin typeface="DejaVu Sans"/>
                <a:ea typeface="DejaVu Sans"/>
                <a:cs typeface="DejaVu Sans"/>
              </a:defRPr>
            </a:pPr>
            <a:r>
              <a:rPr sz="1575" b="1">
                <a:solidFill>
                  <a:srgbClr val="1E293B"/>
                </a:solidFill>
                <a:latin typeface="DejaVu Sans"/>
                <a:ea typeface="DejaVu Sans"/>
                <a:cs typeface="DejaVu Sans"/>
              </a:rPr>
              <a:t>Question</a:t>
            </a:r>
          </a:p>
        </p:txBody>
      </p:sp>
      <p:sp>
        <p:nvSpPr>
          <p:cNvPr id="13" name="pipeline-en-0">
            <a:extLst xmlns:a="http://schemas.openxmlformats.org/drawingml/2006/main">
              <a:ext uri="{FF2B5EF4-FFF2-40B4-BE49-F238E27FC236}">
                <a16:creationId xmlns:a16="http://schemas.microsoft.com/office/drawing/2014/main" id="{33288349-8C9B-4A03-B881-0119FFDBEBDE}"/>
              </a:ext>
            </a:extLst>
          </p:cNvPr>
          <p:cNvSpPr>
            <a:spLocks xmlns:a="http://schemas.openxmlformats.org/drawingml/2006/main" noGrp="1"/>
          </p:cNvSpPr>
          <p:nvPr/>
        </p:nvSpPr>
        <p:spPr>
          <a:xfrm xmlns:a="http://schemas.openxmlformats.org/drawingml/2006/main">
            <a:off x="762000" y="338137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Input</a:t>
            </a:r>
          </a:p>
        </p:txBody>
      </p:sp>
      <p:sp>
        <p:nvSpPr>
          <p:cNvPr id="14" name="pipeline-step-1">
            <a:extLst xmlns:a="http://schemas.openxmlformats.org/drawingml/2006/main">
              <a:ext uri="{FF2B5EF4-FFF2-40B4-BE49-F238E27FC236}">
                <a16:creationId xmlns:a16="http://schemas.microsoft.com/office/drawing/2014/main" id="{E1CA7E86-3627-4ED3-B6B9-BD3AA573516F}"/>
              </a:ext>
            </a:extLst>
          </p:cNvPr>
          <p:cNvSpPr>
            <a:spLocks xmlns:a="http://schemas.openxmlformats.org/drawingml/2006/main" noGrp="1"/>
          </p:cNvSpPr>
          <p:nvPr/>
        </p:nvSpPr>
        <p:spPr>
          <a:xfrm xmlns:a="http://schemas.openxmlformats.org/drawingml/2006/main">
            <a:off x="2905125" y="2524125"/>
            <a:ext cx="1666875" cy="1524000"/>
          </a:xfrm>
          <a:prstGeom xmlns:a="http://schemas.openxmlformats.org/drawingml/2006/main" prst="roundRect">
            <a:avLst>
              <a:gd name="adj" fmla="val 11250"/>
            </a:avLst>
          </a:prstGeom>
          <a:solidFill xmlns:a="http://schemas.openxmlformats.org/drawingml/2006/main">
            <a:srgbClr val="EFF6FF"/>
          </a:solidFill>
          <a:ln xmlns:a="http://schemas.openxmlformats.org/drawingml/2006/main" w="9525">
            <a:solidFill>
              <a:srgbClr val="E2E8F0"/>
            </a:solidFill>
            <a:prstDash val="solid"/>
          </a:ln>
        </p:spPr>
      </p:sp>
      <p:sp>
        <p:nvSpPr>
          <p:cNvPr id="15" name="pipeline-fa-1">
            <a:extLst xmlns:a="http://schemas.openxmlformats.org/drawingml/2006/main">
              <a:ext uri="{FF2B5EF4-FFF2-40B4-BE49-F238E27FC236}">
                <a16:creationId xmlns:a16="http://schemas.microsoft.com/office/drawing/2014/main" id="{6B5456BD-F992-45A6-99BB-713577E5B94E}"/>
              </a:ext>
            </a:extLst>
          </p:cNvPr>
          <p:cNvSpPr>
            <a:spLocks xmlns:a="http://schemas.openxmlformats.org/drawingml/2006/main" noGrp="1"/>
          </p:cNvSpPr>
          <p:nvPr/>
        </p:nvSpPr>
        <p:spPr>
          <a:xfrm xmlns:a="http://schemas.openxmlformats.org/drawingml/2006/main">
            <a:off x="3019425" y="2838450"/>
            <a:ext cx="14382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255"/>
          </a:bodyPr>
          <a:lstStyle xmlns:a="http://schemas.openxmlformats.org/drawingml/2006/main"/>
          <a:p xmlns:a="http://schemas.openxmlformats.org/drawingml/2006/main">
            <a:pPr algn="ctr">
              <a:defRPr sz="1575" b="1">
                <a:solidFill>
                  <a:srgbClr val="1E293B"/>
                </a:solidFill>
                <a:latin typeface="DejaVu Sans"/>
                <a:ea typeface="DejaVu Sans"/>
                <a:cs typeface="DejaVu Sans"/>
              </a:defRPr>
            </a:pPr>
            <a:r>
              <a:rPr sz="1575" b="1">
                <a:solidFill>
                  <a:srgbClr val="1E293B"/>
                </a:solidFill>
                <a:latin typeface="DejaVu Sans"/>
                <a:ea typeface="DejaVu Sans"/>
                <a:cs typeface="DejaVu Sans"/>
              </a:rPr>
              <a:t>Embedding</a:t>
            </a:r>
          </a:p>
        </p:txBody>
      </p:sp>
      <p:sp>
        <p:nvSpPr>
          <p:cNvPr id="16" name="pipeline-en-1">
            <a:extLst xmlns:a="http://schemas.openxmlformats.org/drawingml/2006/main">
              <a:ext uri="{FF2B5EF4-FFF2-40B4-BE49-F238E27FC236}">
                <a16:creationId xmlns:a16="http://schemas.microsoft.com/office/drawing/2014/main" id="{95C53643-312D-4433-B13E-ACAD06265869}"/>
              </a:ext>
            </a:extLst>
          </p:cNvPr>
          <p:cNvSpPr>
            <a:spLocks xmlns:a="http://schemas.openxmlformats.org/drawingml/2006/main" noGrp="1"/>
          </p:cNvSpPr>
          <p:nvPr/>
        </p:nvSpPr>
        <p:spPr>
          <a:xfrm xmlns:a="http://schemas.openxmlformats.org/drawingml/2006/main">
            <a:off x="3048000" y="338137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MiniLM</a:t>
            </a:r>
          </a:p>
        </p:txBody>
      </p:sp>
      <p:sp>
        <p:nvSpPr>
          <p:cNvPr id="17" name="pipeline-step-2">
            <a:extLst xmlns:a="http://schemas.openxmlformats.org/drawingml/2006/main">
              <a:ext uri="{FF2B5EF4-FFF2-40B4-BE49-F238E27FC236}">
                <a16:creationId xmlns:a16="http://schemas.microsoft.com/office/drawing/2014/main" id="{BEFF4684-D384-4EA7-B07B-0FC0FEBAFEA9}"/>
              </a:ext>
            </a:extLst>
          </p:cNvPr>
          <p:cNvSpPr>
            <a:spLocks xmlns:a="http://schemas.openxmlformats.org/drawingml/2006/main" noGrp="1"/>
          </p:cNvSpPr>
          <p:nvPr/>
        </p:nvSpPr>
        <p:spPr>
          <a:xfrm xmlns:a="http://schemas.openxmlformats.org/drawingml/2006/main">
            <a:off x="5191125" y="2524125"/>
            <a:ext cx="1666875" cy="1524000"/>
          </a:xfrm>
          <a:prstGeom xmlns:a="http://schemas.openxmlformats.org/drawingml/2006/main" prst="roundRect">
            <a:avLst>
              <a:gd name="adj" fmla="val 11250"/>
            </a:avLst>
          </a:prstGeom>
          <a:solidFill xmlns:a="http://schemas.openxmlformats.org/drawingml/2006/main">
            <a:srgbClr val="EFF6FF"/>
          </a:solidFill>
          <a:ln xmlns:a="http://schemas.openxmlformats.org/drawingml/2006/main" w="9525">
            <a:solidFill>
              <a:srgbClr val="E2E8F0"/>
            </a:solidFill>
            <a:prstDash val="solid"/>
          </a:ln>
        </p:spPr>
      </p:sp>
      <p:sp>
        <p:nvSpPr>
          <p:cNvPr id="18" name="pipeline-fa-2">
            <a:extLst xmlns:a="http://schemas.openxmlformats.org/drawingml/2006/main">
              <a:ext uri="{FF2B5EF4-FFF2-40B4-BE49-F238E27FC236}">
                <a16:creationId xmlns:a16="http://schemas.microsoft.com/office/drawing/2014/main" id="{7FB3FD34-306A-461A-8905-5F8BDEC0797C}"/>
              </a:ext>
            </a:extLst>
          </p:cNvPr>
          <p:cNvSpPr>
            <a:spLocks xmlns:a="http://schemas.openxmlformats.org/drawingml/2006/main" noGrp="1"/>
          </p:cNvSpPr>
          <p:nvPr/>
        </p:nvSpPr>
        <p:spPr>
          <a:xfrm xmlns:a="http://schemas.openxmlformats.org/drawingml/2006/main">
            <a:off x="5305425" y="2838450"/>
            <a:ext cx="14382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E293B"/>
                </a:solidFill>
                <a:latin typeface="DejaVu Sans"/>
                <a:ea typeface="DejaVu Sans"/>
                <a:cs typeface="DejaVu Sans"/>
              </a:defRPr>
            </a:pPr>
            <a:r>
              <a:rPr sz="1575" b="1">
                <a:solidFill>
                  <a:srgbClr val="1E293B"/>
                </a:solidFill>
                <a:latin typeface="DejaVu Sans"/>
                <a:ea typeface="DejaVu Sans"/>
                <a:cs typeface="DejaVu Sans"/>
              </a:rPr>
              <a:t>Retrieval</a:t>
            </a:r>
          </a:p>
        </p:txBody>
      </p:sp>
      <p:sp>
        <p:nvSpPr>
          <p:cNvPr id="19" name="pipeline-en-2">
            <a:extLst xmlns:a="http://schemas.openxmlformats.org/drawingml/2006/main">
              <a:ext uri="{FF2B5EF4-FFF2-40B4-BE49-F238E27FC236}">
                <a16:creationId xmlns:a16="http://schemas.microsoft.com/office/drawing/2014/main" id="{7DEB756B-0C38-4F24-B8DC-07D809A296D5}"/>
              </a:ext>
            </a:extLst>
          </p:cNvPr>
          <p:cNvSpPr>
            <a:spLocks xmlns:a="http://schemas.openxmlformats.org/drawingml/2006/main" noGrp="1"/>
          </p:cNvSpPr>
          <p:nvPr/>
        </p:nvSpPr>
        <p:spPr>
          <a:xfrm xmlns:a="http://schemas.openxmlformats.org/drawingml/2006/main">
            <a:off x="5334000" y="338137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FAISS Top-3</a:t>
            </a:r>
          </a:p>
        </p:txBody>
      </p:sp>
      <p:sp>
        <p:nvSpPr>
          <p:cNvPr id="20" name="pipeline-step-3">
            <a:extLst xmlns:a="http://schemas.openxmlformats.org/drawingml/2006/main">
              <a:ext uri="{FF2B5EF4-FFF2-40B4-BE49-F238E27FC236}">
                <a16:creationId xmlns:a16="http://schemas.microsoft.com/office/drawing/2014/main" id="{9642555C-EE8B-4BDD-A25D-BE2C614E1F6D}"/>
              </a:ext>
            </a:extLst>
          </p:cNvPr>
          <p:cNvSpPr>
            <a:spLocks xmlns:a="http://schemas.openxmlformats.org/drawingml/2006/main" noGrp="1"/>
          </p:cNvSpPr>
          <p:nvPr/>
        </p:nvSpPr>
        <p:spPr>
          <a:xfrm xmlns:a="http://schemas.openxmlformats.org/drawingml/2006/main">
            <a:off x="7477125" y="2524125"/>
            <a:ext cx="1666875" cy="1524000"/>
          </a:xfrm>
          <a:prstGeom xmlns:a="http://schemas.openxmlformats.org/drawingml/2006/main" prst="roundRect">
            <a:avLst>
              <a:gd name="adj" fmla="val 11250"/>
            </a:avLst>
          </a:prstGeom>
          <a:solidFill xmlns:a="http://schemas.openxmlformats.org/drawingml/2006/main">
            <a:srgbClr val="F8FAFC"/>
          </a:solidFill>
          <a:ln xmlns:a="http://schemas.openxmlformats.org/drawingml/2006/main" w="9525">
            <a:solidFill>
              <a:srgbClr val="E2E8F0"/>
            </a:solidFill>
            <a:prstDash val="solid"/>
          </a:ln>
        </p:spPr>
      </p:sp>
      <p:sp>
        <p:nvSpPr>
          <p:cNvPr id="21" name="pipeline-fa-3">
            <a:extLst xmlns:a="http://schemas.openxmlformats.org/drawingml/2006/main">
              <a:ext uri="{FF2B5EF4-FFF2-40B4-BE49-F238E27FC236}">
                <a16:creationId xmlns:a16="http://schemas.microsoft.com/office/drawing/2014/main" id="{7AA3D84F-0917-4AC2-B542-56F88B836274}"/>
              </a:ext>
            </a:extLst>
          </p:cNvPr>
          <p:cNvSpPr>
            <a:spLocks xmlns:a="http://schemas.openxmlformats.org/drawingml/2006/main" noGrp="1"/>
          </p:cNvSpPr>
          <p:nvPr/>
        </p:nvSpPr>
        <p:spPr>
          <a:xfrm xmlns:a="http://schemas.openxmlformats.org/drawingml/2006/main">
            <a:off x="7591425" y="2838450"/>
            <a:ext cx="14382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127"/>
          </a:bodyPr>
          <a:lstStyle xmlns:a="http://schemas.openxmlformats.org/drawingml/2006/main"/>
          <a:p xmlns:a="http://schemas.openxmlformats.org/drawingml/2006/main">
            <a:pPr algn="ctr">
              <a:defRPr sz="1575" b="1">
                <a:solidFill>
                  <a:srgbClr val="1E293B"/>
                </a:solidFill>
                <a:latin typeface="DejaVu Sans"/>
                <a:ea typeface="DejaVu Sans"/>
                <a:cs typeface="DejaVu Sans"/>
              </a:defRPr>
            </a:pPr>
            <a:r>
              <a:rPr sz="1575" b="1">
                <a:solidFill>
                  <a:srgbClr val="1E293B"/>
                </a:solidFill>
                <a:latin typeface="DejaVu Sans"/>
                <a:ea typeface="DejaVu Sans"/>
                <a:cs typeface="DejaVu Sans"/>
              </a:rPr>
              <a:t>Rank-1 Evidence</a:t>
            </a:r>
          </a:p>
        </p:txBody>
      </p:sp>
      <p:sp>
        <p:nvSpPr>
          <p:cNvPr id="22" name="pipeline-en-3">
            <a:extLst xmlns:a="http://schemas.openxmlformats.org/drawingml/2006/main">
              <a:ext uri="{FF2B5EF4-FFF2-40B4-BE49-F238E27FC236}">
                <a16:creationId xmlns:a16="http://schemas.microsoft.com/office/drawing/2014/main" id="{9123605C-5BAD-48FF-9DB9-9961358C9772}"/>
              </a:ext>
            </a:extLst>
          </p:cNvPr>
          <p:cNvSpPr>
            <a:spLocks xmlns:a="http://schemas.openxmlformats.org/drawingml/2006/main" noGrp="1"/>
          </p:cNvSpPr>
          <p:nvPr/>
        </p:nvSpPr>
        <p:spPr>
          <a:xfrm xmlns:a="http://schemas.openxmlformats.org/drawingml/2006/main">
            <a:off x="7620000" y="338137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Context</a:t>
            </a:r>
          </a:p>
        </p:txBody>
      </p:sp>
      <p:sp>
        <p:nvSpPr>
          <p:cNvPr id="23" name="pipeline-step-4">
            <a:extLst xmlns:a="http://schemas.openxmlformats.org/drawingml/2006/main">
              <a:ext uri="{FF2B5EF4-FFF2-40B4-BE49-F238E27FC236}">
                <a16:creationId xmlns:a16="http://schemas.microsoft.com/office/drawing/2014/main" id="{8F3E0A1D-9929-4D3E-80DD-32FF8A8F43EA}"/>
              </a:ext>
            </a:extLst>
          </p:cNvPr>
          <p:cNvSpPr>
            <a:spLocks xmlns:a="http://schemas.openxmlformats.org/drawingml/2006/main" noGrp="1"/>
          </p:cNvSpPr>
          <p:nvPr/>
        </p:nvSpPr>
        <p:spPr>
          <a:xfrm xmlns:a="http://schemas.openxmlformats.org/drawingml/2006/main">
            <a:off x="9763125" y="2524125"/>
            <a:ext cx="1666875" cy="1524000"/>
          </a:xfrm>
          <a:prstGeom xmlns:a="http://schemas.openxmlformats.org/drawingml/2006/main" prst="roundRect">
            <a:avLst>
              <a:gd name="adj" fmla="val 11250"/>
            </a:avLst>
          </a:prstGeom>
          <a:solidFill xmlns:a="http://schemas.openxmlformats.org/drawingml/2006/main">
            <a:srgbClr val="F8FAFC"/>
          </a:solidFill>
          <a:ln xmlns:a="http://schemas.openxmlformats.org/drawingml/2006/main" w="9525">
            <a:solidFill>
              <a:srgbClr val="E2E8F0"/>
            </a:solidFill>
            <a:prstDash val="solid"/>
          </a:ln>
        </p:spPr>
      </p:sp>
      <p:sp>
        <p:nvSpPr>
          <p:cNvPr id="24" name="pipeline-fa-4">
            <a:extLst xmlns:a="http://schemas.openxmlformats.org/drawingml/2006/main">
              <a:ext uri="{FF2B5EF4-FFF2-40B4-BE49-F238E27FC236}">
                <a16:creationId xmlns:a16="http://schemas.microsoft.com/office/drawing/2014/main" id="{7B8FA936-7885-419C-BE99-C2FED0426185}"/>
              </a:ext>
            </a:extLst>
          </p:cNvPr>
          <p:cNvSpPr>
            <a:spLocks xmlns:a="http://schemas.openxmlformats.org/drawingml/2006/main" noGrp="1"/>
          </p:cNvSpPr>
          <p:nvPr/>
        </p:nvSpPr>
        <p:spPr>
          <a:xfrm xmlns:a="http://schemas.openxmlformats.org/drawingml/2006/main">
            <a:off x="9877425" y="2838450"/>
            <a:ext cx="14382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575" b="1">
                <a:solidFill>
                  <a:srgbClr val="1E293B"/>
                </a:solidFill>
                <a:latin typeface="DejaVu Sans"/>
                <a:ea typeface="DejaVu Sans"/>
                <a:cs typeface="DejaVu Sans"/>
              </a:defRPr>
            </a:pPr>
            <a:r>
              <a:rPr sz="1575" b="1">
                <a:solidFill>
                  <a:srgbClr val="1E293B"/>
                </a:solidFill>
                <a:latin typeface="DejaVu Sans"/>
                <a:ea typeface="DejaVu Sans"/>
                <a:cs typeface="DejaVu Sans"/>
              </a:rPr>
              <a:t>Answer</a:t>
            </a:r>
          </a:p>
        </p:txBody>
      </p:sp>
      <p:sp>
        <p:nvSpPr>
          <p:cNvPr id="25" name="pipeline-en-4">
            <a:extLst xmlns:a="http://schemas.openxmlformats.org/drawingml/2006/main">
              <a:ext uri="{FF2B5EF4-FFF2-40B4-BE49-F238E27FC236}">
                <a16:creationId xmlns:a16="http://schemas.microsoft.com/office/drawing/2014/main" id="{9D25B57B-D553-4017-B04A-908B99301E00}"/>
              </a:ext>
            </a:extLst>
          </p:cNvPr>
          <p:cNvSpPr>
            <a:spLocks xmlns:a="http://schemas.openxmlformats.org/drawingml/2006/main" noGrp="1"/>
          </p:cNvSpPr>
          <p:nvPr/>
        </p:nvSpPr>
        <p:spPr>
          <a:xfrm xmlns:a="http://schemas.openxmlformats.org/drawingml/2006/main">
            <a:off x="9906000" y="3381375"/>
            <a:ext cx="1381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FLAN-T5-base</a:t>
            </a:r>
          </a:p>
        </p:txBody>
      </p:sp>
      <p:sp>
        <p:nvSpPr>
          <p:cNvPr id="26" name="prompt-rule-surface">
            <a:extLst xmlns:a="http://schemas.openxmlformats.org/drawingml/2006/main">
              <a:ext uri="{FF2B5EF4-FFF2-40B4-BE49-F238E27FC236}">
                <a16:creationId xmlns:a16="http://schemas.microsoft.com/office/drawing/2014/main" id="{784CFB6D-F70B-4213-9E19-2E313EF64510}"/>
              </a:ext>
            </a:extLst>
          </p:cNvPr>
          <p:cNvSpPr>
            <a:spLocks xmlns:a="http://schemas.openxmlformats.org/drawingml/2006/main" noGrp="1"/>
          </p:cNvSpPr>
          <p:nvPr/>
        </p:nvSpPr>
        <p:spPr>
          <a:xfrm xmlns:a="http://schemas.openxmlformats.org/drawingml/2006/main">
            <a:off x="1619250" y="4695825"/>
            <a:ext cx="895350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E2E8F0"/>
            </a:solidFill>
            <a:prstDash val="solid"/>
          </a:ln>
        </p:spPr>
      </p:sp>
      <p:sp>
        <p:nvSpPr>
          <p:cNvPr id="27" name="prompt-rule-accent">
            <a:extLst xmlns:a="http://schemas.openxmlformats.org/drawingml/2006/main">
              <a:ext uri="{FF2B5EF4-FFF2-40B4-BE49-F238E27FC236}">
                <a16:creationId xmlns:a16="http://schemas.microsoft.com/office/drawing/2014/main" id="{28F95EBD-C5BC-481C-9FC8-702212848419}"/>
              </a:ext>
            </a:extLst>
          </p:cNvPr>
          <p:cNvSpPr>
            <a:spLocks xmlns:a="http://schemas.openxmlformats.org/drawingml/2006/main" noGrp="1"/>
          </p:cNvSpPr>
          <p:nvPr/>
        </p:nvSpPr>
        <p:spPr>
          <a:xfrm xmlns:a="http://schemas.openxmlformats.org/drawingml/2006/main">
            <a:off x="1619250" y="4695825"/>
            <a:ext cx="76200" cy="781050"/>
          </a:xfrm>
          <a:prstGeom xmlns:a="http://schemas.openxmlformats.org/drawingml/2006/main" prst="rect">
            <a:avLst/>
          </a:prstGeom>
          <a:solidFill xmlns:a="http://schemas.openxmlformats.org/drawingml/2006/main">
            <a:srgbClr val="3B82F6"/>
          </a:solidFill>
          <a:ln xmlns:a="http://schemas.openxmlformats.org/drawingml/2006/main" w="0">
            <a:solidFill>
              <a:srgbClr val="3B82F6"/>
            </a:solidFill>
            <a:prstDash val="solid"/>
          </a:ln>
        </p:spPr>
      </p:sp>
      <p:sp>
        <p:nvSpPr>
          <p:cNvPr id="28" name="prompt-rule-text">
            <a:extLst xmlns:a="http://schemas.openxmlformats.org/drawingml/2006/main">
              <a:ext uri="{FF2B5EF4-FFF2-40B4-BE49-F238E27FC236}">
                <a16:creationId xmlns:a16="http://schemas.microsoft.com/office/drawing/2014/main" id="{2FB79AB2-7CFB-4DF2-971A-75961108B094}"/>
              </a:ext>
            </a:extLst>
          </p:cNvPr>
          <p:cNvSpPr>
            <a:spLocks xmlns:a="http://schemas.openxmlformats.org/drawingml/2006/main" noGrp="1"/>
          </p:cNvSpPr>
          <p:nvPr/>
        </p:nvSpPr>
        <p:spPr>
          <a:xfrm xmlns:a="http://schemas.openxmlformats.org/drawingml/2006/main">
            <a:off x="1924050" y="4905375"/>
            <a:ext cx="83629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7262"/>
          </a:bodyPr>
          <a:lstStyle xmlns:a="http://schemas.openxmlformats.org/drawingml/2006/main"/>
          <a:p xmlns:a="http://schemas.openxmlformats.org/drawingml/2006/main">
            <a:pPr algn="l">
              <a:defRPr sz="1500" b="1">
                <a:solidFill>
                  <a:srgbClr val="1E293B"/>
                </a:solidFill>
                <a:latin typeface="DejaVu Sans"/>
                <a:ea typeface="DejaVu Sans"/>
                <a:cs typeface="DejaVu Sans"/>
              </a:defRPr>
            </a:pPr>
            <a:r>
              <a:rPr sz="1500" b="1">
                <a:solidFill>
                  <a:srgbClr val="1E293B"/>
                </a:solidFill>
                <a:latin typeface="DejaVu Sans"/>
                <a:ea typeface="DejaVu Sans"/>
                <a:cs typeface="DejaVu Sans"/>
              </a:rPr>
              <a:t>Prompt rule: answer only from rank-1 evidence; otherwise return exactly NO_ANSWER.</a:t>
            </a:r>
          </a:p>
        </p:txBody>
      </p:sp>
      <p:sp>
        <p:nvSpPr>
          <p:cNvPr id="29" name="footer-3">
            <a:extLst xmlns:a="http://schemas.openxmlformats.org/drawingml/2006/main">
              <a:ext uri="{FF2B5EF4-FFF2-40B4-BE49-F238E27FC236}">
                <a16:creationId xmlns:a16="http://schemas.microsoft.com/office/drawing/2014/main" id="{97525292-4BF9-4BA1-93EA-3FF52716E29F}"/>
              </a:ext>
            </a:extLst>
          </p:cNvPr>
          <p:cNvSpPr>
            <a:spLocks xmlns:a="http://schemas.openxmlformats.org/drawingml/2006/main" noGrp="1"/>
          </p:cNvSpPr>
          <p:nvPr/>
        </p:nvSpPr>
        <p:spPr>
          <a:xfrm xmlns:a="http://schemas.openxmlformats.org/drawingml/2006/main">
            <a:off x="5619750" y="65341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4748B"/>
                </a:solidFill>
                <a:latin typeface="DejaVu Sans"/>
                <a:ea typeface="DejaVu Sans"/>
                <a:cs typeface="DejaVu Sans"/>
              </a:defRPr>
            </a:pPr>
            <a:r>
              <a:rPr sz="750" b="0">
                <a:solidFill>
                  <a:srgbClr val="64748B"/>
                </a:solidFill>
                <a:latin typeface="DejaVu Sans"/>
                <a:ea typeface="DejaVu Sans"/>
                <a:cs typeface="DejaVu Sans"/>
              </a:rPr>
              <a:t>3 / 11</a:t>
            </a:r>
          </a:p>
        </p:txBody>
      </p:sp>
    </p:spTree>
    <p:extLst>
      <p:ext uri="{BB962C8B-B14F-4D97-AF65-F5344CB8AC3E}">
        <p14:creationId xmlns:p14="http://schemas.microsoft.com/office/powerpoint/2010/main" val="1892057854"/>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section-pill-3">
            <a:extLst xmlns:a="http://schemas.openxmlformats.org/drawingml/2006/main">
              <a:ext uri="{FF2B5EF4-FFF2-40B4-BE49-F238E27FC236}">
                <a16:creationId xmlns:a16="http://schemas.microsoft.com/office/drawing/2014/main" id="{964FE429-359D-467B-80B5-908D5A862FF5}"/>
              </a:ext>
            </a:extLst>
          </p:cNvPr>
          <p:cNvSpPr>
            <a:spLocks xmlns:a="http://schemas.openxmlformats.org/drawingml/2006/main" noGrp="1"/>
          </p:cNvSpPr>
          <p:nvPr/>
        </p:nvSpPr>
        <p:spPr>
          <a:xfrm xmlns:a="http://schemas.openxmlformats.org/drawingml/2006/main">
            <a:off x="666750" y="323850"/>
            <a:ext cx="1285875" cy="304800"/>
          </a:xfrm>
          <a:prstGeom xmlns:a="http://schemas.openxmlformats.org/drawingml/2006/main" prst="roundRect">
            <a:avLst>
              <a:gd name="adj" fmla="val 18750"/>
            </a:avLst>
          </a:prstGeom>
          <a:solidFill xmlns:a="http://schemas.openxmlformats.org/drawingml/2006/main">
            <a:srgbClr val="EFF6FF"/>
          </a:solidFill>
          <a:ln xmlns:a="http://schemas.openxmlformats.org/drawingml/2006/main" w="0">
            <a:noFill/>
            <a:prstDash val="solid"/>
          </a:ln>
        </p:spPr>
      </p:sp>
      <p:sp>
        <p:nvSpPr>
          <p:cNvPr id="2" name="section-label-3">
            <a:extLst xmlns:a="http://schemas.openxmlformats.org/drawingml/2006/main">
              <a:ext uri="{FF2B5EF4-FFF2-40B4-BE49-F238E27FC236}">
                <a16:creationId xmlns:a16="http://schemas.microsoft.com/office/drawing/2014/main" id="{8B0B1958-D39D-4B85-B215-D0063B17CC33}"/>
              </a:ext>
            </a:extLst>
          </p:cNvPr>
          <p:cNvSpPr>
            <a:spLocks xmlns:a="http://schemas.openxmlformats.org/drawingml/2006/main" noGrp="1"/>
          </p:cNvSpPr>
          <p:nvPr/>
        </p:nvSpPr>
        <p:spPr>
          <a:xfrm xmlns:a="http://schemas.openxmlformats.org/drawingml/2006/main">
            <a:off x="666750" y="3714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ctr">
              <a:defRPr sz="1050" b="1">
                <a:solidFill>
                  <a:srgbClr val="3B82F6"/>
                </a:solidFill>
                <a:latin typeface="DejaVu Sans"/>
                <a:ea typeface="DejaVu Sans"/>
                <a:cs typeface="DejaVu Sans"/>
              </a:defRPr>
            </a:pPr>
            <a:r>
              <a:rPr sz="1050" b="1">
                <a:solidFill>
                  <a:srgbClr val="3B82F6"/>
                </a:solidFill>
                <a:latin typeface="DejaVu Sans"/>
                <a:ea typeface="DejaVu Sans"/>
                <a:cs typeface="DejaVu Sans"/>
              </a:rPr>
              <a:t>SECTION 3</a:t>
            </a:r>
          </a:p>
        </p:txBody>
      </p:sp>
      <p:sp>
        <p:nvSpPr>
          <p:cNvPr id="3" name="title-3">
            <a:extLst xmlns:a="http://schemas.openxmlformats.org/drawingml/2006/main">
              <a:ext uri="{FF2B5EF4-FFF2-40B4-BE49-F238E27FC236}">
                <a16:creationId xmlns:a16="http://schemas.microsoft.com/office/drawing/2014/main" id="{7966A870-BF91-4468-9A3C-9CFE48BA7137}"/>
              </a:ext>
            </a:extLst>
          </p:cNvPr>
          <p:cNvSpPr>
            <a:spLocks xmlns:a="http://schemas.openxmlformats.org/drawingml/2006/main" noGrp="1"/>
          </p:cNvSpPr>
          <p:nvPr/>
        </p:nvSpPr>
        <p:spPr>
          <a:xfrm xmlns:a="http://schemas.openxmlformats.org/drawingml/2006/main">
            <a:off x="6667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798"/>
          </a:bodyPr>
          <a:lstStyle xmlns:a="http://schemas.openxmlformats.org/drawingml/2006/main"/>
          <a:p xmlns:a="http://schemas.openxmlformats.org/drawingml/2006/main">
            <a:pPr algn="l">
              <a:defRPr sz="3225" b="1">
                <a:solidFill>
                  <a:srgbClr val="1E293B"/>
                </a:solidFill>
                <a:latin typeface="DejaVu Sans"/>
                <a:ea typeface="DejaVu Sans"/>
                <a:cs typeface="DejaVu Sans"/>
              </a:defRPr>
            </a:pPr>
            <a:r>
              <a:rPr sz="3225" b="1">
                <a:solidFill>
                  <a:srgbClr val="1E293B"/>
                </a:solidFill>
                <a:latin typeface="DejaVu Sans"/>
                <a:ea typeface="DejaVu Sans"/>
                <a:cs typeface="DejaVu Sans"/>
              </a:rPr>
              <a:t>Retrieval Is Already Strong</a:t>
            </a:r>
          </a:p>
        </p:txBody>
      </p:sp>
      <p:sp>
        <p:nvSpPr>
          <p:cNvPr id="4" name="subtitle-3">
            <a:extLst xmlns:a="http://schemas.openxmlformats.org/drawingml/2006/main">
              <a:ext uri="{FF2B5EF4-FFF2-40B4-BE49-F238E27FC236}">
                <a16:creationId xmlns:a16="http://schemas.microsoft.com/office/drawing/2014/main" id="{E0BAF5D7-D682-49CC-B36A-ECEF7765CBAA}"/>
              </a:ext>
            </a:extLst>
          </p:cNvPr>
          <p:cNvSpPr>
            <a:spLocks xmlns:a="http://schemas.openxmlformats.org/drawingml/2006/main" noGrp="1"/>
          </p:cNvSpPr>
          <p:nvPr/>
        </p:nvSpPr>
        <p:spPr>
          <a:xfrm xmlns:a="http://schemas.openxmlformats.org/drawingml/2006/main">
            <a:off x="666750" y="13620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0">
                <a:solidFill>
                  <a:srgbClr val="94A3B8"/>
                </a:solidFill>
                <a:latin typeface="DejaVu Sans"/>
                <a:ea typeface="DejaVu Sans"/>
                <a:cs typeface="DejaVu Sans"/>
              </a:defRPr>
            </a:pPr>
            <a:r>
              <a:rPr sz="1125" b="0">
                <a:solidFill>
                  <a:srgbClr val="94A3B8"/>
                </a:solidFill>
                <a:latin typeface="DejaVu Sans"/>
                <a:ea typeface="DejaVu Sans"/>
                <a:cs typeface="DejaVu Sans"/>
              </a:rPr>
              <a:t>Gold evidence is recovered for nearly every answerable question</a:t>
            </a:r>
          </a:p>
        </p:txBody>
      </p:sp>
      <p:sp>
        <p:nvSpPr>
          <p:cNvPr id="5" name="blue-rule-3">
            <a:extLst xmlns:a="http://schemas.openxmlformats.org/drawingml/2006/main">
              <a:ext uri="{FF2B5EF4-FFF2-40B4-BE49-F238E27FC236}">
                <a16:creationId xmlns:a16="http://schemas.microsoft.com/office/drawing/2014/main" id="{BEB207F4-ADFB-457E-9BF5-87ECEFCAC928}"/>
              </a:ext>
            </a:extLst>
          </p:cNvPr>
          <p:cNvSpPr>
            <a:spLocks xmlns:a="http://schemas.openxmlformats.org/drawingml/2006/main" noGrp="1"/>
          </p:cNvSpPr>
          <p:nvPr/>
        </p:nvSpPr>
        <p:spPr>
          <a:xfrm xmlns:a="http://schemas.openxmlformats.org/drawingml/2006/main">
            <a:off x="666750" y="1685925"/>
            <a:ext cx="552450" cy="0"/>
          </a:xfrm>
          <a:prstGeom xmlns:a="http://schemas.openxmlformats.org/drawingml/2006/main" prst="line">
            <a:avLst/>
          </a:prstGeom>
          <a:noFill xmlns:a="http://schemas.openxmlformats.org/drawingml/2006/main"/>
          <a:ln xmlns:a="http://schemas.openxmlformats.org/drawingml/2006/main" w="28575">
            <a:solidFill>
              <a:srgbClr val="3B82F6"/>
            </a:solidFill>
            <a:prstDash val="solid"/>
          </a:ln>
        </p:spPr>
      </p:sp>
      <p:sp>
        <p:nvSpPr>
          <p:cNvPr id="6" name="green-rule-3">
            <a:extLst xmlns:a="http://schemas.openxmlformats.org/drawingml/2006/main">
              <a:ext uri="{FF2B5EF4-FFF2-40B4-BE49-F238E27FC236}">
                <a16:creationId xmlns:a16="http://schemas.microsoft.com/office/drawing/2014/main" id="{D40BC9B2-E9D4-4738-A464-6A0804ABD8BA}"/>
              </a:ext>
            </a:extLst>
          </p:cNvPr>
          <p:cNvSpPr>
            <a:spLocks xmlns:a="http://schemas.openxmlformats.org/drawingml/2006/main" noGrp="1"/>
          </p:cNvSpPr>
          <p:nvPr/>
        </p:nvSpPr>
        <p:spPr>
          <a:xfrm xmlns:a="http://schemas.openxmlformats.org/drawingml/2006/main">
            <a:off x="1219200" y="1685925"/>
            <a:ext cx="323850" cy="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sp>
        <p:nvSpPr>
          <p:cNvPr id="7" name="r1-card">
            <a:extLst xmlns:a="http://schemas.openxmlformats.org/drawingml/2006/main">
              <a:ext uri="{FF2B5EF4-FFF2-40B4-BE49-F238E27FC236}">
                <a16:creationId xmlns:a16="http://schemas.microsoft.com/office/drawing/2014/main" id="{314559FC-93E3-411C-91AA-1CB6F266B133}"/>
              </a:ext>
            </a:extLst>
          </p:cNvPr>
          <p:cNvSpPr>
            <a:spLocks xmlns:a="http://schemas.openxmlformats.org/drawingml/2006/main" noGrp="1"/>
          </p:cNvSpPr>
          <p:nvPr/>
        </p:nvSpPr>
        <p:spPr>
          <a:xfrm xmlns:a="http://schemas.openxmlformats.org/drawingml/2006/main">
            <a:off x="666750" y="2019300"/>
            <a:ext cx="28575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8" name="r1-value">
            <a:extLst xmlns:a="http://schemas.openxmlformats.org/drawingml/2006/main">
              <a:ext uri="{FF2B5EF4-FFF2-40B4-BE49-F238E27FC236}">
                <a16:creationId xmlns:a16="http://schemas.microsoft.com/office/drawing/2014/main" id="{09C73782-7151-4B97-8477-4912C7A39DA8}"/>
              </a:ext>
            </a:extLst>
          </p:cNvPr>
          <p:cNvSpPr>
            <a:spLocks xmlns:a="http://schemas.openxmlformats.org/drawingml/2006/main" noGrp="1"/>
          </p:cNvSpPr>
          <p:nvPr/>
        </p:nvSpPr>
        <p:spPr>
          <a:xfrm xmlns:a="http://schemas.openxmlformats.org/drawingml/2006/main">
            <a:off x="857250" y="22479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3B82F6"/>
                </a:solidFill>
                <a:latin typeface="DejaVu Sans"/>
                <a:ea typeface="DejaVu Sans"/>
                <a:cs typeface="DejaVu Sans"/>
              </a:defRPr>
            </a:pPr>
            <a:r>
              <a:rPr sz="2400" b="1">
                <a:solidFill>
                  <a:srgbClr val="3B82F6"/>
                </a:solidFill>
                <a:latin typeface="DejaVu Sans"/>
                <a:ea typeface="DejaVu Sans"/>
                <a:cs typeface="DejaVu Sans"/>
              </a:rPr>
              <a:t>88.75%</a:t>
            </a:r>
          </a:p>
        </p:txBody>
      </p:sp>
      <p:sp>
        <p:nvSpPr>
          <p:cNvPr id="9" name="r1-label">
            <a:extLst xmlns:a="http://schemas.openxmlformats.org/drawingml/2006/main">
              <a:ext uri="{FF2B5EF4-FFF2-40B4-BE49-F238E27FC236}">
                <a16:creationId xmlns:a16="http://schemas.microsoft.com/office/drawing/2014/main" id="{915AEEC2-39CF-4BD6-92B0-145066828AC7}"/>
              </a:ext>
            </a:extLst>
          </p:cNvPr>
          <p:cNvSpPr>
            <a:spLocks xmlns:a="http://schemas.openxmlformats.org/drawingml/2006/main" noGrp="1"/>
          </p:cNvSpPr>
          <p:nvPr/>
        </p:nvSpPr>
        <p:spPr>
          <a:xfrm xmlns:a="http://schemas.openxmlformats.org/drawingml/2006/main">
            <a:off x="838200" y="2800350"/>
            <a:ext cx="2514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Recall@1</a:t>
            </a:r>
          </a:p>
        </p:txBody>
      </p:sp>
      <p:sp>
        <p:nvSpPr>
          <p:cNvPr id="10" name="r3-card">
            <a:extLst xmlns:a="http://schemas.openxmlformats.org/drawingml/2006/main">
              <a:ext uri="{FF2B5EF4-FFF2-40B4-BE49-F238E27FC236}">
                <a16:creationId xmlns:a16="http://schemas.microsoft.com/office/drawing/2014/main" id="{C995A121-3395-4BDA-8712-90CA737E068C}"/>
              </a:ext>
            </a:extLst>
          </p:cNvPr>
          <p:cNvSpPr>
            <a:spLocks xmlns:a="http://schemas.openxmlformats.org/drawingml/2006/main" noGrp="1"/>
          </p:cNvSpPr>
          <p:nvPr/>
        </p:nvSpPr>
        <p:spPr>
          <a:xfrm xmlns:a="http://schemas.openxmlformats.org/drawingml/2006/main">
            <a:off x="4667250" y="2019300"/>
            <a:ext cx="28575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11" name="r3-value">
            <a:extLst xmlns:a="http://schemas.openxmlformats.org/drawingml/2006/main">
              <a:ext uri="{FF2B5EF4-FFF2-40B4-BE49-F238E27FC236}">
                <a16:creationId xmlns:a16="http://schemas.microsoft.com/office/drawing/2014/main" id="{BBE1B258-47F1-4874-9F55-CE42B38C8E18}"/>
              </a:ext>
            </a:extLst>
          </p:cNvPr>
          <p:cNvSpPr>
            <a:spLocks xmlns:a="http://schemas.openxmlformats.org/drawingml/2006/main" noGrp="1"/>
          </p:cNvSpPr>
          <p:nvPr/>
        </p:nvSpPr>
        <p:spPr>
          <a:xfrm xmlns:a="http://schemas.openxmlformats.org/drawingml/2006/main">
            <a:off x="4857750" y="22479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10B981"/>
                </a:solidFill>
                <a:latin typeface="DejaVu Sans"/>
                <a:ea typeface="DejaVu Sans"/>
                <a:cs typeface="DejaVu Sans"/>
              </a:defRPr>
            </a:pPr>
            <a:r>
              <a:rPr sz="2400" b="1">
                <a:solidFill>
                  <a:srgbClr val="10B981"/>
                </a:solidFill>
                <a:latin typeface="DejaVu Sans"/>
                <a:ea typeface="DejaVu Sans"/>
                <a:cs typeface="DejaVu Sans"/>
              </a:rPr>
              <a:t>98.75%</a:t>
            </a:r>
          </a:p>
        </p:txBody>
      </p:sp>
      <p:sp>
        <p:nvSpPr>
          <p:cNvPr id="12" name="r3-label">
            <a:extLst xmlns:a="http://schemas.openxmlformats.org/drawingml/2006/main">
              <a:ext uri="{FF2B5EF4-FFF2-40B4-BE49-F238E27FC236}">
                <a16:creationId xmlns:a16="http://schemas.microsoft.com/office/drawing/2014/main" id="{EA294AA0-9E1D-4A21-8CF3-A441FBD94C20}"/>
              </a:ext>
            </a:extLst>
          </p:cNvPr>
          <p:cNvSpPr>
            <a:spLocks xmlns:a="http://schemas.openxmlformats.org/drawingml/2006/main" noGrp="1"/>
          </p:cNvSpPr>
          <p:nvPr/>
        </p:nvSpPr>
        <p:spPr>
          <a:xfrm xmlns:a="http://schemas.openxmlformats.org/drawingml/2006/main">
            <a:off x="4838700" y="2800350"/>
            <a:ext cx="2514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Recall@3</a:t>
            </a:r>
          </a:p>
        </p:txBody>
      </p:sp>
      <p:sp>
        <p:nvSpPr>
          <p:cNvPr id="13" name="miss-card">
            <a:extLst xmlns:a="http://schemas.openxmlformats.org/drawingml/2006/main">
              <a:ext uri="{FF2B5EF4-FFF2-40B4-BE49-F238E27FC236}">
                <a16:creationId xmlns:a16="http://schemas.microsoft.com/office/drawing/2014/main" id="{D6D36D89-CD59-43AD-A0EA-42D23E76A938}"/>
              </a:ext>
            </a:extLst>
          </p:cNvPr>
          <p:cNvSpPr>
            <a:spLocks xmlns:a="http://schemas.openxmlformats.org/drawingml/2006/main" noGrp="1"/>
          </p:cNvSpPr>
          <p:nvPr/>
        </p:nvSpPr>
        <p:spPr>
          <a:xfrm xmlns:a="http://schemas.openxmlformats.org/drawingml/2006/main">
            <a:off x="8667750" y="2019300"/>
            <a:ext cx="28575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14" name="miss-value">
            <a:extLst xmlns:a="http://schemas.openxmlformats.org/drawingml/2006/main">
              <a:ext uri="{FF2B5EF4-FFF2-40B4-BE49-F238E27FC236}">
                <a16:creationId xmlns:a16="http://schemas.microsoft.com/office/drawing/2014/main" id="{D9AD9C3D-57BA-4F3D-B50B-D427B2569152}"/>
              </a:ext>
            </a:extLst>
          </p:cNvPr>
          <p:cNvSpPr>
            <a:spLocks xmlns:a="http://schemas.openxmlformats.org/drawingml/2006/main" noGrp="1"/>
          </p:cNvSpPr>
          <p:nvPr/>
        </p:nvSpPr>
        <p:spPr>
          <a:xfrm xmlns:a="http://schemas.openxmlformats.org/drawingml/2006/main">
            <a:off x="8858250" y="22479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F59E0B"/>
                </a:solidFill>
                <a:latin typeface="DejaVu Sans"/>
                <a:ea typeface="DejaVu Sans"/>
                <a:cs typeface="DejaVu Sans"/>
              </a:defRPr>
            </a:pPr>
            <a:r>
              <a:rPr sz="2400" b="1">
                <a:solidFill>
                  <a:srgbClr val="F59E0B"/>
                </a:solidFill>
                <a:latin typeface="DejaVu Sans"/>
                <a:ea typeface="DejaVu Sans"/>
                <a:cs typeface="DejaVu Sans"/>
              </a:rPr>
              <a:t>1</a:t>
            </a:r>
          </a:p>
        </p:txBody>
      </p:sp>
      <p:sp>
        <p:nvSpPr>
          <p:cNvPr id="15" name="miss-label">
            <a:extLst xmlns:a="http://schemas.openxmlformats.org/drawingml/2006/main">
              <a:ext uri="{FF2B5EF4-FFF2-40B4-BE49-F238E27FC236}">
                <a16:creationId xmlns:a16="http://schemas.microsoft.com/office/drawing/2014/main" id="{C78B3FE5-B81F-47CD-9B0F-E9EAE5B6D020}"/>
              </a:ext>
            </a:extLst>
          </p:cNvPr>
          <p:cNvSpPr>
            <a:spLocks xmlns:a="http://schemas.openxmlformats.org/drawingml/2006/main" noGrp="1"/>
          </p:cNvSpPr>
          <p:nvPr/>
        </p:nvSpPr>
        <p:spPr>
          <a:xfrm xmlns:a="http://schemas.openxmlformats.org/drawingml/2006/main">
            <a:off x="8839200" y="2800350"/>
            <a:ext cx="2514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complete top-3 miss</a:t>
            </a:r>
          </a:p>
        </p:txBody>
      </p:sp>
      <p:graphicFrame>
        <p:nvGraphicFramePr>
          <p:cNvPr id="33" name="Chart"/>
          <p:cNvGraphicFramePr/>
          <p:nvPr/>
        </p:nvGraphicFramePr>
        <p:xfrm>
          <a:off xmlns:a="http://schemas.openxmlformats.org/drawingml/2006/main" x="2047875" y="3571875"/>
          <a:ext xmlns:a="http://schemas.openxmlformats.org/drawingml/2006/main" cx="8096250" cy="2333625"/>
        </p:xfrm>
        <a:graphic xmlns:a="http://schemas.openxmlformats.org/drawingml/2006/main">
          <a:graphicData uri="http://schemas.openxmlformats.org/drawingml/2006/chart">
            <c:chart xmlns:r="http://schemas.openxmlformats.org/officeDocument/2006/relationships" xmlns:c="http://schemas.openxmlformats.org/drawingml/2006/chart" r:id="R78f8a44d68324e4e"/>
          </a:graphicData>
        </a:graphic>
      </p:graphicFrame>
      <p:sp>
        <p:nvSpPr>
          <p:cNvPr id="17" name="footer-4">
            <a:extLst xmlns:a="http://schemas.openxmlformats.org/drawingml/2006/main">
              <a:ext uri="{FF2B5EF4-FFF2-40B4-BE49-F238E27FC236}">
                <a16:creationId xmlns:a16="http://schemas.microsoft.com/office/drawing/2014/main" id="{35ECB915-FB2A-4FDE-BCE9-39120379BED2}"/>
              </a:ext>
            </a:extLst>
          </p:cNvPr>
          <p:cNvSpPr>
            <a:spLocks xmlns:a="http://schemas.openxmlformats.org/drawingml/2006/main" noGrp="1"/>
          </p:cNvSpPr>
          <p:nvPr/>
        </p:nvSpPr>
        <p:spPr>
          <a:xfrm xmlns:a="http://schemas.openxmlformats.org/drawingml/2006/main">
            <a:off x="5619750" y="65341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4748B"/>
                </a:solidFill>
                <a:latin typeface="DejaVu Sans"/>
                <a:ea typeface="DejaVu Sans"/>
                <a:cs typeface="DejaVu Sans"/>
              </a:defRPr>
            </a:pPr>
            <a:r>
              <a:rPr sz="750" b="0">
                <a:solidFill>
                  <a:srgbClr val="64748B"/>
                </a:solidFill>
                <a:latin typeface="DejaVu Sans"/>
                <a:ea typeface="DejaVu Sans"/>
                <a:cs typeface="DejaVu Sans"/>
              </a:rPr>
              <a:t>4 / 11</a:t>
            </a:r>
          </a:p>
        </p:txBody>
      </p:sp>
    </p:spTree>
    <p:extLst>
      <p:ext uri="{BB962C8B-B14F-4D97-AF65-F5344CB8AC3E}">
        <p14:creationId xmlns:p14="http://schemas.microsoft.com/office/powerpoint/2010/main" val="897922371"/>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section-pill-4">
            <a:extLst xmlns:a="http://schemas.openxmlformats.org/drawingml/2006/main">
              <a:ext uri="{FF2B5EF4-FFF2-40B4-BE49-F238E27FC236}">
                <a16:creationId xmlns:a16="http://schemas.microsoft.com/office/drawing/2014/main" id="{FA7D3848-1582-4979-91A8-8CB45DD2A35D}"/>
              </a:ext>
            </a:extLst>
          </p:cNvPr>
          <p:cNvSpPr>
            <a:spLocks xmlns:a="http://schemas.openxmlformats.org/drawingml/2006/main" noGrp="1"/>
          </p:cNvSpPr>
          <p:nvPr/>
        </p:nvSpPr>
        <p:spPr>
          <a:xfrm xmlns:a="http://schemas.openxmlformats.org/drawingml/2006/main">
            <a:off x="666750" y="323850"/>
            <a:ext cx="1285875" cy="304800"/>
          </a:xfrm>
          <a:prstGeom xmlns:a="http://schemas.openxmlformats.org/drawingml/2006/main" prst="roundRect">
            <a:avLst>
              <a:gd name="adj" fmla="val 18750"/>
            </a:avLst>
          </a:prstGeom>
          <a:solidFill xmlns:a="http://schemas.openxmlformats.org/drawingml/2006/main">
            <a:srgbClr val="EFF6FF"/>
          </a:solidFill>
          <a:ln xmlns:a="http://schemas.openxmlformats.org/drawingml/2006/main" w="0">
            <a:noFill/>
            <a:prstDash val="solid"/>
          </a:ln>
        </p:spPr>
      </p:sp>
      <p:sp>
        <p:nvSpPr>
          <p:cNvPr id="2" name="section-label-4">
            <a:extLst xmlns:a="http://schemas.openxmlformats.org/drawingml/2006/main">
              <a:ext uri="{FF2B5EF4-FFF2-40B4-BE49-F238E27FC236}">
                <a16:creationId xmlns:a16="http://schemas.microsoft.com/office/drawing/2014/main" id="{A192C35F-FD77-4818-B027-E61DF0AB172D}"/>
              </a:ext>
            </a:extLst>
          </p:cNvPr>
          <p:cNvSpPr>
            <a:spLocks xmlns:a="http://schemas.openxmlformats.org/drawingml/2006/main" noGrp="1"/>
          </p:cNvSpPr>
          <p:nvPr/>
        </p:nvSpPr>
        <p:spPr>
          <a:xfrm xmlns:a="http://schemas.openxmlformats.org/drawingml/2006/main">
            <a:off x="666750" y="3714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ctr">
              <a:defRPr sz="1050" b="1">
                <a:solidFill>
                  <a:srgbClr val="3B82F6"/>
                </a:solidFill>
                <a:latin typeface="DejaVu Sans"/>
                <a:ea typeface="DejaVu Sans"/>
                <a:cs typeface="DejaVu Sans"/>
              </a:defRPr>
            </a:pPr>
            <a:r>
              <a:rPr sz="1050" b="1">
                <a:solidFill>
                  <a:srgbClr val="3B82F6"/>
                </a:solidFill>
                <a:latin typeface="DejaVu Sans"/>
                <a:ea typeface="DejaVu Sans"/>
                <a:cs typeface="DejaVu Sans"/>
              </a:rPr>
              <a:t>SECTION 4</a:t>
            </a:r>
          </a:p>
        </p:txBody>
      </p:sp>
      <p:sp>
        <p:nvSpPr>
          <p:cNvPr id="3" name="title-4">
            <a:extLst xmlns:a="http://schemas.openxmlformats.org/drawingml/2006/main">
              <a:ext uri="{FF2B5EF4-FFF2-40B4-BE49-F238E27FC236}">
                <a16:creationId xmlns:a16="http://schemas.microsoft.com/office/drawing/2014/main" id="{0765E77B-C5B2-4A4D-841F-CBFD7BA11E25}"/>
              </a:ext>
            </a:extLst>
          </p:cNvPr>
          <p:cNvSpPr>
            <a:spLocks xmlns:a="http://schemas.openxmlformats.org/drawingml/2006/main" noGrp="1"/>
          </p:cNvSpPr>
          <p:nvPr/>
        </p:nvSpPr>
        <p:spPr>
          <a:xfrm xmlns:a="http://schemas.openxmlformats.org/drawingml/2006/main">
            <a:off x="6667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798"/>
          </a:bodyPr>
          <a:lstStyle xmlns:a="http://schemas.openxmlformats.org/drawingml/2006/main"/>
          <a:p xmlns:a="http://schemas.openxmlformats.org/drawingml/2006/main">
            <a:pPr algn="l">
              <a:defRPr sz="3225" b="1">
                <a:solidFill>
                  <a:srgbClr val="1E293B"/>
                </a:solidFill>
                <a:latin typeface="DejaVu Sans"/>
                <a:ea typeface="DejaVu Sans"/>
                <a:cs typeface="DejaVu Sans"/>
              </a:defRPr>
            </a:pPr>
            <a:r>
              <a:rPr sz="3225" b="1">
                <a:solidFill>
                  <a:srgbClr val="1E293B"/>
                </a:solidFill>
                <a:latin typeface="DejaVu Sans"/>
                <a:ea typeface="DejaVu Sans"/>
                <a:cs typeface="DejaVu Sans"/>
              </a:rPr>
              <a:t>FLAN-T5-base Improves Generation</a:t>
            </a:r>
          </a:p>
        </p:txBody>
      </p:sp>
      <p:sp>
        <p:nvSpPr>
          <p:cNvPr id="4" name="subtitle-4">
            <a:extLst xmlns:a="http://schemas.openxmlformats.org/drawingml/2006/main">
              <a:ext uri="{FF2B5EF4-FFF2-40B4-BE49-F238E27FC236}">
                <a16:creationId xmlns:a16="http://schemas.microsoft.com/office/drawing/2014/main" id="{E09FC0E0-606B-4602-81AF-20980FA776F6}"/>
              </a:ext>
            </a:extLst>
          </p:cNvPr>
          <p:cNvSpPr>
            <a:spLocks xmlns:a="http://schemas.openxmlformats.org/drawingml/2006/main" noGrp="1"/>
          </p:cNvSpPr>
          <p:nvPr/>
        </p:nvSpPr>
        <p:spPr>
          <a:xfrm xmlns:a="http://schemas.openxmlformats.org/drawingml/2006/main">
            <a:off x="666750" y="13620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0">
                <a:solidFill>
                  <a:srgbClr val="94A3B8"/>
                </a:solidFill>
                <a:latin typeface="DejaVu Sans"/>
                <a:ea typeface="DejaVu Sans"/>
                <a:cs typeface="DejaVu Sans"/>
              </a:defRPr>
            </a:pPr>
            <a:r>
              <a:rPr sz="1125" b="0">
                <a:solidFill>
                  <a:srgbClr val="94A3B8"/>
                </a:solidFill>
                <a:latin typeface="DejaVu Sans"/>
                <a:ea typeface="DejaVu Sans"/>
                <a:cs typeface="DejaVu Sans"/>
              </a:rPr>
              <a:t>Answer quality rises, but unanswerable questions remain the dominant risk</a:t>
            </a:r>
          </a:p>
        </p:txBody>
      </p:sp>
      <p:sp>
        <p:nvSpPr>
          <p:cNvPr id="5" name="blue-rule-4">
            <a:extLst xmlns:a="http://schemas.openxmlformats.org/drawingml/2006/main">
              <a:ext uri="{FF2B5EF4-FFF2-40B4-BE49-F238E27FC236}">
                <a16:creationId xmlns:a16="http://schemas.microsoft.com/office/drawing/2014/main" id="{34FA78A5-4BCD-40FA-BF33-FFBAAEB856A0}"/>
              </a:ext>
            </a:extLst>
          </p:cNvPr>
          <p:cNvSpPr>
            <a:spLocks xmlns:a="http://schemas.openxmlformats.org/drawingml/2006/main" noGrp="1"/>
          </p:cNvSpPr>
          <p:nvPr/>
        </p:nvSpPr>
        <p:spPr>
          <a:xfrm xmlns:a="http://schemas.openxmlformats.org/drawingml/2006/main">
            <a:off x="666750" y="1685925"/>
            <a:ext cx="552450" cy="0"/>
          </a:xfrm>
          <a:prstGeom xmlns:a="http://schemas.openxmlformats.org/drawingml/2006/main" prst="line">
            <a:avLst/>
          </a:prstGeom>
          <a:noFill xmlns:a="http://schemas.openxmlformats.org/drawingml/2006/main"/>
          <a:ln xmlns:a="http://schemas.openxmlformats.org/drawingml/2006/main" w="28575">
            <a:solidFill>
              <a:srgbClr val="3B82F6"/>
            </a:solidFill>
            <a:prstDash val="solid"/>
          </a:ln>
        </p:spPr>
      </p:sp>
      <p:sp>
        <p:nvSpPr>
          <p:cNvPr id="6" name="green-rule-4">
            <a:extLst xmlns:a="http://schemas.openxmlformats.org/drawingml/2006/main">
              <a:ext uri="{FF2B5EF4-FFF2-40B4-BE49-F238E27FC236}">
                <a16:creationId xmlns:a16="http://schemas.microsoft.com/office/drawing/2014/main" id="{E45C0D23-ADD5-4138-AFEE-8B362D30AB0B}"/>
              </a:ext>
            </a:extLst>
          </p:cNvPr>
          <p:cNvSpPr>
            <a:spLocks xmlns:a="http://schemas.openxmlformats.org/drawingml/2006/main" noGrp="1"/>
          </p:cNvSpPr>
          <p:nvPr/>
        </p:nvSpPr>
        <p:spPr>
          <a:xfrm xmlns:a="http://schemas.openxmlformats.org/drawingml/2006/main">
            <a:off x="1219200" y="1685925"/>
            <a:ext cx="323850" cy="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graphicFrame>
        <p:nvGraphicFramePr>
          <p:cNvPr id="24" name="Chart"/>
          <p:cNvGraphicFramePr/>
          <p:nvPr/>
        </p:nvGraphicFramePr>
        <p:xfrm>
          <a:off xmlns:a="http://schemas.openxmlformats.org/drawingml/2006/main" x="666750" y="2095500"/>
          <a:ext xmlns:a="http://schemas.openxmlformats.org/drawingml/2006/main" cx="6191250" cy="3429000"/>
        </p:xfrm>
        <a:graphic xmlns:a="http://schemas.openxmlformats.org/drawingml/2006/main">
          <a:graphicData uri="http://schemas.openxmlformats.org/drawingml/2006/chart">
            <c:chart xmlns:r="http://schemas.openxmlformats.org/officeDocument/2006/relationships" xmlns:c="http://schemas.openxmlformats.org/drawingml/2006/chart" r:id="R835668642e794e19"/>
          </a:graphicData>
        </a:graphic>
      </p:graphicFrame>
      <p:sp>
        <p:nvSpPr>
          <p:cNvPr id="8" name="em-card">
            <a:extLst xmlns:a="http://schemas.openxmlformats.org/drawingml/2006/main">
              <a:ext uri="{FF2B5EF4-FFF2-40B4-BE49-F238E27FC236}">
                <a16:creationId xmlns:a16="http://schemas.microsoft.com/office/drawing/2014/main" id="{375ABAB8-ED29-455A-A00F-A19555E8E52D}"/>
              </a:ext>
            </a:extLst>
          </p:cNvPr>
          <p:cNvSpPr>
            <a:spLocks xmlns:a="http://schemas.openxmlformats.org/drawingml/2006/main" noGrp="1"/>
          </p:cNvSpPr>
          <p:nvPr/>
        </p:nvSpPr>
        <p:spPr>
          <a:xfrm xmlns:a="http://schemas.openxmlformats.org/drawingml/2006/main">
            <a:off x="7429500" y="2095500"/>
            <a:ext cx="40957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9" name="em-value">
            <a:extLst xmlns:a="http://schemas.openxmlformats.org/drawingml/2006/main">
              <a:ext uri="{FF2B5EF4-FFF2-40B4-BE49-F238E27FC236}">
                <a16:creationId xmlns:a16="http://schemas.microsoft.com/office/drawing/2014/main" id="{F696616B-28E0-4F0F-AF72-83D1DC212247}"/>
              </a:ext>
            </a:extLst>
          </p:cNvPr>
          <p:cNvSpPr>
            <a:spLocks xmlns:a="http://schemas.openxmlformats.org/drawingml/2006/main" noGrp="1"/>
          </p:cNvSpPr>
          <p:nvPr/>
        </p:nvSpPr>
        <p:spPr>
          <a:xfrm xmlns:a="http://schemas.openxmlformats.org/drawingml/2006/main">
            <a:off x="7620000" y="23241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3B82F6"/>
                </a:solidFill>
                <a:latin typeface="DejaVu Sans"/>
                <a:ea typeface="DejaVu Sans"/>
                <a:cs typeface="DejaVu Sans"/>
              </a:defRPr>
            </a:pPr>
            <a:r>
              <a:rPr sz="2400" b="1">
                <a:solidFill>
                  <a:srgbClr val="3B82F6"/>
                </a:solidFill>
                <a:latin typeface="DejaVu Sans"/>
                <a:ea typeface="DejaVu Sans"/>
                <a:cs typeface="DejaVu Sans"/>
              </a:rPr>
              <a:t>50.83%</a:t>
            </a:r>
          </a:p>
        </p:txBody>
      </p:sp>
      <p:sp>
        <p:nvSpPr>
          <p:cNvPr id="10" name="em-label">
            <a:extLst xmlns:a="http://schemas.openxmlformats.org/drawingml/2006/main">
              <a:ext uri="{FF2B5EF4-FFF2-40B4-BE49-F238E27FC236}">
                <a16:creationId xmlns:a16="http://schemas.microsoft.com/office/drawing/2014/main" id="{E65879DD-15E9-463E-8673-C0D36091439D}"/>
              </a:ext>
            </a:extLst>
          </p:cNvPr>
          <p:cNvSpPr>
            <a:spLocks xmlns:a="http://schemas.openxmlformats.org/drawingml/2006/main" noGrp="1"/>
          </p:cNvSpPr>
          <p:nvPr/>
        </p:nvSpPr>
        <p:spPr>
          <a:xfrm xmlns:a="http://schemas.openxmlformats.org/drawingml/2006/main">
            <a:off x="7600950" y="2876550"/>
            <a:ext cx="3752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overall Exact Match</a:t>
            </a:r>
          </a:p>
        </p:txBody>
      </p:sp>
      <p:sp>
        <p:nvSpPr>
          <p:cNvPr id="11" name="f1-card">
            <a:extLst xmlns:a="http://schemas.openxmlformats.org/drawingml/2006/main">
              <a:ext uri="{FF2B5EF4-FFF2-40B4-BE49-F238E27FC236}">
                <a16:creationId xmlns:a16="http://schemas.microsoft.com/office/drawing/2014/main" id="{B6CDC39B-851F-4753-A314-B6C18BB144D3}"/>
              </a:ext>
            </a:extLst>
          </p:cNvPr>
          <p:cNvSpPr>
            <a:spLocks xmlns:a="http://schemas.openxmlformats.org/drawingml/2006/main" noGrp="1"/>
          </p:cNvSpPr>
          <p:nvPr/>
        </p:nvSpPr>
        <p:spPr>
          <a:xfrm xmlns:a="http://schemas.openxmlformats.org/drawingml/2006/main">
            <a:off x="7429500" y="3524250"/>
            <a:ext cx="409575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12" name="f1-value">
            <a:extLst xmlns:a="http://schemas.openxmlformats.org/drawingml/2006/main">
              <a:ext uri="{FF2B5EF4-FFF2-40B4-BE49-F238E27FC236}">
                <a16:creationId xmlns:a16="http://schemas.microsoft.com/office/drawing/2014/main" id="{DF2EA867-5813-4B75-BA24-6FE87BCFF851}"/>
              </a:ext>
            </a:extLst>
          </p:cNvPr>
          <p:cNvSpPr>
            <a:spLocks xmlns:a="http://schemas.openxmlformats.org/drawingml/2006/main" noGrp="1"/>
          </p:cNvSpPr>
          <p:nvPr/>
        </p:nvSpPr>
        <p:spPr>
          <a:xfrm xmlns:a="http://schemas.openxmlformats.org/drawingml/2006/main">
            <a:off x="7620000" y="37528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10B981"/>
                </a:solidFill>
                <a:latin typeface="DejaVu Sans"/>
                <a:ea typeface="DejaVu Sans"/>
                <a:cs typeface="DejaVu Sans"/>
              </a:defRPr>
            </a:pPr>
            <a:r>
              <a:rPr sz="2400" b="1">
                <a:solidFill>
                  <a:srgbClr val="10B981"/>
                </a:solidFill>
                <a:latin typeface="DejaVu Sans"/>
                <a:ea typeface="DejaVu Sans"/>
                <a:cs typeface="DejaVu Sans"/>
              </a:rPr>
              <a:t>59.09%</a:t>
            </a:r>
          </a:p>
        </p:txBody>
      </p:sp>
      <p:sp>
        <p:nvSpPr>
          <p:cNvPr id="13" name="f1-label">
            <a:extLst xmlns:a="http://schemas.openxmlformats.org/drawingml/2006/main">
              <a:ext uri="{FF2B5EF4-FFF2-40B4-BE49-F238E27FC236}">
                <a16:creationId xmlns:a16="http://schemas.microsoft.com/office/drawing/2014/main" id="{0E956461-5527-45DA-ACF2-811B5C96E2E4}"/>
              </a:ext>
            </a:extLst>
          </p:cNvPr>
          <p:cNvSpPr>
            <a:spLocks xmlns:a="http://schemas.openxmlformats.org/drawingml/2006/main" noGrp="1"/>
          </p:cNvSpPr>
          <p:nvPr/>
        </p:nvSpPr>
        <p:spPr>
          <a:xfrm xmlns:a="http://schemas.openxmlformats.org/drawingml/2006/main">
            <a:off x="7600950" y="4305300"/>
            <a:ext cx="3752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overall Token F1</a:t>
            </a:r>
          </a:p>
        </p:txBody>
      </p:sp>
      <p:sp>
        <p:nvSpPr>
          <p:cNvPr id="14" name="generation-finding-surface">
            <a:extLst xmlns:a="http://schemas.openxmlformats.org/drawingml/2006/main">
              <a:ext uri="{FF2B5EF4-FFF2-40B4-BE49-F238E27FC236}">
                <a16:creationId xmlns:a16="http://schemas.microsoft.com/office/drawing/2014/main" id="{9E144562-5232-4071-8FE2-D6BE8897F0BF}"/>
              </a:ext>
            </a:extLst>
          </p:cNvPr>
          <p:cNvSpPr>
            <a:spLocks xmlns:a="http://schemas.openxmlformats.org/drawingml/2006/main" noGrp="1"/>
          </p:cNvSpPr>
          <p:nvPr/>
        </p:nvSpPr>
        <p:spPr>
          <a:xfrm xmlns:a="http://schemas.openxmlformats.org/drawingml/2006/main">
            <a:off x="7429500" y="4953000"/>
            <a:ext cx="40957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9525">
            <a:solidFill>
              <a:srgbClr val="E2E8F0"/>
            </a:solidFill>
            <a:prstDash val="solid"/>
          </a:ln>
        </p:spPr>
      </p:sp>
      <p:sp>
        <p:nvSpPr>
          <p:cNvPr id="15" name="generation-finding-accent">
            <a:extLst xmlns:a="http://schemas.openxmlformats.org/drawingml/2006/main">
              <a:ext uri="{FF2B5EF4-FFF2-40B4-BE49-F238E27FC236}">
                <a16:creationId xmlns:a16="http://schemas.microsoft.com/office/drawing/2014/main" id="{34A0AAD6-2118-405D-AB41-0D6AE1AD2453}"/>
              </a:ext>
            </a:extLst>
          </p:cNvPr>
          <p:cNvSpPr>
            <a:spLocks xmlns:a="http://schemas.openxmlformats.org/drawingml/2006/main" noGrp="1"/>
          </p:cNvSpPr>
          <p:nvPr/>
        </p:nvSpPr>
        <p:spPr>
          <a:xfrm xmlns:a="http://schemas.openxmlformats.org/drawingml/2006/main">
            <a:off x="7429500" y="4953000"/>
            <a:ext cx="76200" cy="8191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16" name="generation-finding-text">
            <a:extLst xmlns:a="http://schemas.openxmlformats.org/drawingml/2006/main">
              <a:ext uri="{FF2B5EF4-FFF2-40B4-BE49-F238E27FC236}">
                <a16:creationId xmlns:a16="http://schemas.microsoft.com/office/drawing/2014/main" id="{DEF28DF1-84E6-47AC-B214-5C6BC40EEF52}"/>
              </a:ext>
            </a:extLst>
          </p:cNvPr>
          <p:cNvSpPr>
            <a:spLocks xmlns:a="http://schemas.openxmlformats.org/drawingml/2006/main" noGrp="1"/>
          </p:cNvSpPr>
          <p:nvPr/>
        </p:nvSpPr>
        <p:spPr>
          <a:xfrm xmlns:a="http://schemas.openxmlformats.org/drawingml/2006/main">
            <a:off x="7734300" y="5162550"/>
            <a:ext cx="35052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2187"/>
          </a:bodyPr>
          <a:lstStyle xmlns:a="http://schemas.openxmlformats.org/drawingml/2006/main"/>
          <a:p xmlns:a="http://schemas.openxmlformats.org/drawingml/2006/main">
            <a:pPr algn="l">
              <a:defRPr sz="1500" b="1">
                <a:solidFill>
                  <a:srgbClr val="1E293B"/>
                </a:solidFill>
                <a:latin typeface="DejaVu Sans"/>
                <a:ea typeface="DejaVu Sans"/>
                <a:cs typeface="DejaVu Sans"/>
              </a:defRPr>
            </a:pPr>
            <a:r>
              <a:rPr sz="1500" b="1">
                <a:solidFill>
                  <a:srgbClr val="1E293B"/>
                </a:solidFill>
                <a:latin typeface="DejaVu Sans"/>
                <a:ea typeface="DejaVu Sans"/>
                <a:cs typeface="DejaVu Sans"/>
              </a:rPr>
              <a:t>Base improves abstention to 25%, but still answers 30 of 40 unanswerable questions.</a:t>
            </a:r>
          </a:p>
        </p:txBody>
      </p:sp>
      <p:sp>
        <p:nvSpPr>
          <p:cNvPr id="17" name="footer-5">
            <a:extLst xmlns:a="http://schemas.openxmlformats.org/drawingml/2006/main">
              <a:ext uri="{FF2B5EF4-FFF2-40B4-BE49-F238E27FC236}">
                <a16:creationId xmlns:a16="http://schemas.microsoft.com/office/drawing/2014/main" id="{43CE2368-FB2C-4995-BA46-90B0B940C292}"/>
              </a:ext>
            </a:extLst>
          </p:cNvPr>
          <p:cNvSpPr>
            <a:spLocks xmlns:a="http://schemas.openxmlformats.org/drawingml/2006/main" noGrp="1"/>
          </p:cNvSpPr>
          <p:nvPr/>
        </p:nvSpPr>
        <p:spPr>
          <a:xfrm xmlns:a="http://schemas.openxmlformats.org/drawingml/2006/main">
            <a:off x="5619750" y="65341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4748B"/>
                </a:solidFill>
                <a:latin typeface="DejaVu Sans"/>
                <a:ea typeface="DejaVu Sans"/>
                <a:cs typeface="DejaVu Sans"/>
              </a:defRPr>
            </a:pPr>
            <a:r>
              <a:rPr sz="750" b="0">
                <a:solidFill>
                  <a:srgbClr val="64748B"/>
                </a:solidFill>
                <a:latin typeface="DejaVu Sans"/>
                <a:ea typeface="DejaVu Sans"/>
                <a:cs typeface="DejaVu Sans"/>
              </a:rPr>
              <a:t>5 / 11</a:t>
            </a:r>
          </a:p>
        </p:txBody>
      </p:sp>
    </p:spTree>
    <p:extLst>
      <p:ext uri="{BB962C8B-B14F-4D97-AF65-F5344CB8AC3E}">
        <p14:creationId xmlns:p14="http://schemas.microsoft.com/office/powerpoint/2010/main" val="1393435435"/>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section-pill-5">
            <a:extLst xmlns:a="http://schemas.openxmlformats.org/drawingml/2006/main">
              <a:ext uri="{FF2B5EF4-FFF2-40B4-BE49-F238E27FC236}">
                <a16:creationId xmlns:a16="http://schemas.microsoft.com/office/drawing/2014/main" id="{918CEE6E-3BFD-4B3D-B49A-EC89B5DDC510}"/>
              </a:ext>
            </a:extLst>
          </p:cNvPr>
          <p:cNvSpPr>
            <a:spLocks xmlns:a="http://schemas.openxmlformats.org/drawingml/2006/main" noGrp="1"/>
          </p:cNvSpPr>
          <p:nvPr/>
        </p:nvSpPr>
        <p:spPr>
          <a:xfrm xmlns:a="http://schemas.openxmlformats.org/drawingml/2006/main">
            <a:off x="666750" y="323850"/>
            <a:ext cx="1285875" cy="304800"/>
          </a:xfrm>
          <a:prstGeom xmlns:a="http://schemas.openxmlformats.org/drawingml/2006/main" prst="roundRect">
            <a:avLst>
              <a:gd name="adj" fmla="val 18750"/>
            </a:avLst>
          </a:prstGeom>
          <a:solidFill xmlns:a="http://schemas.openxmlformats.org/drawingml/2006/main">
            <a:srgbClr val="EFF6FF"/>
          </a:solidFill>
          <a:ln xmlns:a="http://schemas.openxmlformats.org/drawingml/2006/main" w="0">
            <a:noFill/>
            <a:prstDash val="solid"/>
          </a:ln>
        </p:spPr>
      </p:sp>
      <p:sp>
        <p:nvSpPr>
          <p:cNvPr id="2" name="section-label-5">
            <a:extLst xmlns:a="http://schemas.openxmlformats.org/drawingml/2006/main">
              <a:ext uri="{FF2B5EF4-FFF2-40B4-BE49-F238E27FC236}">
                <a16:creationId xmlns:a16="http://schemas.microsoft.com/office/drawing/2014/main" id="{D0164351-7D28-4559-BB68-37CD68CAF1C5}"/>
              </a:ext>
            </a:extLst>
          </p:cNvPr>
          <p:cNvSpPr>
            <a:spLocks xmlns:a="http://schemas.openxmlformats.org/drawingml/2006/main" noGrp="1"/>
          </p:cNvSpPr>
          <p:nvPr/>
        </p:nvSpPr>
        <p:spPr>
          <a:xfrm xmlns:a="http://schemas.openxmlformats.org/drawingml/2006/main">
            <a:off x="666750" y="3714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ctr">
              <a:defRPr sz="1050" b="1">
                <a:solidFill>
                  <a:srgbClr val="3B82F6"/>
                </a:solidFill>
                <a:latin typeface="DejaVu Sans"/>
                <a:ea typeface="DejaVu Sans"/>
                <a:cs typeface="DejaVu Sans"/>
              </a:defRPr>
            </a:pPr>
            <a:r>
              <a:rPr sz="1050" b="1">
                <a:solidFill>
                  <a:srgbClr val="3B82F6"/>
                </a:solidFill>
                <a:latin typeface="DejaVu Sans"/>
                <a:ea typeface="DejaVu Sans"/>
                <a:cs typeface="DejaVu Sans"/>
              </a:rPr>
              <a:t>SECTION 5</a:t>
            </a:r>
          </a:p>
        </p:txBody>
      </p:sp>
      <p:sp>
        <p:nvSpPr>
          <p:cNvPr id="3" name="title-5">
            <a:extLst xmlns:a="http://schemas.openxmlformats.org/drawingml/2006/main">
              <a:ext uri="{FF2B5EF4-FFF2-40B4-BE49-F238E27FC236}">
                <a16:creationId xmlns:a16="http://schemas.microsoft.com/office/drawing/2014/main" id="{874A69FF-2231-4E76-9348-B287F8659101}"/>
              </a:ext>
            </a:extLst>
          </p:cNvPr>
          <p:cNvSpPr>
            <a:spLocks xmlns:a="http://schemas.openxmlformats.org/drawingml/2006/main" noGrp="1"/>
          </p:cNvSpPr>
          <p:nvPr/>
        </p:nvSpPr>
        <p:spPr>
          <a:xfrm xmlns:a="http://schemas.openxmlformats.org/drawingml/2006/main">
            <a:off x="6667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798"/>
          </a:bodyPr>
          <a:lstStyle xmlns:a="http://schemas.openxmlformats.org/drawingml/2006/main"/>
          <a:p xmlns:a="http://schemas.openxmlformats.org/drawingml/2006/main">
            <a:pPr algn="l">
              <a:defRPr sz="3225" b="1">
                <a:solidFill>
                  <a:srgbClr val="1E293B"/>
                </a:solidFill>
                <a:latin typeface="DejaVu Sans"/>
                <a:ea typeface="DejaVu Sans"/>
                <a:cs typeface="DejaVu Sans"/>
              </a:defRPr>
            </a:pPr>
            <a:r>
              <a:rPr sz="3225" b="1">
                <a:solidFill>
                  <a:srgbClr val="1E293B"/>
                </a:solidFill>
                <a:latin typeface="DejaVu Sans"/>
                <a:ea typeface="DejaVu Sans"/>
                <a:cs typeface="DejaVu Sans"/>
              </a:rPr>
              <a:t>Rank-1 Evidence Determines Performance</a:t>
            </a:r>
          </a:p>
        </p:txBody>
      </p:sp>
      <p:sp>
        <p:nvSpPr>
          <p:cNvPr id="4" name="subtitle-5">
            <a:extLst xmlns:a="http://schemas.openxmlformats.org/drawingml/2006/main">
              <a:ext uri="{FF2B5EF4-FFF2-40B4-BE49-F238E27FC236}">
                <a16:creationId xmlns:a16="http://schemas.microsoft.com/office/drawing/2014/main" id="{F2EE5611-9633-4B15-B8F0-ADDEB6380FD2}"/>
              </a:ext>
            </a:extLst>
          </p:cNvPr>
          <p:cNvSpPr>
            <a:spLocks xmlns:a="http://schemas.openxmlformats.org/drawingml/2006/main" noGrp="1"/>
          </p:cNvSpPr>
          <p:nvPr/>
        </p:nvSpPr>
        <p:spPr>
          <a:xfrm xmlns:a="http://schemas.openxmlformats.org/drawingml/2006/main">
            <a:off x="666750" y="13620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0">
                <a:solidFill>
                  <a:srgbClr val="94A3B8"/>
                </a:solidFill>
                <a:latin typeface="DejaVu Sans"/>
                <a:ea typeface="DejaVu Sans"/>
                <a:cs typeface="DejaVu Sans"/>
              </a:defRPr>
            </a:pPr>
            <a:r>
              <a:rPr sz="1125" b="0">
                <a:solidFill>
                  <a:srgbClr val="94A3B8"/>
                </a:solidFill>
                <a:latin typeface="DejaVu Sans"/>
                <a:ea typeface="DejaVu Sans"/>
                <a:cs typeface="DejaVu Sans"/>
              </a:rPr>
              <a:t>Question length matters less than retrieving the correct first passage</a:t>
            </a:r>
          </a:p>
        </p:txBody>
      </p:sp>
      <p:sp>
        <p:nvSpPr>
          <p:cNvPr id="5" name="blue-rule-5">
            <a:extLst xmlns:a="http://schemas.openxmlformats.org/drawingml/2006/main">
              <a:ext uri="{FF2B5EF4-FFF2-40B4-BE49-F238E27FC236}">
                <a16:creationId xmlns:a16="http://schemas.microsoft.com/office/drawing/2014/main" id="{2564818B-35E4-4F82-9C62-4FC0D2F46F37}"/>
              </a:ext>
            </a:extLst>
          </p:cNvPr>
          <p:cNvSpPr>
            <a:spLocks xmlns:a="http://schemas.openxmlformats.org/drawingml/2006/main" noGrp="1"/>
          </p:cNvSpPr>
          <p:nvPr/>
        </p:nvSpPr>
        <p:spPr>
          <a:xfrm xmlns:a="http://schemas.openxmlformats.org/drawingml/2006/main">
            <a:off x="666750" y="1685925"/>
            <a:ext cx="552450" cy="0"/>
          </a:xfrm>
          <a:prstGeom xmlns:a="http://schemas.openxmlformats.org/drawingml/2006/main" prst="line">
            <a:avLst/>
          </a:prstGeom>
          <a:noFill xmlns:a="http://schemas.openxmlformats.org/drawingml/2006/main"/>
          <a:ln xmlns:a="http://schemas.openxmlformats.org/drawingml/2006/main" w="28575">
            <a:solidFill>
              <a:srgbClr val="3B82F6"/>
            </a:solidFill>
            <a:prstDash val="solid"/>
          </a:ln>
        </p:spPr>
      </p:sp>
      <p:sp>
        <p:nvSpPr>
          <p:cNvPr id="6" name="green-rule-5">
            <a:extLst xmlns:a="http://schemas.openxmlformats.org/drawingml/2006/main">
              <a:ext uri="{FF2B5EF4-FFF2-40B4-BE49-F238E27FC236}">
                <a16:creationId xmlns:a16="http://schemas.microsoft.com/office/drawing/2014/main" id="{8691D5B1-0655-471D-8300-15184082E33D}"/>
              </a:ext>
            </a:extLst>
          </p:cNvPr>
          <p:cNvSpPr>
            <a:spLocks xmlns:a="http://schemas.openxmlformats.org/drawingml/2006/main" noGrp="1"/>
          </p:cNvSpPr>
          <p:nvPr/>
        </p:nvSpPr>
        <p:spPr>
          <a:xfrm xmlns:a="http://schemas.openxmlformats.org/drawingml/2006/main">
            <a:off x="1219200" y="1685925"/>
            <a:ext cx="323850" cy="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graphicFrame>
        <p:nvGraphicFramePr>
          <p:cNvPr id="16" name=""/>
          <p:cNvGraphicFramePr/>
          <p:nvPr/>
        </p:nvGraphicFramePr>
        <p:xfrm>
          <a:off xmlns:a="http://schemas.openxmlformats.org/drawingml/2006/main" x="619125" y="2047875"/>
          <a:ext xmlns:a="http://schemas.openxmlformats.org/drawingml/2006/main" cx="10953750" cy="1714500"/>
        </p:xfrm>
        <a:graphic xmlns:a="http://schemas.openxmlformats.org/drawingml/2006/main">
          <a:graphicData uri="http://schemas.openxmlformats.org/drawingml/2006/table">
            <a:tbl>
              <a:tblPr firstRow="1" bandRow="1"/>
              <a:tblGrid>
                <a:gridCol w="1809750"/>
                <a:gridCol w="1428750"/>
                <a:gridCol w="952500"/>
                <a:gridCol w="1428750"/>
                <a:gridCol w="1428750"/>
                <a:gridCol w="3905250"/>
              </a:tblGrid>
              <a:tr h="342900">
                <a:tc>
                  <a:txBody>
                    <a:bodyPr/>
                    <a:lstStyle/>
                    <a:p>
                      <a:r>
                        <a:t>Factor</a:t>
                      </a:r>
                    </a:p>
                  </a:txBody>
                  <a:tcPr marL="91440" marR="91440" marT="45720" marB="45720"/>
                </a:tc>
                <a:tc>
                  <a:txBody>
                    <a:bodyPr/>
                    <a:lstStyle/>
                    <a:p>
                      <a:r>
                        <a:t>Group</a:t>
                      </a:r>
                    </a:p>
                  </a:txBody>
                  <a:tcPr marL="91440" marR="91440" marT="45720" marB="45720"/>
                </a:tc>
                <a:tc>
                  <a:txBody>
                    <a:bodyPr/>
                    <a:lstStyle/>
                    <a:p>
                      <a:r>
                        <a:t>N</a:t>
                      </a:r>
                    </a:p>
                  </a:txBody>
                  <a:tcPr marL="91440" marR="91440" marT="45720" marB="45720"/>
                </a:tc>
                <a:tc>
                  <a:txBody>
                    <a:bodyPr/>
                    <a:lstStyle/>
                    <a:p>
                      <a:r>
                        <a:t>EM</a:t>
                      </a:r>
                    </a:p>
                  </a:txBody>
                  <a:tcPr marL="91440" marR="91440" marT="45720" marB="45720"/>
                </a:tc>
                <a:tc>
                  <a:txBody>
                    <a:bodyPr/>
                    <a:lstStyle/>
                    <a:p>
                      <a:r>
                        <a:t>F1</a:t>
                      </a:r>
                    </a:p>
                  </a:txBody>
                  <a:tcPr marL="91440" marR="91440" marT="45720" marB="45720"/>
                </a:tc>
                <a:tc>
                  <a:txBody>
                    <a:bodyPr/>
                    <a:lstStyle/>
                    <a:p>
                      <a:r>
                        <a:t>Interpretation</a:t>
                      </a:r>
                    </a:p>
                  </a:txBody>
                  <a:tcPr marL="91440" marR="91440" marT="45720" marB="45720"/>
                </a:tc>
              </a:tr>
              <a:tr h="342900">
                <a:tc>
                  <a:txBody>
                    <a:bodyPr/>
                    <a:lstStyle/>
                    <a:p>
                      <a:r>
                        <a:t>Length</a:t>
                      </a:r>
                    </a:p>
                  </a:txBody>
                  <a:tcPr marL="91440" marR="91440" marT="45720" marB="45720"/>
                </a:tc>
                <a:tc>
                  <a:txBody>
                    <a:bodyPr/>
                    <a:lstStyle/>
                    <a:p>
                      <a:r>
                        <a:t>Short</a:t>
                      </a:r>
                    </a:p>
                  </a:txBody>
                  <a:tcPr marL="91440" marR="91440" marT="45720" marB="45720"/>
                </a:tc>
                <a:tc>
                  <a:txBody>
                    <a:bodyPr/>
                    <a:lstStyle/>
                    <a:p>
                      <a:r>
                        <a:t>67</a:t>
                      </a:r>
                    </a:p>
                  </a:txBody>
                  <a:tcPr marL="91440" marR="91440" marT="45720" marB="45720"/>
                </a:tc>
                <a:tc>
                  <a:txBody>
                    <a:bodyPr/>
                    <a:lstStyle/>
                    <a:p>
                      <a:r>
                        <a:t>53.73%</a:t>
                      </a:r>
                    </a:p>
                  </a:txBody>
                  <a:tcPr marL="91440" marR="91440" marT="45720" marB="45720"/>
                </a:tc>
                <a:tc>
                  <a:txBody>
                    <a:bodyPr/>
                    <a:lstStyle/>
                    <a:p>
                      <a:r>
                        <a:t>60.05%</a:t>
                      </a:r>
                    </a:p>
                  </a:txBody>
                  <a:tcPr marL="91440" marR="91440" marT="45720" marB="45720"/>
                </a:tc>
                <a:tc>
                  <a:txBody>
                    <a:bodyPr/>
                    <a:lstStyle/>
                    <a:p>
                      <a:r>
                        <a:t>Modestly better</a:t>
                      </a:r>
                    </a:p>
                  </a:txBody>
                  <a:tcPr marL="91440" marR="91440" marT="45720" marB="45720"/>
                </a:tc>
              </a:tr>
              <a:tr h="342900">
                <a:tc>
                  <a:txBody>
                    <a:bodyPr/>
                    <a:lstStyle/>
                    <a:p>
                      <a:r>
                        <a:t>Length</a:t>
                      </a:r>
                    </a:p>
                  </a:txBody>
                  <a:tcPr marL="91440" marR="91440" marT="45720" marB="45720"/>
                </a:tc>
                <a:tc>
                  <a:txBody>
                    <a:bodyPr/>
                    <a:lstStyle/>
                    <a:p>
                      <a:r>
                        <a:t>Long</a:t>
                      </a:r>
                    </a:p>
                  </a:txBody>
                  <a:tcPr marL="91440" marR="91440" marT="45720" marB="45720"/>
                </a:tc>
                <a:tc>
                  <a:txBody>
                    <a:bodyPr/>
                    <a:lstStyle/>
                    <a:p>
                      <a:r>
                        <a:t>53</a:t>
                      </a:r>
                    </a:p>
                  </a:txBody>
                  <a:tcPr marL="91440" marR="91440" marT="45720" marB="45720"/>
                </a:tc>
                <a:tc>
                  <a:txBody>
                    <a:bodyPr/>
                    <a:lstStyle/>
                    <a:p>
                      <a:r>
                        <a:t>47.17%</a:t>
                      </a:r>
                    </a:p>
                  </a:txBody>
                  <a:tcPr marL="91440" marR="91440" marT="45720" marB="45720"/>
                </a:tc>
                <a:tc>
                  <a:txBody>
                    <a:bodyPr/>
                    <a:lstStyle/>
                    <a:p>
                      <a:r>
                        <a:t>57.87%</a:t>
                      </a:r>
                    </a:p>
                  </a:txBody>
                  <a:tcPr marL="91440" marR="91440" marT="45720" marB="45720"/>
                </a:tc>
                <a:tc>
                  <a:txBody>
                    <a:bodyPr/>
                    <a:lstStyle/>
                    <a:p>
                      <a:r>
                        <a:t>Length is secondary</a:t>
                      </a:r>
                    </a:p>
                  </a:txBody>
                  <a:tcPr marL="91440" marR="91440" marT="45720" marB="45720"/>
                </a:tc>
              </a:tr>
              <a:tr h="342900">
                <a:tc>
                  <a:txBody>
                    <a:bodyPr/>
                    <a:lstStyle/>
                    <a:p>
                      <a:r>
                        <a:t>Top-1</a:t>
                      </a:r>
                    </a:p>
                  </a:txBody>
                  <a:tcPr marL="91440" marR="91440" marT="45720" marB="45720"/>
                </a:tc>
                <a:tc>
                  <a:txBody>
                    <a:bodyPr/>
                    <a:lstStyle/>
                    <a:p>
                      <a:r>
                        <a:t>Hit</a:t>
                      </a:r>
                    </a:p>
                  </a:txBody>
                  <a:tcPr marL="91440" marR="91440" marT="45720" marB="45720"/>
                </a:tc>
                <a:tc>
                  <a:txBody>
                    <a:bodyPr/>
                    <a:lstStyle/>
                    <a:p>
                      <a:r>
                        <a:t>71</a:t>
                      </a:r>
                    </a:p>
                  </a:txBody>
                  <a:tcPr marL="91440" marR="91440" marT="45720" marB="45720"/>
                </a:tc>
                <a:tc>
                  <a:txBody>
                    <a:bodyPr/>
                    <a:lstStyle/>
                    <a:p>
                      <a:r>
                        <a:t>71.83%</a:t>
                      </a:r>
                    </a:p>
                  </a:txBody>
                  <a:tcPr marL="91440" marR="91440" marT="45720" marB="45720"/>
                </a:tc>
                <a:tc>
                  <a:txBody>
                    <a:bodyPr/>
                    <a:lstStyle/>
                    <a:p>
                      <a:r>
                        <a:t>85.78%</a:t>
                      </a:r>
                    </a:p>
                  </a:txBody>
                  <a:tcPr marL="91440" marR="91440" marT="45720" marB="45720"/>
                </a:tc>
                <a:tc>
                  <a:txBody>
                    <a:bodyPr/>
                    <a:lstStyle/>
                    <a:p>
                      <a:r>
                        <a:t>Correct evidence: strong output</a:t>
                      </a:r>
                    </a:p>
                  </a:txBody>
                  <a:tcPr marL="91440" marR="91440" marT="45720" marB="45720"/>
                </a:tc>
              </a:tr>
              <a:tr h="342900">
                <a:tc>
                  <a:txBody>
                    <a:bodyPr/>
                    <a:lstStyle/>
                    <a:p>
                      <a:r>
                        <a:t>Top-1</a:t>
                      </a:r>
                    </a:p>
                  </a:txBody>
                  <a:tcPr marL="91440" marR="91440" marT="45720" marB="45720"/>
                </a:tc>
                <a:tc>
                  <a:txBody>
                    <a:bodyPr/>
                    <a:lstStyle/>
                    <a:p>
                      <a:r>
                        <a:t>Miss</a:t>
                      </a:r>
                    </a:p>
                  </a:txBody>
                  <a:tcPr marL="91440" marR="91440" marT="45720" marB="45720"/>
                </a:tc>
                <a:tc>
                  <a:txBody>
                    <a:bodyPr/>
                    <a:lstStyle/>
                    <a:p>
                      <a:r>
                        <a:t>9</a:t>
                      </a:r>
                    </a:p>
                  </a:txBody>
                  <a:tcPr marL="91440" marR="91440" marT="45720" marB="45720"/>
                </a:tc>
                <a:tc>
                  <a:txBody>
                    <a:bodyPr/>
                    <a:lstStyle/>
                    <a:p>
                      <a:r>
                        <a:t>0.00%</a:t>
                      </a:r>
                    </a:p>
                  </a:txBody>
                  <a:tcPr marL="91440" marR="91440" marT="45720" marB="45720"/>
                </a:tc>
                <a:tc>
                  <a:txBody>
                    <a:bodyPr/>
                    <a:lstStyle/>
                    <a:p>
                      <a:r>
                        <a:t>0.00%</a:t>
                      </a:r>
                    </a:p>
                  </a:txBody>
                  <a:tcPr marL="91440" marR="91440" marT="45720" marB="45720"/>
                </a:tc>
                <a:tc>
                  <a:txBody>
                    <a:bodyPr/>
                    <a:lstStyle/>
                    <a:p>
                      <a:r>
                        <a:t>Wrong evidence: output collapses</a:t>
                      </a:r>
                    </a:p>
                  </a:txBody>
                  <a:tcPr marL="91440" marR="91440" marT="45720" marB="45720"/>
                </a:tc>
              </a:tr>
            </a:tbl>
          </a:graphicData>
        </a:graphic>
      </p:graphicFrame>
      <p:graphicFrame>
        <p:nvGraphicFramePr>
          <p:cNvPr id="17" name="Chart"/>
          <p:cNvGraphicFramePr/>
          <p:nvPr/>
        </p:nvGraphicFramePr>
        <p:xfrm>
          <a:off xmlns:a="http://schemas.openxmlformats.org/drawingml/2006/main" x="2381250" y="4286250"/>
          <a:ext xmlns:a="http://schemas.openxmlformats.org/drawingml/2006/main" cx="7429500" cy="1828800"/>
        </p:xfrm>
        <a:graphic xmlns:a="http://schemas.openxmlformats.org/drawingml/2006/main">
          <a:graphicData uri="http://schemas.openxmlformats.org/drawingml/2006/chart">
            <c:chart xmlns:r="http://schemas.openxmlformats.org/officeDocument/2006/relationships" xmlns:c="http://schemas.openxmlformats.org/drawingml/2006/chart" r:id="Ref2f216547f94cb0"/>
          </a:graphicData>
        </a:graphic>
      </p:graphicFrame>
      <p:sp>
        <p:nvSpPr>
          <p:cNvPr id="9" name="footer-6">
            <a:extLst xmlns:a="http://schemas.openxmlformats.org/drawingml/2006/main">
              <a:ext uri="{FF2B5EF4-FFF2-40B4-BE49-F238E27FC236}">
                <a16:creationId xmlns:a16="http://schemas.microsoft.com/office/drawing/2014/main" id="{4806FDE1-C633-4902-87C8-6814CADC5F32}"/>
              </a:ext>
            </a:extLst>
          </p:cNvPr>
          <p:cNvSpPr>
            <a:spLocks xmlns:a="http://schemas.openxmlformats.org/drawingml/2006/main" noGrp="1"/>
          </p:cNvSpPr>
          <p:nvPr/>
        </p:nvSpPr>
        <p:spPr>
          <a:xfrm xmlns:a="http://schemas.openxmlformats.org/drawingml/2006/main">
            <a:off x="5619750" y="65341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4748B"/>
                </a:solidFill>
                <a:latin typeface="DejaVu Sans"/>
                <a:ea typeface="DejaVu Sans"/>
                <a:cs typeface="DejaVu Sans"/>
              </a:defRPr>
            </a:pPr>
            <a:r>
              <a:rPr sz="750" b="0">
                <a:solidFill>
                  <a:srgbClr val="64748B"/>
                </a:solidFill>
                <a:latin typeface="DejaVu Sans"/>
                <a:ea typeface="DejaVu Sans"/>
                <a:cs typeface="DejaVu Sans"/>
              </a:rPr>
              <a:t>6 / 11</a:t>
            </a:r>
          </a:p>
        </p:txBody>
      </p:sp>
    </p:spTree>
    <p:extLst>
      <p:ext uri="{BB962C8B-B14F-4D97-AF65-F5344CB8AC3E}">
        <p14:creationId xmlns:p14="http://schemas.microsoft.com/office/powerpoint/2010/main" val="1796240410"/>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section-pill-6">
            <a:extLst xmlns:a="http://schemas.openxmlformats.org/drawingml/2006/main">
              <a:ext uri="{FF2B5EF4-FFF2-40B4-BE49-F238E27FC236}">
                <a16:creationId xmlns:a16="http://schemas.microsoft.com/office/drawing/2014/main" id="{F90F67D9-0B4B-4E94-A384-F45552410BC7}"/>
              </a:ext>
            </a:extLst>
          </p:cNvPr>
          <p:cNvSpPr>
            <a:spLocks xmlns:a="http://schemas.openxmlformats.org/drawingml/2006/main" noGrp="1"/>
          </p:cNvSpPr>
          <p:nvPr/>
        </p:nvSpPr>
        <p:spPr>
          <a:xfrm xmlns:a="http://schemas.openxmlformats.org/drawingml/2006/main">
            <a:off x="666750" y="323850"/>
            <a:ext cx="1285875" cy="304800"/>
          </a:xfrm>
          <a:prstGeom xmlns:a="http://schemas.openxmlformats.org/drawingml/2006/main" prst="roundRect">
            <a:avLst>
              <a:gd name="adj" fmla="val 18750"/>
            </a:avLst>
          </a:prstGeom>
          <a:solidFill xmlns:a="http://schemas.openxmlformats.org/drawingml/2006/main">
            <a:srgbClr val="EFF6FF"/>
          </a:solidFill>
          <a:ln xmlns:a="http://schemas.openxmlformats.org/drawingml/2006/main" w="0">
            <a:noFill/>
            <a:prstDash val="solid"/>
          </a:ln>
        </p:spPr>
      </p:sp>
      <p:sp>
        <p:nvSpPr>
          <p:cNvPr id="2" name="section-label-6">
            <a:extLst xmlns:a="http://schemas.openxmlformats.org/drawingml/2006/main">
              <a:ext uri="{FF2B5EF4-FFF2-40B4-BE49-F238E27FC236}">
                <a16:creationId xmlns:a16="http://schemas.microsoft.com/office/drawing/2014/main" id="{9C4B71AF-3A62-468E-94C0-6483E6EFA17A}"/>
              </a:ext>
            </a:extLst>
          </p:cNvPr>
          <p:cNvSpPr>
            <a:spLocks xmlns:a="http://schemas.openxmlformats.org/drawingml/2006/main" noGrp="1"/>
          </p:cNvSpPr>
          <p:nvPr/>
        </p:nvSpPr>
        <p:spPr>
          <a:xfrm xmlns:a="http://schemas.openxmlformats.org/drawingml/2006/main">
            <a:off x="666750" y="3714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ctr">
              <a:defRPr sz="1050" b="1">
                <a:solidFill>
                  <a:srgbClr val="3B82F6"/>
                </a:solidFill>
                <a:latin typeface="DejaVu Sans"/>
                <a:ea typeface="DejaVu Sans"/>
                <a:cs typeface="DejaVu Sans"/>
              </a:defRPr>
            </a:pPr>
            <a:r>
              <a:rPr sz="1050" b="1">
                <a:solidFill>
                  <a:srgbClr val="3B82F6"/>
                </a:solidFill>
                <a:latin typeface="DejaVu Sans"/>
                <a:ea typeface="DejaVu Sans"/>
                <a:cs typeface="DejaVu Sans"/>
              </a:rPr>
              <a:t>SECTION 6</a:t>
            </a:r>
          </a:p>
        </p:txBody>
      </p:sp>
      <p:sp>
        <p:nvSpPr>
          <p:cNvPr id="3" name="title-6">
            <a:extLst xmlns:a="http://schemas.openxmlformats.org/drawingml/2006/main">
              <a:ext uri="{FF2B5EF4-FFF2-40B4-BE49-F238E27FC236}">
                <a16:creationId xmlns:a16="http://schemas.microsoft.com/office/drawing/2014/main" id="{9CC24B7F-D7A9-4BE8-9E64-A1E9F36DE542}"/>
              </a:ext>
            </a:extLst>
          </p:cNvPr>
          <p:cNvSpPr>
            <a:spLocks xmlns:a="http://schemas.openxmlformats.org/drawingml/2006/main" noGrp="1"/>
          </p:cNvSpPr>
          <p:nvPr/>
        </p:nvSpPr>
        <p:spPr>
          <a:xfrm xmlns:a="http://schemas.openxmlformats.org/drawingml/2006/main">
            <a:off x="6667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798"/>
          </a:bodyPr>
          <a:lstStyle xmlns:a="http://schemas.openxmlformats.org/drawingml/2006/main"/>
          <a:p xmlns:a="http://schemas.openxmlformats.org/drawingml/2006/main">
            <a:pPr algn="l">
              <a:defRPr sz="3225" b="1">
                <a:solidFill>
                  <a:srgbClr val="1E293B"/>
                </a:solidFill>
                <a:latin typeface="DejaVu Sans"/>
                <a:ea typeface="DejaVu Sans"/>
                <a:cs typeface="DejaVu Sans"/>
              </a:defRPr>
            </a:pPr>
            <a:r>
              <a:rPr sz="3225" b="1">
                <a:solidFill>
                  <a:srgbClr val="1E293B"/>
                </a:solidFill>
                <a:latin typeface="DejaVu Sans"/>
                <a:ea typeface="DejaVu Sans"/>
                <a:cs typeface="DejaVu Sans"/>
              </a:rPr>
              <a:t>Error Analysis Requires Manual Review</a:t>
            </a:r>
          </a:p>
        </p:txBody>
      </p:sp>
      <p:sp>
        <p:nvSpPr>
          <p:cNvPr id="4" name="subtitle-6">
            <a:extLst xmlns:a="http://schemas.openxmlformats.org/drawingml/2006/main">
              <a:ext uri="{FF2B5EF4-FFF2-40B4-BE49-F238E27FC236}">
                <a16:creationId xmlns:a16="http://schemas.microsoft.com/office/drawing/2014/main" id="{71CC3644-29E7-4785-8B77-EAE108F8FCDE}"/>
              </a:ext>
            </a:extLst>
          </p:cNvPr>
          <p:cNvSpPr>
            <a:spLocks xmlns:a="http://schemas.openxmlformats.org/drawingml/2006/main" noGrp="1"/>
          </p:cNvSpPr>
          <p:nvPr/>
        </p:nvSpPr>
        <p:spPr>
          <a:xfrm xmlns:a="http://schemas.openxmlformats.org/drawingml/2006/main">
            <a:off x="666750" y="13620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0">
                <a:solidFill>
                  <a:srgbClr val="94A3B8"/>
                </a:solidFill>
                <a:latin typeface="DejaVu Sans"/>
                <a:ea typeface="DejaVu Sans"/>
                <a:cs typeface="DejaVu Sans"/>
              </a:defRPr>
            </a:pPr>
            <a:r>
              <a:rPr sz="1125" b="0">
                <a:solidFill>
                  <a:srgbClr val="94A3B8"/>
                </a:solidFill>
                <a:latin typeface="DejaVu Sans"/>
                <a:ea typeface="DejaVu Sans"/>
                <a:cs typeface="DejaVu Sans"/>
              </a:rPr>
              <a:t>Automatic categories are triage labels—not a hallucination score</a:t>
            </a:r>
          </a:p>
        </p:txBody>
      </p:sp>
      <p:sp>
        <p:nvSpPr>
          <p:cNvPr id="5" name="blue-rule-6">
            <a:extLst xmlns:a="http://schemas.openxmlformats.org/drawingml/2006/main">
              <a:ext uri="{FF2B5EF4-FFF2-40B4-BE49-F238E27FC236}">
                <a16:creationId xmlns:a16="http://schemas.microsoft.com/office/drawing/2014/main" id="{23944C18-B062-4976-8C2F-A7D2FE9C7445}"/>
              </a:ext>
            </a:extLst>
          </p:cNvPr>
          <p:cNvSpPr>
            <a:spLocks xmlns:a="http://schemas.openxmlformats.org/drawingml/2006/main" noGrp="1"/>
          </p:cNvSpPr>
          <p:nvPr/>
        </p:nvSpPr>
        <p:spPr>
          <a:xfrm xmlns:a="http://schemas.openxmlformats.org/drawingml/2006/main">
            <a:off x="666750" y="1685925"/>
            <a:ext cx="552450" cy="0"/>
          </a:xfrm>
          <a:prstGeom xmlns:a="http://schemas.openxmlformats.org/drawingml/2006/main" prst="line">
            <a:avLst/>
          </a:prstGeom>
          <a:noFill xmlns:a="http://schemas.openxmlformats.org/drawingml/2006/main"/>
          <a:ln xmlns:a="http://schemas.openxmlformats.org/drawingml/2006/main" w="28575">
            <a:solidFill>
              <a:srgbClr val="3B82F6"/>
            </a:solidFill>
            <a:prstDash val="solid"/>
          </a:ln>
        </p:spPr>
      </p:sp>
      <p:sp>
        <p:nvSpPr>
          <p:cNvPr id="6" name="green-rule-6">
            <a:extLst xmlns:a="http://schemas.openxmlformats.org/drawingml/2006/main">
              <a:ext uri="{FF2B5EF4-FFF2-40B4-BE49-F238E27FC236}">
                <a16:creationId xmlns:a16="http://schemas.microsoft.com/office/drawing/2014/main" id="{BCE9976C-8875-49BA-BE12-3E218BD53040}"/>
              </a:ext>
            </a:extLst>
          </p:cNvPr>
          <p:cNvSpPr>
            <a:spLocks xmlns:a="http://schemas.openxmlformats.org/drawingml/2006/main" noGrp="1"/>
          </p:cNvSpPr>
          <p:nvPr/>
        </p:nvSpPr>
        <p:spPr>
          <a:xfrm xmlns:a="http://schemas.openxmlformats.org/drawingml/2006/main">
            <a:off x="1219200" y="1685925"/>
            <a:ext cx="323850" cy="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graphicFrame>
        <p:nvGraphicFramePr>
          <p:cNvPr id="24" name="Chart"/>
          <p:cNvGraphicFramePr/>
          <p:nvPr/>
        </p:nvGraphicFramePr>
        <p:xfrm>
          <a:off xmlns:a="http://schemas.openxmlformats.org/drawingml/2006/main" x="619125" y="2095500"/>
          <a:ext xmlns:a="http://schemas.openxmlformats.org/drawingml/2006/main" cx="6572250" cy="3714750"/>
        </p:xfrm>
        <a:graphic xmlns:a="http://schemas.openxmlformats.org/drawingml/2006/main">
          <a:graphicData uri="http://schemas.openxmlformats.org/drawingml/2006/chart">
            <c:chart xmlns:r="http://schemas.openxmlformats.org/officeDocument/2006/relationships" xmlns:c="http://schemas.openxmlformats.org/drawingml/2006/chart" r:id="Rc8ef4153041a410c"/>
          </a:graphicData>
        </a:graphic>
      </p:graphicFrame>
      <p:sp>
        <p:nvSpPr>
          <p:cNvPr id="8" name="unsupported-card">
            <a:extLst xmlns:a="http://schemas.openxmlformats.org/drawingml/2006/main">
              <a:ext uri="{FF2B5EF4-FFF2-40B4-BE49-F238E27FC236}">
                <a16:creationId xmlns:a16="http://schemas.microsoft.com/office/drawing/2014/main" id="{0B02A62C-1089-4CE7-A609-A69A8B3A38BD}"/>
              </a:ext>
            </a:extLst>
          </p:cNvPr>
          <p:cNvSpPr>
            <a:spLocks xmlns:a="http://schemas.openxmlformats.org/drawingml/2006/main" noGrp="1"/>
          </p:cNvSpPr>
          <p:nvPr/>
        </p:nvSpPr>
        <p:spPr>
          <a:xfrm xmlns:a="http://schemas.openxmlformats.org/drawingml/2006/main">
            <a:off x="7715250" y="2238375"/>
            <a:ext cx="36195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9" name="unsupported-value">
            <a:extLst xmlns:a="http://schemas.openxmlformats.org/drawingml/2006/main">
              <a:ext uri="{FF2B5EF4-FFF2-40B4-BE49-F238E27FC236}">
                <a16:creationId xmlns:a16="http://schemas.microsoft.com/office/drawing/2014/main" id="{C6EC6892-8BDF-4A7B-A53C-8CF01FA178D4}"/>
              </a:ext>
            </a:extLst>
          </p:cNvPr>
          <p:cNvSpPr>
            <a:spLocks xmlns:a="http://schemas.openxmlformats.org/drawingml/2006/main" noGrp="1"/>
          </p:cNvSpPr>
          <p:nvPr/>
        </p:nvSpPr>
        <p:spPr>
          <a:xfrm xmlns:a="http://schemas.openxmlformats.org/drawingml/2006/main">
            <a:off x="7905750" y="2466975"/>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EF4444"/>
                </a:solidFill>
                <a:latin typeface="DejaVu Sans"/>
                <a:ea typeface="DejaVu Sans"/>
                <a:cs typeface="DejaVu Sans"/>
              </a:defRPr>
            </a:pPr>
            <a:r>
              <a:rPr sz="2400" b="1">
                <a:solidFill>
                  <a:srgbClr val="EF4444"/>
                </a:solidFill>
                <a:latin typeface="DejaVu Sans"/>
                <a:ea typeface="DejaVu Sans"/>
                <a:cs typeface="DejaVu Sans"/>
              </a:rPr>
              <a:t>13</a:t>
            </a:r>
          </a:p>
        </p:txBody>
      </p:sp>
      <p:sp>
        <p:nvSpPr>
          <p:cNvPr id="10" name="unsupported-label">
            <a:extLst xmlns:a="http://schemas.openxmlformats.org/drawingml/2006/main">
              <a:ext uri="{FF2B5EF4-FFF2-40B4-BE49-F238E27FC236}">
                <a16:creationId xmlns:a16="http://schemas.microsoft.com/office/drawing/2014/main" id="{E2DD5566-55C2-468B-83CD-5401CF8D5B10}"/>
              </a:ext>
            </a:extLst>
          </p:cNvPr>
          <p:cNvSpPr>
            <a:spLocks xmlns:a="http://schemas.openxmlformats.org/drawingml/2006/main" noGrp="1"/>
          </p:cNvSpPr>
          <p:nvPr/>
        </p:nvSpPr>
        <p:spPr>
          <a:xfrm xmlns:a="http://schemas.openxmlformats.org/drawingml/2006/main">
            <a:off x="7886700" y="3019425"/>
            <a:ext cx="3276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unsupported / not responsive</a:t>
            </a:r>
          </a:p>
        </p:txBody>
      </p:sp>
      <p:sp>
        <p:nvSpPr>
          <p:cNvPr id="11" name="partial-card">
            <a:extLst xmlns:a="http://schemas.openxmlformats.org/drawingml/2006/main">
              <a:ext uri="{FF2B5EF4-FFF2-40B4-BE49-F238E27FC236}">
                <a16:creationId xmlns:a16="http://schemas.microsoft.com/office/drawing/2014/main" id="{1F285782-988D-4DA3-BD20-3B4DB6BB1B33}"/>
              </a:ext>
            </a:extLst>
          </p:cNvPr>
          <p:cNvSpPr>
            <a:spLocks xmlns:a="http://schemas.openxmlformats.org/drawingml/2006/main" noGrp="1"/>
          </p:cNvSpPr>
          <p:nvPr/>
        </p:nvSpPr>
        <p:spPr>
          <a:xfrm xmlns:a="http://schemas.openxmlformats.org/drawingml/2006/main">
            <a:off x="7715250" y="3667125"/>
            <a:ext cx="36195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12" name="partial-value">
            <a:extLst xmlns:a="http://schemas.openxmlformats.org/drawingml/2006/main">
              <a:ext uri="{FF2B5EF4-FFF2-40B4-BE49-F238E27FC236}">
                <a16:creationId xmlns:a16="http://schemas.microsoft.com/office/drawing/2014/main" id="{600D4CA4-1EC4-4DA4-8A4A-E006CF9D79E1}"/>
              </a:ext>
            </a:extLst>
          </p:cNvPr>
          <p:cNvSpPr>
            <a:spLocks xmlns:a="http://schemas.openxmlformats.org/drawingml/2006/main" noGrp="1"/>
          </p:cNvSpPr>
          <p:nvPr/>
        </p:nvSpPr>
        <p:spPr>
          <a:xfrm xmlns:a="http://schemas.openxmlformats.org/drawingml/2006/main">
            <a:off x="7905750" y="3895725"/>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F59E0B"/>
                </a:solidFill>
                <a:latin typeface="DejaVu Sans"/>
                <a:ea typeface="DejaVu Sans"/>
                <a:cs typeface="DejaVu Sans"/>
              </a:defRPr>
            </a:pPr>
            <a:r>
              <a:rPr sz="2400" b="1">
                <a:solidFill>
                  <a:srgbClr val="F59E0B"/>
                </a:solidFill>
                <a:latin typeface="DejaVu Sans"/>
                <a:ea typeface="DejaVu Sans"/>
                <a:cs typeface="DejaVu Sans"/>
              </a:rPr>
              <a:t>4</a:t>
            </a:r>
          </a:p>
        </p:txBody>
      </p:sp>
      <p:sp>
        <p:nvSpPr>
          <p:cNvPr id="13" name="partial-label">
            <a:extLst xmlns:a="http://schemas.openxmlformats.org/drawingml/2006/main">
              <a:ext uri="{FF2B5EF4-FFF2-40B4-BE49-F238E27FC236}">
                <a16:creationId xmlns:a16="http://schemas.microsoft.com/office/drawing/2014/main" id="{7BF26F55-7B3A-414B-9A6B-80A6F2187D1F}"/>
              </a:ext>
            </a:extLst>
          </p:cNvPr>
          <p:cNvSpPr>
            <a:spLocks xmlns:a="http://schemas.openxmlformats.org/drawingml/2006/main" noGrp="1"/>
          </p:cNvSpPr>
          <p:nvPr/>
        </p:nvSpPr>
        <p:spPr>
          <a:xfrm xmlns:a="http://schemas.openxmlformats.org/drawingml/2006/main">
            <a:off x="7886700" y="4448175"/>
            <a:ext cx="3276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partial / overcomplete</a:t>
            </a:r>
          </a:p>
        </p:txBody>
      </p:sp>
      <p:sp>
        <p:nvSpPr>
          <p:cNvPr id="14" name="acceptable-card">
            <a:extLst xmlns:a="http://schemas.openxmlformats.org/drawingml/2006/main">
              <a:ext uri="{FF2B5EF4-FFF2-40B4-BE49-F238E27FC236}">
                <a16:creationId xmlns:a16="http://schemas.microsoft.com/office/drawing/2014/main" id="{11714214-8E90-4E51-989B-4A14167D1029}"/>
              </a:ext>
            </a:extLst>
          </p:cNvPr>
          <p:cNvSpPr>
            <a:spLocks xmlns:a="http://schemas.openxmlformats.org/drawingml/2006/main" noGrp="1"/>
          </p:cNvSpPr>
          <p:nvPr/>
        </p:nvSpPr>
        <p:spPr>
          <a:xfrm xmlns:a="http://schemas.openxmlformats.org/drawingml/2006/main">
            <a:off x="7715250" y="5095875"/>
            <a:ext cx="36195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15" name="acceptable-value">
            <a:extLst xmlns:a="http://schemas.openxmlformats.org/drawingml/2006/main">
              <a:ext uri="{FF2B5EF4-FFF2-40B4-BE49-F238E27FC236}">
                <a16:creationId xmlns:a16="http://schemas.microsoft.com/office/drawing/2014/main" id="{FC18E38B-B1D5-463F-B16A-9CFE5D70E949}"/>
              </a:ext>
            </a:extLst>
          </p:cNvPr>
          <p:cNvSpPr>
            <a:spLocks xmlns:a="http://schemas.openxmlformats.org/drawingml/2006/main" noGrp="1"/>
          </p:cNvSpPr>
          <p:nvPr/>
        </p:nvSpPr>
        <p:spPr>
          <a:xfrm xmlns:a="http://schemas.openxmlformats.org/drawingml/2006/main">
            <a:off x="7905750" y="5324475"/>
            <a:ext cx="323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10B981"/>
                </a:solidFill>
                <a:latin typeface="DejaVu Sans"/>
                <a:ea typeface="DejaVu Sans"/>
                <a:cs typeface="DejaVu Sans"/>
              </a:defRPr>
            </a:pPr>
            <a:r>
              <a:rPr sz="2400" b="1">
                <a:solidFill>
                  <a:srgbClr val="10B981"/>
                </a:solidFill>
                <a:latin typeface="DejaVu Sans"/>
                <a:ea typeface="DejaVu Sans"/>
                <a:cs typeface="DejaVu Sans"/>
              </a:rPr>
              <a:t>5</a:t>
            </a:r>
          </a:p>
        </p:txBody>
      </p:sp>
      <p:sp>
        <p:nvSpPr>
          <p:cNvPr id="16" name="acceptable-label">
            <a:extLst xmlns:a="http://schemas.openxmlformats.org/drawingml/2006/main">
              <a:ext uri="{FF2B5EF4-FFF2-40B4-BE49-F238E27FC236}">
                <a16:creationId xmlns:a16="http://schemas.microsoft.com/office/drawing/2014/main" id="{CBE1B3C0-2FAC-4977-8CE9-4230004B8529}"/>
              </a:ext>
            </a:extLst>
          </p:cNvPr>
          <p:cNvSpPr>
            <a:spLocks xmlns:a="http://schemas.openxmlformats.org/drawingml/2006/main" noGrp="1"/>
          </p:cNvSpPr>
          <p:nvPr/>
        </p:nvSpPr>
        <p:spPr>
          <a:xfrm xmlns:a="http://schemas.openxmlformats.org/drawingml/2006/main">
            <a:off x="7886700" y="5876925"/>
            <a:ext cx="32766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acceptable after review</a:t>
            </a:r>
          </a:p>
        </p:txBody>
      </p:sp>
      <p:sp>
        <p:nvSpPr>
          <p:cNvPr id="17" name="footer-7">
            <a:extLst xmlns:a="http://schemas.openxmlformats.org/drawingml/2006/main">
              <a:ext uri="{FF2B5EF4-FFF2-40B4-BE49-F238E27FC236}">
                <a16:creationId xmlns:a16="http://schemas.microsoft.com/office/drawing/2014/main" id="{D81B8AA4-6E45-490D-9B2C-C042FC80034E}"/>
              </a:ext>
            </a:extLst>
          </p:cNvPr>
          <p:cNvSpPr>
            <a:spLocks xmlns:a="http://schemas.openxmlformats.org/drawingml/2006/main" noGrp="1"/>
          </p:cNvSpPr>
          <p:nvPr/>
        </p:nvSpPr>
        <p:spPr>
          <a:xfrm xmlns:a="http://schemas.openxmlformats.org/drawingml/2006/main">
            <a:off x="5619750" y="65341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4748B"/>
                </a:solidFill>
                <a:latin typeface="DejaVu Sans"/>
                <a:ea typeface="DejaVu Sans"/>
                <a:cs typeface="DejaVu Sans"/>
              </a:defRPr>
            </a:pPr>
            <a:r>
              <a:rPr sz="750" b="0">
                <a:solidFill>
                  <a:srgbClr val="64748B"/>
                </a:solidFill>
                <a:latin typeface="DejaVu Sans"/>
                <a:ea typeface="DejaVu Sans"/>
                <a:cs typeface="DejaVu Sans"/>
              </a:rPr>
              <a:t>7 / 11</a:t>
            </a:r>
          </a:p>
        </p:txBody>
      </p:sp>
    </p:spTree>
    <p:extLst>
      <p:ext uri="{BB962C8B-B14F-4D97-AF65-F5344CB8AC3E}">
        <p14:creationId xmlns:p14="http://schemas.microsoft.com/office/powerpoint/2010/main" val="756582953"/>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5" name="section-pill-7">
            <a:extLst xmlns:a="http://schemas.openxmlformats.org/drawingml/2006/main">
              <a:ext uri="{FF2B5EF4-FFF2-40B4-BE49-F238E27FC236}">
                <a16:creationId xmlns:a16="http://schemas.microsoft.com/office/drawing/2014/main" id="{FFD1FF52-7A67-4E9F-BA95-376BD690919A}"/>
              </a:ext>
            </a:extLst>
          </p:cNvPr>
          <p:cNvSpPr>
            <a:spLocks xmlns:a="http://schemas.openxmlformats.org/drawingml/2006/main" noGrp="1"/>
          </p:cNvSpPr>
          <p:nvPr/>
        </p:nvSpPr>
        <p:spPr>
          <a:xfrm xmlns:a="http://schemas.openxmlformats.org/drawingml/2006/main">
            <a:off x="666750" y="323850"/>
            <a:ext cx="1285875" cy="304800"/>
          </a:xfrm>
          <a:prstGeom xmlns:a="http://schemas.openxmlformats.org/drawingml/2006/main" prst="roundRect">
            <a:avLst>
              <a:gd name="adj" fmla="val 18750"/>
            </a:avLst>
          </a:prstGeom>
          <a:solidFill xmlns:a="http://schemas.openxmlformats.org/drawingml/2006/main">
            <a:srgbClr val="EFF6FF"/>
          </a:solidFill>
          <a:ln xmlns:a="http://schemas.openxmlformats.org/drawingml/2006/main" w="0">
            <a:noFill/>
            <a:prstDash val="solid"/>
          </a:ln>
        </p:spPr>
      </p:sp>
      <p:sp>
        <p:nvSpPr>
          <p:cNvPr id="2" name="section-label-7">
            <a:extLst xmlns:a="http://schemas.openxmlformats.org/drawingml/2006/main">
              <a:ext uri="{FF2B5EF4-FFF2-40B4-BE49-F238E27FC236}">
                <a16:creationId xmlns:a16="http://schemas.microsoft.com/office/drawing/2014/main" id="{2672F2EB-28F4-4F95-8E06-7FC1F1514209}"/>
              </a:ext>
            </a:extLst>
          </p:cNvPr>
          <p:cNvSpPr>
            <a:spLocks xmlns:a="http://schemas.openxmlformats.org/drawingml/2006/main" noGrp="1"/>
          </p:cNvSpPr>
          <p:nvPr/>
        </p:nvSpPr>
        <p:spPr>
          <a:xfrm xmlns:a="http://schemas.openxmlformats.org/drawingml/2006/main">
            <a:off x="666750" y="3714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ctr">
              <a:defRPr sz="1050" b="1">
                <a:solidFill>
                  <a:srgbClr val="3B82F6"/>
                </a:solidFill>
                <a:latin typeface="DejaVu Sans"/>
                <a:ea typeface="DejaVu Sans"/>
                <a:cs typeface="DejaVu Sans"/>
              </a:defRPr>
            </a:pPr>
            <a:r>
              <a:rPr sz="1050" b="1">
                <a:solidFill>
                  <a:srgbClr val="3B82F6"/>
                </a:solidFill>
                <a:latin typeface="DejaVu Sans"/>
                <a:ea typeface="DejaVu Sans"/>
                <a:cs typeface="DejaVu Sans"/>
              </a:rPr>
              <a:t>SECTION 7</a:t>
            </a:r>
          </a:p>
        </p:txBody>
      </p:sp>
      <p:sp>
        <p:nvSpPr>
          <p:cNvPr id="3" name="title-7">
            <a:extLst xmlns:a="http://schemas.openxmlformats.org/drawingml/2006/main">
              <a:ext uri="{FF2B5EF4-FFF2-40B4-BE49-F238E27FC236}">
                <a16:creationId xmlns:a16="http://schemas.microsoft.com/office/drawing/2014/main" id="{CDC9E6E6-F37C-42E3-9F54-4D34A7DC56BF}"/>
              </a:ext>
            </a:extLst>
          </p:cNvPr>
          <p:cNvSpPr>
            <a:spLocks xmlns:a="http://schemas.openxmlformats.org/drawingml/2006/main" noGrp="1"/>
          </p:cNvSpPr>
          <p:nvPr/>
        </p:nvSpPr>
        <p:spPr>
          <a:xfrm xmlns:a="http://schemas.openxmlformats.org/drawingml/2006/main">
            <a:off x="6667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798"/>
          </a:bodyPr>
          <a:lstStyle xmlns:a="http://schemas.openxmlformats.org/drawingml/2006/main"/>
          <a:p xmlns:a="http://schemas.openxmlformats.org/drawingml/2006/main">
            <a:pPr algn="l">
              <a:defRPr sz="3225" b="1">
                <a:solidFill>
                  <a:srgbClr val="1E293B"/>
                </a:solidFill>
                <a:latin typeface="DejaVu Sans"/>
                <a:ea typeface="DejaVu Sans"/>
                <a:cs typeface="DejaVu Sans"/>
              </a:defRPr>
            </a:pPr>
            <a:r>
              <a:rPr sz="3225" b="1">
                <a:solidFill>
                  <a:srgbClr val="1E293B"/>
                </a:solidFill>
                <a:latin typeface="DejaVu Sans"/>
                <a:ea typeface="DejaVu Sans"/>
                <a:cs typeface="DejaVu Sans"/>
              </a:rPr>
              <a:t>Representative Failures and Demo</a:t>
            </a:r>
          </a:p>
        </p:txBody>
      </p:sp>
      <p:sp>
        <p:nvSpPr>
          <p:cNvPr id="4" name="subtitle-7">
            <a:extLst xmlns:a="http://schemas.openxmlformats.org/drawingml/2006/main">
              <a:ext uri="{FF2B5EF4-FFF2-40B4-BE49-F238E27FC236}">
                <a16:creationId xmlns:a16="http://schemas.microsoft.com/office/drawing/2014/main" id="{FDAD4F73-434B-48D3-A0DF-FF08D6ABB6A2}"/>
              </a:ext>
            </a:extLst>
          </p:cNvPr>
          <p:cNvSpPr>
            <a:spLocks xmlns:a="http://schemas.openxmlformats.org/drawingml/2006/main" noGrp="1"/>
          </p:cNvSpPr>
          <p:nvPr/>
        </p:nvSpPr>
        <p:spPr>
          <a:xfrm xmlns:a="http://schemas.openxmlformats.org/drawingml/2006/main">
            <a:off x="666750" y="13620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0">
                <a:solidFill>
                  <a:srgbClr val="94A3B8"/>
                </a:solidFill>
                <a:latin typeface="DejaVu Sans"/>
                <a:ea typeface="DejaVu Sans"/>
                <a:cs typeface="DejaVu Sans"/>
              </a:defRPr>
            </a:pPr>
            <a:r>
              <a:rPr sz="1125" b="0">
                <a:solidFill>
                  <a:srgbClr val="94A3B8"/>
                </a:solidFill>
                <a:latin typeface="DejaVu Sans"/>
                <a:ea typeface="DejaVu Sans"/>
                <a:cs typeface="DejaVu Sans"/>
              </a:rPr>
              <a:t>Four examples separate failed abstention, ignored evidence, metric artifacts, and retrieval errors</a:t>
            </a:r>
          </a:p>
        </p:txBody>
      </p:sp>
      <p:sp>
        <p:nvSpPr>
          <p:cNvPr id="5" name="blue-rule-7">
            <a:extLst xmlns:a="http://schemas.openxmlformats.org/drawingml/2006/main">
              <a:ext uri="{FF2B5EF4-FFF2-40B4-BE49-F238E27FC236}">
                <a16:creationId xmlns:a16="http://schemas.microsoft.com/office/drawing/2014/main" id="{94C0B398-0C34-4CF9-B638-DDB1F6F9A5AF}"/>
              </a:ext>
            </a:extLst>
          </p:cNvPr>
          <p:cNvSpPr>
            <a:spLocks xmlns:a="http://schemas.openxmlformats.org/drawingml/2006/main" noGrp="1"/>
          </p:cNvSpPr>
          <p:nvPr/>
        </p:nvSpPr>
        <p:spPr>
          <a:xfrm xmlns:a="http://schemas.openxmlformats.org/drawingml/2006/main">
            <a:off x="666750" y="1685925"/>
            <a:ext cx="552450" cy="0"/>
          </a:xfrm>
          <a:prstGeom xmlns:a="http://schemas.openxmlformats.org/drawingml/2006/main" prst="line">
            <a:avLst/>
          </a:prstGeom>
          <a:noFill xmlns:a="http://schemas.openxmlformats.org/drawingml/2006/main"/>
          <a:ln xmlns:a="http://schemas.openxmlformats.org/drawingml/2006/main" w="28575">
            <a:solidFill>
              <a:srgbClr val="3B82F6"/>
            </a:solidFill>
            <a:prstDash val="solid"/>
          </a:ln>
        </p:spPr>
      </p:sp>
      <p:sp>
        <p:nvSpPr>
          <p:cNvPr id="6" name="green-rule-7">
            <a:extLst xmlns:a="http://schemas.openxmlformats.org/drawingml/2006/main">
              <a:ext uri="{FF2B5EF4-FFF2-40B4-BE49-F238E27FC236}">
                <a16:creationId xmlns:a16="http://schemas.microsoft.com/office/drawing/2014/main" id="{F3A846B1-50C3-4E10-8CFD-721CD1FD6F51}"/>
              </a:ext>
            </a:extLst>
          </p:cNvPr>
          <p:cNvSpPr>
            <a:spLocks xmlns:a="http://schemas.openxmlformats.org/drawingml/2006/main" noGrp="1"/>
          </p:cNvSpPr>
          <p:nvPr/>
        </p:nvSpPr>
        <p:spPr>
          <a:xfrm xmlns:a="http://schemas.openxmlformats.org/drawingml/2006/main">
            <a:off x="1219200" y="1685925"/>
            <a:ext cx="323850" cy="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sp>
        <p:nvSpPr>
          <p:cNvPr id="7" name="example-0">
            <a:extLst xmlns:a="http://schemas.openxmlformats.org/drawingml/2006/main">
              <a:ext uri="{FF2B5EF4-FFF2-40B4-BE49-F238E27FC236}">
                <a16:creationId xmlns:a16="http://schemas.microsoft.com/office/drawing/2014/main" id="{B3BFC476-54C9-4D34-990A-080FE08156E5}"/>
              </a:ext>
            </a:extLst>
          </p:cNvPr>
          <p:cNvSpPr>
            <a:spLocks xmlns:a="http://schemas.openxmlformats.org/drawingml/2006/main" noGrp="1"/>
          </p:cNvSpPr>
          <p:nvPr/>
        </p:nvSpPr>
        <p:spPr>
          <a:xfrm xmlns:a="http://schemas.openxmlformats.org/drawingml/2006/main">
            <a:off x="666750" y="2047875"/>
            <a:ext cx="10858500" cy="742950"/>
          </a:xfrm>
          <a:prstGeom xmlns:a="http://schemas.openxmlformats.org/drawingml/2006/main" prst="roundRect">
            <a:avLst>
              <a:gd name="adj" fmla="val 17949"/>
            </a:avLst>
          </a:prstGeom>
          <a:solidFill xmlns:a="http://schemas.openxmlformats.org/drawingml/2006/main">
            <a:srgbClr val="F8FAFC"/>
          </a:solidFill>
          <a:ln xmlns:a="http://schemas.openxmlformats.org/drawingml/2006/main" w="9525">
            <a:solidFill>
              <a:srgbClr val="E2E8F0"/>
            </a:solidFill>
            <a:prstDash val="solid"/>
          </a:ln>
        </p:spPr>
      </p:sp>
      <p:sp>
        <p:nvSpPr>
          <p:cNvPr id="8" name="example-accent-0">
            <a:extLst xmlns:a="http://schemas.openxmlformats.org/drawingml/2006/main">
              <a:ext uri="{FF2B5EF4-FFF2-40B4-BE49-F238E27FC236}">
                <a16:creationId xmlns:a16="http://schemas.microsoft.com/office/drawing/2014/main" id="{7E45A59F-77DD-45E4-9243-427F9DF9922D}"/>
              </a:ext>
            </a:extLst>
          </p:cNvPr>
          <p:cNvSpPr>
            <a:spLocks xmlns:a="http://schemas.openxmlformats.org/drawingml/2006/main" noGrp="1"/>
          </p:cNvSpPr>
          <p:nvPr/>
        </p:nvSpPr>
        <p:spPr>
          <a:xfrm xmlns:a="http://schemas.openxmlformats.org/drawingml/2006/main">
            <a:off x="11449050" y="2047875"/>
            <a:ext cx="76200" cy="742950"/>
          </a:xfrm>
          <a:prstGeom xmlns:a="http://schemas.openxmlformats.org/drawingml/2006/main" prst="rect">
            <a:avLst/>
          </a:prstGeom>
          <a:solidFill xmlns:a="http://schemas.openxmlformats.org/drawingml/2006/main">
            <a:srgbClr val="EF4444"/>
          </a:solidFill>
          <a:ln xmlns:a="http://schemas.openxmlformats.org/drawingml/2006/main" w="0">
            <a:solidFill>
              <a:srgbClr val="EF4444"/>
            </a:solidFill>
            <a:prstDash val="solid"/>
          </a:ln>
        </p:spPr>
      </p:sp>
      <p:sp>
        <p:nvSpPr>
          <p:cNvPr id="9" name="example-type-0">
            <a:extLst xmlns:a="http://schemas.openxmlformats.org/drawingml/2006/main">
              <a:ext uri="{FF2B5EF4-FFF2-40B4-BE49-F238E27FC236}">
                <a16:creationId xmlns:a16="http://schemas.microsoft.com/office/drawing/2014/main" id="{AE8A9C79-7F89-480C-B3F8-B3C84F0B8B64}"/>
              </a:ext>
            </a:extLst>
          </p:cNvPr>
          <p:cNvSpPr>
            <a:spLocks xmlns:a="http://schemas.openxmlformats.org/drawingml/2006/main" noGrp="1"/>
          </p:cNvSpPr>
          <p:nvPr/>
        </p:nvSpPr>
        <p:spPr>
          <a:xfrm xmlns:a="http://schemas.openxmlformats.org/drawingml/2006/main">
            <a:off x="838200" y="221932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EF4444"/>
                </a:solidFill>
                <a:latin typeface="DejaVu Sans"/>
                <a:ea typeface="DejaVu Sans"/>
                <a:cs typeface="DejaVu Sans"/>
              </a:defRPr>
            </a:pPr>
            <a:r>
              <a:rPr sz="1275" b="1">
                <a:solidFill>
                  <a:srgbClr val="EF4444"/>
                </a:solidFill>
                <a:latin typeface="DejaVu Sans"/>
                <a:ea typeface="DejaVu Sans"/>
                <a:cs typeface="DejaVu Sans"/>
              </a:rPr>
              <a:t>Failed abstention</a:t>
            </a:r>
          </a:p>
        </p:txBody>
      </p:sp>
      <p:sp>
        <p:nvSpPr>
          <p:cNvPr id="10" name="example-question-0">
            <a:extLst xmlns:a="http://schemas.openxmlformats.org/drawingml/2006/main">
              <a:ext uri="{FF2B5EF4-FFF2-40B4-BE49-F238E27FC236}">
                <a16:creationId xmlns:a16="http://schemas.microsoft.com/office/drawing/2014/main" id="{0A14DE81-D189-402F-A960-2B711D9AC538}"/>
              </a:ext>
            </a:extLst>
          </p:cNvPr>
          <p:cNvSpPr>
            <a:spLocks xmlns:a="http://schemas.openxmlformats.org/drawingml/2006/main" noGrp="1"/>
          </p:cNvSpPr>
          <p:nvPr/>
        </p:nvSpPr>
        <p:spPr>
          <a:xfrm xmlns:a="http://schemas.openxmlformats.org/drawingml/2006/main">
            <a:off x="3143250" y="2219325"/>
            <a:ext cx="2619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E293B"/>
                </a:solidFill>
                <a:latin typeface="DejaVu Sans"/>
                <a:ea typeface="DejaVu Sans"/>
                <a:cs typeface="DejaVu Sans"/>
              </a:defRPr>
            </a:pPr>
            <a:r>
              <a:rPr sz="1275" b="0">
                <a:solidFill>
                  <a:srgbClr val="1E293B"/>
                </a:solidFill>
                <a:latin typeface="DejaVu Sans"/>
                <a:ea typeface="DejaVu Sans"/>
                <a:cs typeface="DejaVu Sans"/>
              </a:rPr>
              <a:t>Non-imperialistic policy</a:t>
            </a:r>
          </a:p>
        </p:txBody>
      </p:sp>
      <p:sp>
        <p:nvSpPr>
          <p:cNvPr id="11" name="example-output-0">
            <a:extLst xmlns:a="http://schemas.openxmlformats.org/drawingml/2006/main">
              <a:ext uri="{FF2B5EF4-FFF2-40B4-BE49-F238E27FC236}">
                <a16:creationId xmlns:a16="http://schemas.microsoft.com/office/drawing/2014/main" id="{9CDE4809-388F-4DF1-A181-4CCCE5BACC36}"/>
              </a:ext>
            </a:extLst>
          </p:cNvPr>
          <p:cNvSpPr>
            <a:spLocks xmlns:a="http://schemas.openxmlformats.org/drawingml/2006/main" noGrp="1"/>
          </p:cNvSpPr>
          <p:nvPr/>
        </p:nvSpPr>
        <p:spPr>
          <a:xfrm xmlns:a="http://schemas.openxmlformats.org/drawingml/2006/main">
            <a:off x="5953125" y="22193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1E293B"/>
                </a:solidFill>
                <a:latin typeface="DejaVu Sans"/>
                <a:ea typeface="DejaVu Sans"/>
                <a:cs typeface="DejaVu Sans"/>
              </a:defRPr>
            </a:pPr>
            <a:r>
              <a:rPr sz="1275" b="1">
                <a:solidFill>
                  <a:srgbClr val="1E293B"/>
                </a:solidFill>
                <a:latin typeface="DejaVu Sans"/>
                <a:ea typeface="DejaVu Sans"/>
                <a:cs typeface="DejaVu Sans"/>
              </a:rPr>
              <a:t>Open Door Policy</a:t>
            </a:r>
          </a:p>
        </p:txBody>
      </p:sp>
      <p:sp>
        <p:nvSpPr>
          <p:cNvPr id="12" name="example-note-0">
            <a:extLst xmlns:a="http://schemas.openxmlformats.org/drawingml/2006/main">
              <a:ext uri="{FF2B5EF4-FFF2-40B4-BE49-F238E27FC236}">
                <a16:creationId xmlns:a16="http://schemas.microsoft.com/office/drawing/2014/main" id="{8859F33C-6DB1-47D5-964A-573894C87169}"/>
              </a:ext>
            </a:extLst>
          </p:cNvPr>
          <p:cNvSpPr>
            <a:spLocks xmlns:a="http://schemas.openxmlformats.org/drawingml/2006/main" noGrp="1"/>
          </p:cNvSpPr>
          <p:nvPr/>
        </p:nvSpPr>
        <p:spPr>
          <a:xfrm xmlns:a="http://schemas.openxmlformats.org/drawingml/2006/main">
            <a:off x="8239125" y="2219325"/>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4748B"/>
                </a:solidFill>
                <a:latin typeface="DejaVu Sans"/>
                <a:ea typeface="DejaVu Sans"/>
                <a:cs typeface="DejaVu Sans"/>
              </a:defRPr>
            </a:pPr>
            <a:r>
              <a:rPr sz="1275" b="0">
                <a:solidFill>
                  <a:srgbClr val="64748B"/>
                </a:solidFill>
                <a:latin typeface="DejaVu Sans"/>
                <a:ea typeface="DejaVu Sans"/>
                <a:cs typeface="DejaVu Sans"/>
              </a:rPr>
              <a:t>Qualifier unsupported</a:t>
            </a:r>
          </a:p>
        </p:txBody>
      </p:sp>
      <p:sp>
        <p:nvSpPr>
          <p:cNvPr id="13" name="example-1">
            <a:extLst xmlns:a="http://schemas.openxmlformats.org/drawingml/2006/main">
              <a:ext uri="{FF2B5EF4-FFF2-40B4-BE49-F238E27FC236}">
                <a16:creationId xmlns:a16="http://schemas.microsoft.com/office/drawing/2014/main" id="{CC47D9CC-A07C-418D-8354-6403A0A378E0}"/>
              </a:ext>
            </a:extLst>
          </p:cNvPr>
          <p:cNvSpPr>
            <a:spLocks xmlns:a="http://schemas.openxmlformats.org/drawingml/2006/main" noGrp="1"/>
          </p:cNvSpPr>
          <p:nvPr/>
        </p:nvSpPr>
        <p:spPr>
          <a:xfrm xmlns:a="http://schemas.openxmlformats.org/drawingml/2006/main">
            <a:off x="666750" y="2981325"/>
            <a:ext cx="10858500" cy="742950"/>
          </a:xfrm>
          <a:prstGeom xmlns:a="http://schemas.openxmlformats.org/drawingml/2006/main" prst="roundRect">
            <a:avLst>
              <a:gd name="adj" fmla="val 17949"/>
            </a:avLst>
          </a:prstGeom>
          <a:solidFill xmlns:a="http://schemas.openxmlformats.org/drawingml/2006/main">
            <a:srgbClr val="F8FAFC"/>
          </a:solidFill>
          <a:ln xmlns:a="http://schemas.openxmlformats.org/drawingml/2006/main" w="9525">
            <a:solidFill>
              <a:srgbClr val="E2E8F0"/>
            </a:solidFill>
            <a:prstDash val="solid"/>
          </a:ln>
        </p:spPr>
      </p:sp>
      <p:sp>
        <p:nvSpPr>
          <p:cNvPr id="14" name="example-accent-1">
            <a:extLst xmlns:a="http://schemas.openxmlformats.org/drawingml/2006/main">
              <a:ext uri="{FF2B5EF4-FFF2-40B4-BE49-F238E27FC236}">
                <a16:creationId xmlns:a16="http://schemas.microsoft.com/office/drawing/2014/main" id="{AC222066-DBA7-4CFE-B3F8-12B207A003D0}"/>
              </a:ext>
            </a:extLst>
          </p:cNvPr>
          <p:cNvSpPr>
            <a:spLocks xmlns:a="http://schemas.openxmlformats.org/drawingml/2006/main" noGrp="1"/>
          </p:cNvSpPr>
          <p:nvPr/>
        </p:nvSpPr>
        <p:spPr>
          <a:xfrm xmlns:a="http://schemas.openxmlformats.org/drawingml/2006/main">
            <a:off x="11449050" y="2981325"/>
            <a:ext cx="76200" cy="742950"/>
          </a:xfrm>
          <a:prstGeom xmlns:a="http://schemas.openxmlformats.org/drawingml/2006/main" prst="rect">
            <a:avLst/>
          </a:prstGeom>
          <a:solidFill xmlns:a="http://schemas.openxmlformats.org/drawingml/2006/main">
            <a:srgbClr val="8B5CF6"/>
          </a:solidFill>
          <a:ln xmlns:a="http://schemas.openxmlformats.org/drawingml/2006/main" w="0">
            <a:solidFill>
              <a:srgbClr val="8B5CF6"/>
            </a:solidFill>
            <a:prstDash val="solid"/>
          </a:ln>
        </p:spPr>
      </p:sp>
      <p:sp>
        <p:nvSpPr>
          <p:cNvPr id="15" name="example-type-1">
            <a:extLst xmlns:a="http://schemas.openxmlformats.org/drawingml/2006/main">
              <a:ext uri="{FF2B5EF4-FFF2-40B4-BE49-F238E27FC236}">
                <a16:creationId xmlns:a16="http://schemas.microsoft.com/office/drawing/2014/main" id="{A54ABDDD-A957-4076-B9BE-488B33BD6A97}"/>
              </a:ext>
            </a:extLst>
          </p:cNvPr>
          <p:cNvSpPr>
            <a:spLocks xmlns:a="http://schemas.openxmlformats.org/drawingml/2006/main" noGrp="1"/>
          </p:cNvSpPr>
          <p:nvPr/>
        </p:nvSpPr>
        <p:spPr>
          <a:xfrm xmlns:a="http://schemas.openxmlformats.org/drawingml/2006/main">
            <a:off x="838200" y="315277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8B5CF6"/>
                </a:solidFill>
                <a:latin typeface="DejaVu Sans"/>
                <a:ea typeface="DejaVu Sans"/>
                <a:cs typeface="DejaVu Sans"/>
              </a:defRPr>
            </a:pPr>
            <a:r>
              <a:rPr sz="1275" b="1">
                <a:solidFill>
                  <a:srgbClr val="8B5CF6"/>
                </a:solidFill>
                <a:latin typeface="DejaVu Sans"/>
                <a:ea typeface="DejaVu Sans"/>
                <a:cs typeface="DejaVu Sans"/>
              </a:rPr>
              <a:t>Ignored evidence</a:t>
            </a:r>
          </a:p>
        </p:txBody>
      </p:sp>
      <p:sp>
        <p:nvSpPr>
          <p:cNvPr id="16" name="example-question-1">
            <a:extLst xmlns:a="http://schemas.openxmlformats.org/drawingml/2006/main">
              <a:ext uri="{FF2B5EF4-FFF2-40B4-BE49-F238E27FC236}">
                <a16:creationId xmlns:a16="http://schemas.microsoft.com/office/drawing/2014/main" id="{53FEA852-71E7-4A5A-B9EF-FFD127DE1E85}"/>
              </a:ext>
            </a:extLst>
          </p:cNvPr>
          <p:cNvSpPr>
            <a:spLocks xmlns:a="http://schemas.openxmlformats.org/drawingml/2006/main" noGrp="1"/>
          </p:cNvSpPr>
          <p:nvPr/>
        </p:nvSpPr>
        <p:spPr>
          <a:xfrm xmlns:a="http://schemas.openxmlformats.org/drawingml/2006/main">
            <a:off x="3143250" y="3152775"/>
            <a:ext cx="2619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E293B"/>
                </a:solidFill>
                <a:latin typeface="DejaVu Sans"/>
                <a:ea typeface="DejaVu Sans"/>
                <a:cs typeface="DejaVu Sans"/>
              </a:defRPr>
            </a:pPr>
            <a:r>
              <a:rPr sz="1275" b="0">
                <a:solidFill>
                  <a:srgbClr val="1E293B"/>
                </a:solidFill>
                <a:latin typeface="DejaVu Sans"/>
                <a:ea typeface="DejaVu Sans"/>
                <a:cs typeface="DejaVu Sans"/>
              </a:rPr>
              <a:t>Sieve method usage</a:t>
            </a:r>
          </a:p>
        </p:txBody>
      </p:sp>
      <p:sp>
        <p:nvSpPr>
          <p:cNvPr id="17" name="example-output-1">
            <a:extLst xmlns:a="http://schemas.openxmlformats.org/drawingml/2006/main">
              <a:ext uri="{FF2B5EF4-FFF2-40B4-BE49-F238E27FC236}">
                <a16:creationId xmlns:a16="http://schemas.microsoft.com/office/drawing/2014/main" id="{9C427967-0220-48BE-99F1-1019D1F5B85B}"/>
              </a:ext>
            </a:extLst>
          </p:cNvPr>
          <p:cNvSpPr>
            <a:spLocks xmlns:a="http://schemas.openxmlformats.org/drawingml/2006/main" noGrp="1"/>
          </p:cNvSpPr>
          <p:nvPr/>
        </p:nvSpPr>
        <p:spPr>
          <a:xfrm xmlns:a="http://schemas.openxmlformats.org/drawingml/2006/main">
            <a:off x="5953125" y="315277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1E293B"/>
                </a:solidFill>
                <a:latin typeface="DejaVu Sans"/>
                <a:ea typeface="DejaVu Sans"/>
                <a:cs typeface="DejaVu Sans"/>
              </a:defRPr>
            </a:pPr>
            <a:r>
              <a:rPr sz="1275" b="1">
                <a:solidFill>
                  <a:srgbClr val="1E293B"/>
                </a:solidFill>
                <a:latin typeface="DejaVu Sans"/>
                <a:ea typeface="DejaVu Sans"/>
                <a:cs typeface="DejaVu Sans"/>
              </a:rPr>
              <a:t>90% to 93% O2</a:t>
            </a:r>
          </a:p>
        </p:txBody>
      </p:sp>
      <p:sp>
        <p:nvSpPr>
          <p:cNvPr id="18" name="example-note-1">
            <a:extLst xmlns:a="http://schemas.openxmlformats.org/drawingml/2006/main">
              <a:ext uri="{FF2B5EF4-FFF2-40B4-BE49-F238E27FC236}">
                <a16:creationId xmlns:a16="http://schemas.microsoft.com/office/drawing/2014/main" id="{2DC6496C-16E5-452A-B6EB-F4833023E97E}"/>
              </a:ext>
            </a:extLst>
          </p:cNvPr>
          <p:cNvSpPr>
            <a:spLocks xmlns:a="http://schemas.openxmlformats.org/drawingml/2006/main" noGrp="1"/>
          </p:cNvSpPr>
          <p:nvPr/>
        </p:nvSpPr>
        <p:spPr>
          <a:xfrm xmlns:a="http://schemas.openxmlformats.org/drawingml/2006/main">
            <a:off x="8239125" y="3152775"/>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4748B"/>
                </a:solidFill>
                <a:latin typeface="DejaVu Sans"/>
                <a:ea typeface="DejaVu Sans"/>
                <a:cs typeface="DejaVu Sans"/>
              </a:defRPr>
            </a:pPr>
            <a:r>
              <a:rPr sz="1275" b="0">
                <a:solidFill>
                  <a:srgbClr val="64748B"/>
                </a:solidFill>
                <a:latin typeface="DejaVu Sans"/>
                <a:ea typeface="DejaVu Sans"/>
                <a:cs typeface="DejaVu Sans"/>
              </a:rPr>
              <a:t>Answer is concentration</a:t>
            </a:r>
          </a:p>
        </p:txBody>
      </p:sp>
      <p:sp>
        <p:nvSpPr>
          <p:cNvPr id="19" name="example-2">
            <a:extLst xmlns:a="http://schemas.openxmlformats.org/drawingml/2006/main">
              <a:ext uri="{FF2B5EF4-FFF2-40B4-BE49-F238E27FC236}">
                <a16:creationId xmlns:a16="http://schemas.microsoft.com/office/drawing/2014/main" id="{B808F8DD-2FF1-4845-96EF-61D1CCD5DAFD}"/>
              </a:ext>
            </a:extLst>
          </p:cNvPr>
          <p:cNvSpPr>
            <a:spLocks xmlns:a="http://schemas.openxmlformats.org/drawingml/2006/main" noGrp="1"/>
          </p:cNvSpPr>
          <p:nvPr/>
        </p:nvSpPr>
        <p:spPr>
          <a:xfrm xmlns:a="http://schemas.openxmlformats.org/drawingml/2006/main">
            <a:off x="666750" y="3914775"/>
            <a:ext cx="10858500" cy="742950"/>
          </a:xfrm>
          <a:prstGeom xmlns:a="http://schemas.openxmlformats.org/drawingml/2006/main" prst="roundRect">
            <a:avLst>
              <a:gd name="adj" fmla="val 17949"/>
            </a:avLst>
          </a:prstGeom>
          <a:solidFill xmlns:a="http://schemas.openxmlformats.org/drawingml/2006/main">
            <a:srgbClr val="F8FAFC"/>
          </a:solidFill>
          <a:ln xmlns:a="http://schemas.openxmlformats.org/drawingml/2006/main" w="9525">
            <a:solidFill>
              <a:srgbClr val="E2E8F0"/>
            </a:solidFill>
            <a:prstDash val="solid"/>
          </a:ln>
        </p:spPr>
      </p:sp>
      <p:sp>
        <p:nvSpPr>
          <p:cNvPr id="20" name="example-accent-2">
            <a:extLst xmlns:a="http://schemas.openxmlformats.org/drawingml/2006/main">
              <a:ext uri="{FF2B5EF4-FFF2-40B4-BE49-F238E27FC236}">
                <a16:creationId xmlns:a16="http://schemas.microsoft.com/office/drawing/2014/main" id="{D273924C-EA7E-46C8-A226-E8B2FA68322E}"/>
              </a:ext>
            </a:extLst>
          </p:cNvPr>
          <p:cNvSpPr>
            <a:spLocks xmlns:a="http://schemas.openxmlformats.org/drawingml/2006/main" noGrp="1"/>
          </p:cNvSpPr>
          <p:nvPr/>
        </p:nvSpPr>
        <p:spPr>
          <a:xfrm xmlns:a="http://schemas.openxmlformats.org/drawingml/2006/main">
            <a:off x="11449050" y="3914775"/>
            <a:ext cx="76200" cy="7429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21" name="example-type-2">
            <a:extLst xmlns:a="http://schemas.openxmlformats.org/drawingml/2006/main">
              <a:ext uri="{FF2B5EF4-FFF2-40B4-BE49-F238E27FC236}">
                <a16:creationId xmlns:a16="http://schemas.microsoft.com/office/drawing/2014/main" id="{D8D9353E-8BEA-4100-8ECA-247458299F43}"/>
              </a:ext>
            </a:extLst>
          </p:cNvPr>
          <p:cNvSpPr>
            <a:spLocks xmlns:a="http://schemas.openxmlformats.org/drawingml/2006/main" noGrp="1"/>
          </p:cNvSpPr>
          <p:nvPr/>
        </p:nvSpPr>
        <p:spPr>
          <a:xfrm xmlns:a="http://schemas.openxmlformats.org/drawingml/2006/main">
            <a:off x="838200" y="408622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10B981"/>
                </a:solidFill>
                <a:latin typeface="DejaVu Sans"/>
                <a:ea typeface="DejaVu Sans"/>
                <a:cs typeface="DejaVu Sans"/>
              </a:defRPr>
            </a:pPr>
            <a:r>
              <a:rPr sz="1275" b="1">
                <a:solidFill>
                  <a:srgbClr val="10B981"/>
                </a:solidFill>
                <a:latin typeface="DejaVu Sans"/>
                <a:ea typeface="DejaVu Sans"/>
                <a:cs typeface="DejaVu Sans"/>
              </a:rPr>
              <a:t>Metric artifact</a:t>
            </a:r>
          </a:p>
        </p:txBody>
      </p:sp>
      <p:sp>
        <p:nvSpPr>
          <p:cNvPr id="22" name="example-question-2">
            <a:extLst xmlns:a="http://schemas.openxmlformats.org/drawingml/2006/main">
              <a:ext uri="{FF2B5EF4-FFF2-40B4-BE49-F238E27FC236}">
                <a16:creationId xmlns:a16="http://schemas.microsoft.com/office/drawing/2014/main" id="{DDB0C7E9-5913-4685-8DC9-1865130EB263}"/>
              </a:ext>
            </a:extLst>
          </p:cNvPr>
          <p:cNvSpPr>
            <a:spLocks xmlns:a="http://schemas.openxmlformats.org/drawingml/2006/main" noGrp="1"/>
          </p:cNvSpPr>
          <p:nvPr/>
        </p:nvSpPr>
        <p:spPr>
          <a:xfrm xmlns:a="http://schemas.openxmlformats.org/drawingml/2006/main">
            <a:off x="3143250" y="4086225"/>
            <a:ext cx="2619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E293B"/>
                </a:solidFill>
                <a:latin typeface="DejaVu Sans"/>
                <a:ea typeface="DejaVu Sans"/>
                <a:cs typeface="DejaVu Sans"/>
              </a:defRPr>
            </a:pPr>
            <a:r>
              <a:rPr sz="1275" b="0">
                <a:solidFill>
                  <a:srgbClr val="1E293B"/>
                </a:solidFill>
                <a:latin typeface="DejaVu Sans"/>
                <a:ea typeface="DejaVu Sans"/>
                <a:cs typeface="DejaVu Sans"/>
              </a:rPr>
              <a:t>Main EU judicial body</a:t>
            </a:r>
          </a:p>
        </p:txBody>
      </p:sp>
      <p:sp>
        <p:nvSpPr>
          <p:cNvPr id="23" name="example-output-2">
            <a:extLst xmlns:a="http://schemas.openxmlformats.org/drawingml/2006/main">
              <a:ext uri="{FF2B5EF4-FFF2-40B4-BE49-F238E27FC236}">
                <a16:creationId xmlns:a16="http://schemas.microsoft.com/office/drawing/2014/main" id="{48E6C3C3-EDC6-4DD5-92ED-AA63B5F912DD}"/>
              </a:ext>
            </a:extLst>
          </p:cNvPr>
          <p:cNvSpPr>
            <a:spLocks xmlns:a="http://schemas.openxmlformats.org/drawingml/2006/main" noGrp="1"/>
          </p:cNvSpPr>
          <p:nvPr/>
        </p:nvSpPr>
        <p:spPr>
          <a:xfrm xmlns:a="http://schemas.openxmlformats.org/drawingml/2006/main">
            <a:off x="5953125" y="40862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1E293B"/>
                </a:solidFill>
                <a:latin typeface="DejaVu Sans"/>
                <a:ea typeface="DejaVu Sans"/>
                <a:cs typeface="DejaVu Sans"/>
              </a:defRPr>
            </a:pPr>
            <a:r>
              <a:rPr sz="1275" b="1">
                <a:solidFill>
                  <a:srgbClr val="1E293B"/>
                </a:solidFill>
                <a:latin typeface="DejaVu Sans"/>
                <a:ea typeface="DejaVu Sans"/>
                <a:cs typeface="DejaVu Sans"/>
              </a:rPr>
              <a:t>Court of Justice...</a:t>
            </a:r>
          </a:p>
        </p:txBody>
      </p:sp>
      <p:sp>
        <p:nvSpPr>
          <p:cNvPr id="24" name="example-note-2">
            <a:extLst xmlns:a="http://schemas.openxmlformats.org/drawingml/2006/main">
              <a:ext uri="{FF2B5EF4-FFF2-40B4-BE49-F238E27FC236}">
                <a16:creationId xmlns:a16="http://schemas.microsoft.com/office/drawing/2014/main" id="{566DC200-B32B-4800-9F46-60465D63E3AB}"/>
              </a:ext>
            </a:extLst>
          </p:cNvPr>
          <p:cNvSpPr>
            <a:spLocks xmlns:a="http://schemas.openxmlformats.org/drawingml/2006/main" noGrp="1"/>
          </p:cNvSpPr>
          <p:nvPr/>
        </p:nvSpPr>
        <p:spPr>
          <a:xfrm xmlns:a="http://schemas.openxmlformats.org/drawingml/2006/main">
            <a:off x="8239125" y="4086225"/>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4748B"/>
                </a:solidFill>
                <a:latin typeface="DejaVu Sans"/>
                <a:ea typeface="DejaVu Sans"/>
                <a:cs typeface="DejaVu Sans"/>
              </a:defRPr>
            </a:pPr>
            <a:r>
              <a:rPr sz="1275" b="0">
                <a:solidFill>
                  <a:srgbClr val="64748B"/>
                </a:solidFill>
                <a:latin typeface="DejaVu Sans"/>
                <a:ea typeface="DejaVu Sans"/>
                <a:cs typeface="DejaVu Sans"/>
              </a:rPr>
              <a:t>Acronym omitted</a:t>
            </a:r>
          </a:p>
        </p:txBody>
      </p:sp>
      <p:sp>
        <p:nvSpPr>
          <p:cNvPr id="25" name="example-3">
            <a:extLst xmlns:a="http://schemas.openxmlformats.org/drawingml/2006/main">
              <a:ext uri="{FF2B5EF4-FFF2-40B4-BE49-F238E27FC236}">
                <a16:creationId xmlns:a16="http://schemas.microsoft.com/office/drawing/2014/main" id="{49C671B0-79E7-4C39-B664-DF6B09A38474}"/>
              </a:ext>
            </a:extLst>
          </p:cNvPr>
          <p:cNvSpPr>
            <a:spLocks xmlns:a="http://schemas.openxmlformats.org/drawingml/2006/main" noGrp="1"/>
          </p:cNvSpPr>
          <p:nvPr/>
        </p:nvSpPr>
        <p:spPr>
          <a:xfrm xmlns:a="http://schemas.openxmlformats.org/drawingml/2006/main">
            <a:off x="666750" y="4848225"/>
            <a:ext cx="10858500" cy="742950"/>
          </a:xfrm>
          <a:prstGeom xmlns:a="http://schemas.openxmlformats.org/drawingml/2006/main" prst="roundRect">
            <a:avLst>
              <a:gd name="adj" fmla="val 17949"/>
            </a:avLst>
          </a:prstGeom>
          <a:solidFill xmlns:a="http://schemas.openxmlformats.org/drawingml/2006/main">
            <a:srgbClr val="F8FAFC"/>
          </a:solidFill>
          <a:ln xmlns:a="http://schemas.openxmlformats.org/drawingml/2006/main" w="9525">
            <a:solidFill>
              <a:srgbClr val="E2E8F0"/>
            </a:solidFill>
            <a:prstDash val="solid"/>
          </a:ln>
        </p:spPr>
      </p:sp>
      <p:sp>
        <p:nvSpPr>
          <p:cNvPr id="26" name="example-accent-3">
            <a:extLst xmlns:a="http://schemas.openxmlformats.org/drawingml/2006/main">
              <a:ext uri="{FF2B5EF4-FFF2-40B4-BE49-F238E27FC236}">
                <a16:creationId xmlns:a16="http://schemas.microsoft.com/office/drawing/2014/main" id="{88DC7A97-3949-4AC2-8D05-31D5BD6CC4A7}"/>
              </a:ext>
            </a:extLst>
          </p:cNvPr>
          <p:cNvSpPr>
            <a:spLocks xmlns:a="http://schemas.openxmlformats.org/drawingml/2006/main" noGrp="1"/>
          </p:cNvSpPr>
          <p:nvPr/>
        </p:nvSpPr>
        <p:spPr>
          <a:xfrm xmlns:a="http://schemas.openxmlformats.org/drawingml/2006/main">
            <a:off x="11449050" y="4848225"/>
            <a:ext cx="76200" cy="7429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27" name="example-type-3">
            <a:extLst xmlns:a="http://schemas.openxmlformats.org/drawingml/2006/main">
              <a:ext uri="{FF2B5EF4-FFF2-40B4-BE49-F238E27FC236}">
                <a16:creationId xmlns:a16="http://schemas.microsoft.com/office/drawing/2014/main" id="{330E32DF-CF5C-423E-9097-D1C76EAA8549}"/>
              </a:ext>
            </a:extLst>
          </p:cNvPr>
          <p:cNvSpPr>
            <a:spLocks xmlns:a="http://schemas.openxmlformats.org/drawingml/2006/main" noGrp="1"/>
          </p:cNvSpPr>
          <p:nvPr/>
        </p:nvSpPr>
        <p:spPr>
          <a:xfrm xmlns:a="http://schemas.openxmlformats.org/drawingml/2006/main">
            <a:off x="838200" y="5019675"/>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F59E0B"/>
                </a:solidFill>
                <a:latin typeface="DejaVu Sans"/>
                <a:ea typeface="DejaVu Sans"/>
                <a:cs typeface="DejaVu Sans"/>
              </a:defRPr>
            </a:pPr>
            <a:r>
              <a:rPr sz="1275" b="1">
                <a:solidFill>
                  <a:srgbClr val="F59E0B"/>
                </a:solidFill>
                <a:latin typeface="DejaVu Sans"/>
                <a:ea typeface="DejaVu Sans"/>
                <a:cs typeface="DejaVu Sans"/>
              </a:rPr>
              <a:t>Wrong evidence</a:t>
            </a:r>
          </a:p>
        </p:txBody>
      </p:sp>
      <p:sp>
        <p:nvSpPr>
          <p:cNvPr id="28" name="example-question-3">
            <a:extLst xmlns:a="http://schemas.openxmlformats.org/drawingml/2006/main">
              <a:ext uri="{FF2B5EF4-FFF2-40B4-BE49-F238E27FC236}">
                <a16:creationId xmlns:a16="http://schemas.microsoft.com/office/drawing/2014/main" id="{3EAB45F8-9437-4133-AE25-1A72E88BE800}"/>
              </a:ext>
            </a:extLst>
          </p:cNvPr>
          <p:cNvSpPr>
            <a:spLocks xmlns:a="http://schemas.openxmlformats.org/drawingml/2006/main" noGrp="1"/>
          </p:cNvSpPr>
          <p:nvPr/>
        </p:nvSpPr>
        <p:spPr>
          <a:xfrm xmlns:a="http://schemas.openxmlformats.org/drawingml/2006/main">
            <a:off x="3143250" y="5019675"/>
            <a:ext cx="2619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1E293B"/>
                </a:solidFill>
                <a:latin typeface="DejaVu Sans"/>
                <a:ea typeface="DejaVu Sans"/>
                <a:cs typeface="DejaVu Sans"/>
              </a:defRPr>
            </a:pPr>
            <a:r>
              <a:rPr sz="1275" b="0">
                <a:solidFill>
                  <a:srgbClr val="1E293B"/>
                </a:solidFill>
                <a:latin typeface="DejaVu Sans"/>
                <a:ea typeface="DejaVu Sans"/>
                <a:cs typeface="DejaVu Sans"/>
              </a:rPr>
              <a:t>Jacksonville gender</a:t>
            </a:r>
          </a:p>
        </p:txBody>
      </p:sp>
      <p:sp>
        <p:nvSpPr>
          <p:cNvPr id="29" name="example-output-3">
            <a:extLst xmlns:a="http://schemas.openxmlformats.org/drawingml/2006/main">
              <a:ext uri="{FF2B5EF4-FFF2-40B4-BE49-F238E27FC236}">
                <a16:creationId xmlns:a16="http://schemas.microsoft.com/office/drawing/2014/main" id="{9BF8FC24-A5C8-4646-BA5D-9D61B4A78931}"/>
              </a:ext>
            </a:extLst>
          </p:cNvPr>
          <p:cNvSpPr>
            <a:spLocks xmlns:a="http://schemas.openxmlformats.org/drawingml/2006/main" noGrp="1"/>
          </p:cNvSpPr>
          <p:nvPr/>
        </p:nvSpPr>
        <p:spPr>
          <a:xfrm xmlns:a="http://schemas.openxmlformats.org/drawingml/2006/main">
            <a:off x="5953125" y="501967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1E293B"/>
                </a:solidFill>
                <a:latin typeface="DejaVu Sans"/>
                <a:ea typeface="DejaVu Sans"/>
                <a:cs typeface="DejaVu Sans"/>
              </a:defRPr>
            </a:pPr>
            <a:r>
              <a:rPr sz="1275" b="1">
                <a:solidFill>
                  <a:srgbClr val="1E293B"/>
                </a:solidFill>
                <a:latin typeface="DejaVu Sans"/>
                <a:ea typeface="DejaVu Sans"/>
                <a:cs typeface="DejaVu Sans"/>
              </a:rPr>
              <a:t>male</a:t>
            </a:r>
          </a:p>
        </p:txBody>
      </p:sp>
      <p:sp>
        <p:nvSpPr>
          <p:cNvPr id="30" name="example-note-3">
            <a:extLst xmlns:a="http://schemas.openxmlformats.org/drawingml/2006/main">
              <a:ext uri="{FF2B5EF4-FFF2-40B4-BE49-F238E27FC236}">
                <a16:creationId xmlns:a16="http://schemas.microsoft.com/office/drawing/2014/main" id="{EBE00848-9ECC-41C9-91A5-0F2EFABDA218}"/>
              </a:ext>
            </a:extLst>
          </p:cNvPr>
          <p:cNvSpPr>
            <a:spLocks xmlns:a="http://schemas.openxmlformats.org/drawingml/2006/main" noGrp="1"/>
          </p:cNvSpPr>
          <p:nvPr/>
        </p:nvSpPr>
        <p:spPr>
          <a:xfrm xmlns:a="http://schemas.openxmlformats.org/drawingml/2006/main">
            <a:off x="8239125" y="5019675"/>
            <a:ext cx="2952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4748B"/>
                </a:solidFill>
                <a:latin typeface="DejaVu Sans"/>
                <a:ea typeface="DejaVu Sans"/>
                <a:cs typeface="DejaVu Sans"/>
              </a:defRPr>
            </a:pPr>
            <a:r>
              <a:rPr sz="1275" b="0">
                <a:solidFill>
                  <a:srgbClr val="64748B"/>
                </a:solidFill>
                <a:latin typeface="DejaVu Sans"/>
                <a:ea typeface="DejaVu Sans"/>
                <a:cs typeface="DejaVu Sans"/>
              </a:rPr>
              <a:t>Weather passage</a:t>
            </a:r>
          </a:p>
        </p:txBody>
      </p:sp>
      <p:sp>
        <p:nvSpPr>
          <p:cNvPr id="31" name="demo-warning-surface">
            <a:extLst xmlns:a="http://schemas.openxmlformats.org/drawingml/2006/main">
              <a:ext uri="{FF2B5EF4-FFF2-40B4-BE49-F238E27FC236}">
                <a16:creationId xmlns:a16="http://schemas.microsoft.com/office/drawing/2014/main" id="{E1376DAC-6E5B-4F78-97D7-4B8FD06BB2F4}"/>
              </a:ext>
            </a:extLst>
          </p:cNvPr>
          <p:cNvSpPr>
            <a:spLocks xmlns:a="http://schemas.openxmlformats.org/drawingml/2006/main" noGrp="1"/>
          </p:cNvSpPr>
          <p:nvPr/>
        </p:nvSpPr>
        <p:spPr>
          <a:xfrm xmlns:a="http://schemas.openxmlformats.org/drawingml/2006/main">
            <a:off x="1714500" y="5857875"/>
            <a:ext cx="876300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9525">
            <a:solidFill>
              <a:srgbClr val="E2E8F0"/>
            </a:solidFill>
            <a:prstDash val="solid"/>
          </a:ln>
        </p:spPr>
      </p:sp>
      <p:sp>
        <p:nvSpPr>
          <p:cNvPr id="32" name="demo-warning-accent">
            <a:extLst xmlns:a="http://schemas.openxmlformats.org/drawingml/2006/main">
              <a:ext uri="{FF2B5EF4-FFF2-40B4-BE49-F238E27FC236}">
                <a16:creationId xmlns:a16="http://schemas.microsoft.com/office/drawing/2014/main" id="{FDA895D9-1677-4C7F-AF45-965500D44D9B}"/>
              </a:ext>
            </a:extLst>
          </p:cNvPr>
          <p:cNvSpPr>
            <a:spLocks xmlns:a="http://schemas.openxmlformats.org/drawingml/2006/main" noGrp="1"/>
          </p:cNvSpPr>
          <p:nvPr/>
        </p:nvSpPr>
        <p:spPr>
          <a:xfrm xmlns:a="http://schemas.openxmlformats.org/drawingml/2006/main">
            <a:off x="1714500" y="5857875"/>
            <a:ext cx="76200" cy="57150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33" name="demo-warning-text">
            <a:extLst xmlns:a="http://schemas.openxmlformats.org/drawingml/2006/main">
              <a:ext uri="{FF2B5EF4-FFF2-40B4-BE49-F238E27FC236}">
                <a16:creationId xmlns:a16="http://schemas.microsoft.com/office/drawing/2014/main" id="{0C37C52A-FD08-490C-858B-AED020F594E6}"/>
              </a:ext>
            </a:extLst>
          </p:cNvPr>
          <p:cNvSpPr>
            <a:spLocks xmlns:a="http://schemas.openxmlformats.org/drawingml/2006/main" noGrp="1"/>
          </p:cNvSpPr>
          <p:nvPr/>
        </p:nvSpPr>
        <p:spPr>
          <a:xfrm xmlns:a="http://schemas.openxmlformats.org/drawingml/2006/main">
            <a:off x="2019300" y="6067425"/>
            <a:ext cx="81724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64167"/>
          </a:bodyPr>
          <a:lstStyle xmlns:a="http://schemas.openxmlformats.org/drawingml/2006/main"/>
          <a:p xmlns:a="http://schemas.openxmlformats.org/drawingml/2006/main">
            <a:pPr algn="l">
              <a:defRPr sz="1500" b="1">
                <a:solidFill>
                  <a:srgbClr val="1E293B"/>
                </a:solidFill>
                <a:latin typeface="DejaVu Sans"/>
                <a:ea typeface="DejaVu Sans"/>
                <a:cs typeface="DejaVu Sans"/>
              </a:defRPr>
            </a:pPr>
            <a:r>
              <a:rPr sz="1500" b="1">
                <a:solidFill>
                  <a:srgbClr val="1E293B"/>
                </a:solidFill>
                <a:latin typeface="DejaVu Sans"/>
                <a:ea typeface="DejaVu Sans"/>
                <a:cs typeface="DejaVu Sans"/>
              </a:rPr>
              <a:t>Base correctly abstains on the private-email demo; a high-similarity unanswerable benchmark still fails.</a:t>
            </a:r>
          </a:p>
        </p:txBody>
      </p:sp>
      <p:sp>
        <p:nvSpPr>
          <p:cNvPr id="34" name="footer-8">
            <a:extLst xmlns:a="http://schemas.openxmlformats.org/drawingml/2006/main">
              <a:ext uri="{FF2B5EF4-FFF2-40B4-BE49-F238E27FC236}">
                <a16:creationId xmlns:a16="http://schemas.microsoft.com/office/drawing/2014/main" id="{A4FFBAB1-387F-4D5D-AD85-8959CEFFEEDF}"/>
              </a:ext>
            </a:extLst>
          </p:cNvPr>
          <p:cNvSpPr>
            <a:spLocks xmlns:a="http://schemas.openxmlformats.org/drawingml/2006/main" noGrp="1"/>
          </p:cNvSpPr>
          <p:nvPr/>
        </p:nvSpPr>
        <p:spPr>
          <a:xfrm xmlns:a="http://schemas.openxmlformats.org/drawingml/2006/main">
            <a:off x="5619750" y="65341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4748B"/>
                </a:solidFill>
                <a:latin typeface="DejaVu Sans"/>
                <a:ea typeface="DejaVu Sans"/>
                <a:cs typeface="DejaVu Sans"/>
              </a:defRPr>
            </a:pPr>
            <a:r>
              <a:rPr sz="750" b="0">
                <a:solidFill>
                  <a:srgbClr val="64748B"/>
                </a:solidFill>
                <a:latin typeface="DejaVu Sans"/>
                <a:ea typeface="DejaVu Sans"/>
                <a:cs typeface="DejaVu Sans"/>
              </a:rPr>
              <a:t>8 / 11</a:t>
            </a:r>
          </a:p>
        </p:txBody>
      </p:sp>
    </p:spTree>
    <p:extLst>
      <p:ext uri="{BB962C8B-B14F-4D97-AF65-F5344CB8AC3E}">
        <p14:creationId xmlns:p14="http://schemas.microsoft.com/office/powerpoint/2010/main" val="796816338"/>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1" name="section-pill-8">
            <a:extLst xmlns:a="http://schemas.openxmlformats.org/drawingml/2006/main">
              <a:ext uri="{FF2B5EF4-FFF2-40B4-BE49-F238E27FC236}">
                <a16:creationId xmlns:a16="http://schemas.microsoft.com/office/drawing/2014/main" id="{E8206E47-36AE-45F8-9F80-E6B0FBC7E03F}"/>
              </a:ext>
            </a:extLst>
          </p:cNvPr>
          <p:cNvSpPr>
            <a:spLocks xmlns:a="http://schemas.openxmlformats.org/drawingml/2006/main" noGrp="1"/>
          </p:cNvSpPr>
          <p:nvPr/>
        </p:nvSpPr>
        <p:spPr>
          <a:xfrm xmlns:a="http://schemas.openxmlformats.org/drawingml/2006/main">
            <a:off x="666750" y="323850"/>
            <a:ext cx="1285875" cy="304800"/>
          </a:xfrm>
          <a:prstGeom xmlns:a="http://schemas.openxmlformats.org/drawingml/2006/main" prst="roundRect">
            <a:avLst>
              <a:gd name="adj" fmla="val 18750"/>
            </a:avLst>
          </a:prstGeom>
          <a:solidFill xmlns:a="http://schemas.openxmlformats.org/drawingml/2006/main">
            <a:srgbClr val="EFF6FF"/>
          </a:solidFill>
          <a:ln xmlns:a="http://schemas.openxmlformats.org/drawingml/2006/main" w="0">
            <a:noFill/>
            <a:prstDash val="solid"/>
          </a:ln>
        </p:spPr>
      </p:sp>
      <p:sp>
        <p:nvSpPr>
          <p:cNvPr id="2" name="section-label-8">
            <a:extLst xmlns:a="http://schemas.openxmlformats.org/drawingml/2006/main">
              <a:ext uri="{FF2B5EF4-FFF2-40B4-BE49-F238E27FC236}">
                <a16:creationId xmlns:a16="http://schemas.microsoft.com/office/drawing/2014/main" id="{4FF7E2DA-2D69-43E0-9FDD-4408CEAE43AB}"/>
              </a:ext>
            </a:extLst>
          </p:cNvPr>
          <p:cNvSpPr>
            <a:spLocks xmlns:a="http://schemas.openxmlformats.org/drawingml/2006/main" noGrp="1"/>
          </p:cNvSpPr>
          <p:nvPr/>
        </p:nvSpPr>
        <p:spPr>
          <a:xfrm xmlns:a="http://schemas.openxmlformats.org/drawingml/2006/main">
            <a:off x="666750" y="3714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ctr">
              <a:defRPr sz="1050" b="1">
                <a:solidFill>
                  <a:srgbClr val="3B82F6"/>
                </a:solidFill>
                <a:latin typeface="DejaVu Sans"/>
                <a:ea typeface="DejaVu Sans"/>
                <a:cs typeface="DejaVu Sans"/>
              </a:defRPr>
            </a:pPr>
            <a:r>
              <a:rPr sz="1050" b="1">
                <a:solidFill>
                  <a:srgbClr val="3B82F6"/>
                </a:solidFill>
                <a:latin typeface="DejaVu Sans"/>
                <a:ea typeface="DejaVu Sans"/>
                <a:cs typeface="DejaVu Sans"/>
              </a:rPr>
              <a:t>SECTION 8</a:t>
            </a:r>
          </a:p>
        </p:txBody>
      </p:sp>
      <p:sp>
        <p:nvSpPr>
          <p:cNvPr id="3" name="title-8">
            <a:extLst xmlns:a="http://schemas.openxmlformats.org/drawingml/2006/main">
              <a:ext uri="{FF2B5EF4-FFF2-40B4-BE49-F238E27FC236}">
                <a16:creationId xmlns:a16="http://schemas.microsoft.com/office/drawing/2014/main" id="{D35CDB04-0F13-479A-8EB1-560E1BCFC5D6}"/>
              </a:ext>
            </a:extLst>
          </p:cNvPr>
          <p:cNvSpPr>
            <a:spLocks xmlns:a="http://schemas.openxmlformats.org/drawingml/2006/main" noGrp="1"/>
          </p:cNvSpPr>
          <p:nvPr/>
        </p:nvSpPr>
        <p:spPr>
          <a:xfrm xmlns:a="http://schemas.openxmlformats.org/drawingml/2006/main">
            <a:off x="6667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798"/>
          </a:bodyPr>
          <a:lstStyle xmlns:a="http://schemas.openxmlformats.org/drawingml/2006/main"/>
          <a:p xmlns:a="http://schemas.openxmlformats.org/drawingml/2006/main">
            <a:pPr algn="l">
              <a:defRPr sz="3225" b="1">
                <a:solidFill>
                  <a:srgbClr val="1E293B"/>
                </a:solidFill>
                <a:latin typeface="DejaVu Sans"/>
                <a:ea typeface="DejaVu Sans"/>
                <a:cs typeface="DejaVu Sans"/>
              </a:defRPr>
            </a:pPr>
            <a:r>
              <a:rPr sz="3225" b="1">
                <a:solidFill>
                  <a:srgbClr val="1E293B"/>
                </a:solidFill>
                <a:latin typeface="DejaVu Sans"/>
                <a:ea typeface="DejaVu Sans"/>
                <a:cs typeface="DejaVu Sans"/>
              </a:rPr>
              <a:t>Base Improves Abstention Tenfold</a:t>
            </a:r>
          </a:p>
        </p:txBody>
      </p:sp>
      <p:sp>
        <p:nvSpPr>
          <p:cNvPr id="4" name="subtitle-8">
            <a:extLst xmlns:a="http://schemas.openxmlformats.org/drawingml/2006/main">
              <a:ext uri="{FF2B5EF4-FFF2-40B4-BE49-F238E27FC236}">
                <a16:creationId xmlns:a16="http://schemas.microsoft.com/office/drawing/2014/main" id="{BC435128-4266-4741-B173-D61C073695BC}"/>
              </a:ext>
            </a:extLst>
          </p:cNvPr>
          <p:cNvSpPr>
            <a:spLocks xmlns:a="http://schemas.openxmlformats.org/drawingml/2006/main" noGrp="1"/>
          </p:cNvSpPr>
          <p:nvPr/>
        </p:nvSpPr>
        <p:spPr>
          <a:xfrm xmlns:a="http://schemas.openxmlformats.org/drawingml/2006/main">
            <a:off x="666750" y="13620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0">
                <a:solidFill>
                  <a:srgbClr val="94A3B8"/>
                </a:solidFill>
                <a:latin typeface="DejaVu Sans"/>
                <a:ea typeface="DejaVu Sans"/>
                <a:cs typeface="DejaVu Sans"/>
              </a:defRPr>
            </a:pPr>
            <a:r>
              <a:rPr sz="1125" b="0">
                <a:solidFill>
                  <a:srgbClr val="94A3B8"/>
                </a:solidFill>
                <a:latin typeface="DejaVu Sans"/>
                <a:ea typeface="DejaVu Sans"/>
                <a:cs typeface="DejaVu Sans"/>
              </a:rPr>
              <a:t>Controlled FLAN-T5-small versus FLAN-T5-base comparison</a:t>
            </a:r>
          </a:p>
        </p:txBody>
      </p:sp>
      <p:sp>
        <p:nvSpPr>
          <p:cNvPr id="5" name="blue-rule-8">
            <a:extLst xmlns:a="http://schemas.openxmlformats.org/drawingml/2006/main">
              <a:ext uri="{FF2B5EF4-FFF2-40B4-BE49-F238E27FC236}">
                <a16:creationId xmlns:a16="http://schemas.microsoft.com/office/drawing/2014/main" id="{FA2E0ED4-7869-4EB1-A41B-181D23147E93}"/>
              </a:ext>
            </a:extLst>
          </p:cNvPr>
          <p:cNvSpPr>
            <a:spLocks xmlns:a="http://schemas.openxmlformats.org/drawingml/2006/main" noGrp="1"/>
          </p:cNvSpPr>
          <p:nvPr/>
        </p:nvSpPr>
        <p:spPr>
          <a:xfrm xmlns:a="http://schemas.openxmlformats.org/drawingml/2006/main">
            <a:off x="666750" y="1685925"/>
            <a:ext cx="552450" cy="0"/>
          </a:xfrm>
          <a:prstGeom xmlns:a="http://schemas.openxmlformats.org/drawingml/2006/main" prst="line">
            <a:avLst/>
          </a:prstGeom>
          <a:noFill xmlns:a="http://schemas.openxmlformats.org/drawingml/2006/main"/>
          <a:ln xmlns:a="http://schemas.openxmlformats.org/drawingml/2006/main" w="28575">
            <a:solidFill>
              <a:srgbClr val="3B82F6"/>
            </a:solidFill>
            <a:prstDash val="solid"/>
          </a:ln>
        </p:spPr>
      </p:sp>
      <p:sp>
        <p:nvSpPr>
          <p:cNvPr id="6" name="green-rule-8">
            <a:extLst xmlns:a="http://schemas.openxmlformats.org/drawingml/2006/main">
              <a:ext uri="{FF2B5EF4-FFF2-40B4-BE49-F238E27FC236}">
                <a16:creationId xmlns:a16="http://schemas.microsoft.com/office/drawing/2014/main" id="{E000CF48-F4A9-45C4-8D42-65072785AF79}"/>
              </a:ext>
            </a:extLst>
          </p:cNvPr>
          <p:cNvSpPr>
            <a:spLocks xmlns:a="http://schemas.openxmlformats.org/drawingml/2006/main" noGrp="1"/>
          </p:cNvSpPr>
          <p:nvPr/>
        </p:nvSpPr>
        <p:spPr>
          <a:xfrm xmlns:a="http://schemas.openxmlformats.org/drawingml/2006/main">
            <a:off x="1219200" y="1685925"/>
            <a:ext cx="323850" cy="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graphicFrame>
        <p:nvGraphicFramePr>
          <p:cNvPr id="27" name="Chart"/>
          <p:cNvGraphicFramePr/>
          <p:nvPr/>
        </p:nvGraphicFramePr>
        <p:xfrm>
          <a:off xmlns:a="http://schemas.openxmlformats.org/drawingml/2006/main" x="666750" y="2095500"/>
          <a:ext xmlns:a="http://schemas.openxmlformats.org/drawingml/2006/main" cx="6381750" cy="3333750"/>
        </p:xfrm>
        <a:graphic xmlns:a="http://schemas.openxmlformats.org/drawingml/2006/main">
          <a:graphicData uri="http://schemas.openxmlformats.org/drawingml/2006/chart">
            <c:chart xmlns:r="http://schemas.openxmlformats.org/officeDocument/2006/relationships" xmlns:c="http://schemas.openxmlformats.org/drawingml/2006/chart" r:id="Rd86dec42a5414606"/>
          </a:graphicData>
        </a:graphic>
      </p:graphicFrame>
      <p:sp>
        <p:nvSpPr>
          <p:cNvPr id="8" name="model-delta-0">
            <a:extLst xmlns:a="http://schemas.openxmlformats.org/drawingml/2006/main">
              <a:ext uri="{FF2B5EF4-FFF2-40B4-BE49-F238E27FC236}">
                <a16:creationId xmlns:a16="http://schemas.microsoft.com/office/drawing/2014/main" id="{C6A93F22-5F71-4094-8EB0-B7E74A4B4584}"/>
              </a:ext>
            </a:extLst>
          </p:cNvPr>
          <p:cNvSpPr>
            <a:spLocks xmlns:a="http://schemas.openxmlformats.org/drawingml/2006/main" noGrp="1"/>
          </p:cNvSpPr>
          <p:nvPr/>
        </p:nvSpPr>
        <p:spPr>
          <a:xfrm xmlns:a="http://schemas.openxmlformats.org/drawingml/2006/main">
            <a:off x="7620000" y="2095500"/>
            <a:ext cx="3714750" cy="933450"/>
          </a:xfrm>
          <a:prstGeom xmlns:a="http://schemas.openxmlformats.org/drawingml/2006/main" prst="roundRect">
            <a:avLst>
              <a:gd name="adj" fmla="val 16327"/>
            </a:avLst>
          </a:prstGeom>
          <a:solidFill xmlns:a="http://schemas.openxmlformats.org/drawingml/2006/main">
            <a:srgbClr val="F8FAFC"/>
          </a:solidFill>
          <a:ln xmlns:a="http://schemas.openxmlformats.org/drawingml/2006/main" w="9525">
            <a:solidFill>
              <a:srgbClr val="E2E8F0"/>
            </a:solidFill>
            <a:prstDash val="solid"/>
          </a:ln>
        </p:spPr>
      </p:sp>
      <p:sp>
        <p:nvSpPr>
          <p:cNvPr id="9" name="model-delta-value-0">
            <a:extLst xmlns:a="http://schemas.openxmlformats.org/drawingml/2006/main">
              <a:ext uri="{FF2B5EF4-FFF2-40B4-BE49-F238E27FC236}">
                <a16:creationId xmlns:a16="http://schemas.microsoft.com/office/drawing/2014/main" id="{740EEEAE-CCD7-4A0A-8850-85F303A1335D}"/>
              </a:ext>
            </a:extLst>
          </p:cNvPr>
          <p:cNvSpPr>
            <a:spLocks xmlns:a="http://schemas.openxmlformats.org/drawingml/2006/main" noGrp="1"/>
          </p:cNvSpPr>
          <p:nvPr/>
        </p:nvSpPr>
        <p:spPr>
          <a:xfrm xmlns:a="http://schemas.openxmlformats.org/drawingml/2006/main">
            <a:off x="7810500" y="225742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a:solidFill>
                  <a:srgbClr val="3B82F6"/>
                </a:solidFill>
                <a:latin typeface="DejaVu Sans"/>
                <a:ea typeface="DejaVu Sans"/>
                <a:cs typeface="DejaVu Sans"/>
              </a:defRPr>
            </a:pPr>
            <a:r>
              <a:rPr sz="2100" b="1">
                <a:solidFill>
                  <a:srgbClr val="3B82F6"/>
                </a:solidFill>
                <a:latin typeface="DejaVu Sans"/>
                <a:ea typeface="DejaVu Sans"/>
                <a:cs typeface="DejaVu Sans"/>
              </a:rPr>
              <a:t>+7.50</a:t>
            </a:r>
          </a:p>
        </p:txBody>
      </p:sp>
      <p:sp>
        <p:nvSpPr>
          <p:cNvPr id="10" name="model-delta-label-0">
            <a:extLst xmlns:a="http://schemas.openxmlformats.org/drawingml/2006/main">
              <a:ext uri="{FF2B5EF4-FFF2-40B4-BE49-F238E27FC236}">
                <a16:creationId xmlns:a16="http://schemas.microsoft.com/office/drawing/2014/main" id="{1FA8C7A2-DBD8-411B-9436-1F3C7DCACEF0}"/>
              </a:ext>
            </a:extLst>
          </p:cNvPr>
          <p:cNvSpPr>
            <a:spLocks xmlns:a="http://schemas.openxmlformats.org/drawingml/2006/main" noGrp="1"/>
          </p:cNvSpPr>
          <p:nvPr/>
        </p:nvSpPr>
        <p:spPr>
          <a:xfrm xmlns:a="http://schemas.openxmlformats.org/drawingml/2006/main">
            <a:off x="7810500" y="2676525"/>
            <a:ext cx="333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762"/>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Overall EM</a:t>
            </a:r>
          </a:p>
        </p:txBody>
      </p:sp>
      <p:sp>
        <p:nvSpPr>
          <p:cNvPr id="11" name="model-delta-1">
            <a:extLst xmlns:a="http://schemas.openxmlformats.org/drawingml/2006/main">
              <a:ext uri="{FF2B5EF4-FFF2-40B4-BE49-F238E27FC236}">
                <a16:creationId xmlns:a16="http://schemas.microsoft.com/office/drawing/2014/main" id="{7D533274-C840-48A4-9CD5-CDA17B371E5D}"/>
              </a:ext>
            </a:extLst>
          </p:cNvPr>
          <p:cNvSpPr>
            <a:spLocks xmlns:a="http://schemas.openxmlformats.org/drawingml/2006/main" noGrp="1"/>
          </p:cNvSpPr>
          <p:nvPr/>
        </p:nvSpPr>
        <p:spPr>
          <a:xfrm xmlns:a="http://schemas.openxmlformats.org/drawingml/2006/main">
            <a:off x="7620000" y="3238500"/>
            <a:ext cx="3714750" cy="933450"/>
          </a:xfrm>
          <a:prstGeom xmlns:a="http://schemas.openxmlformats.org/drawingml/2006/main" prst="roundRect">
            <a:avLst>
              <a:gd name="adj" fmla="val 16327"/>
            </a:avLst>
          </a:prstGeom>
          <a:solidFill xmlns:a="http://schemas.openxmlformats.org/drawingml/2006/main">
            <a:srgbClr val="F8FAFC"/>
          </a:solidFill>
          <a:ln xmlns:a="http://schemas.openxmlformats.org/drawingml/2006/main" w="9525">
            <a:solidFill>
              <a:srgbClr val="E2E8F0"/>
            </a:solidFill>
            <a:prstDash val="solid"/>
          </a:ln>
        </p:spPr>
      </p:sp>
      <p:sp>
        <p:nvSpPr>
          <p:cNvPr id="12" name="model-delta-value-1">
            <a:extLst xmlns:a="http://schemas.openxmlformats.org/drawingml/2006/main">
              <a:ext uri="{FF2B5EF4-FFF2-40B4-BE49-F238E27FC236}">
                <a16:creationId xmlns:a16="http://schemas.microsoft.com/office/drawing/2014/main" id="{73B26D73-C0D3-40CF-9BEC-D0DE7F8DFAED}"/>
              </a:ext>
            </a:extLst>
          </p:cNvPr>
          <p:cNvSpPr>
            <a:spLocks xmlns:a="http://schemas.openxmlformats.org/drawingml/2006/main" noGrp="1"/>
          </p:cNvSpPr>
          <p:nvPr/>
        </p:nvSpPr>
        <p:spPr>
          <a:xfrm xmlns:a="http://schemas.openxmlformats.org/drawingml/2006/main">
            <a:off x="7810500" y="340042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a:solidFill>
                  <a:srgbClr val="10B981"/>
                </a:solidFill>
                <a:latin typeface="DejaVu Sans"/>
                <a:ea typeface="DejaVu Sans"/>
                <a:cs typeface="DejaVu Sans"/>
              </a:defRPr>
            </a:pPr>
            <a:r>
              <a:rPr sz="2100" b="1">
                <a:solidFill>
                  <a:srgbClr val="10B981"/>
                </a:solidFill>
                <a:latin typeface="DejaVu Sans"/>
                <a:ea typeface="DejaVu Sans"/>
                <a:cs typeface="DejaVu Sans"/>
              </a:rPr>
              <a:t>+8.43</a:t>
            </a:r>
          </a:p>
        </p:txBody>
      </p:sp>
      <p:sp>
        <p:nvSpPr>
          <p:cNvPr id="13" name="model-delta-label-1">
            <a:extLst xmlns:a="http://schemas.openxmlformats.org/drawingml/2006/main">
              <a:ext uri="{FF2B5EF4-FFF2-40B4-BE49-F238E27FC236}">
                <a16:creationId xmlns:a16="http://schemas.microsoft.com/office/drawing/2014/main" id="{BB88363B-80F7-4D0E-8E6D-B8FFD73CC70C}"/>
              </a:ext>
            </a:extLst>
          </p:cNvPr>
          <p:cNvSpPr>
            <a:spLocks xmlns:a="http://schemas.openxmlformats.org/drawingml/2006/main" noGrp="1"/>
          </p:cNvSpPr>
          <p:nvPr/>
        </p:nvSpPr>
        <p:spPr>
          <a:xfrm xmlns:a="http://schemas.openxmlformats.org/drawingml/2006/main">
            <a:off x="7810500" y="3819525"/>
            <a:ext cx="333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762"/>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Overall Token F1</a:t>
            </a:r>
          </a:p>
        </p:txBody>
      </p:sp>
      <p:sp>
        <p:nvSpPr>
          <p:cNvPr id="14" name="model-delta-2">
            <a:extLst xmlns:a="http://schemas.openxmlformats.org/drawingml/2006/main">
              <a:ext uri="{FF2B5EF4-FFF2-40B4-BE49-F238E27FC236}">
                <a16:creationId xmlns:a16="http://schemas.microsoft.com/office/drawing/2014/main" id="{EF243C37-6F5D-43DD-9FE0-F009D94831D8}"/>
              </a:ext>
            </a:extLst>
          </p:cNvPr>
          <p:cNvSpPr>
            <a:spLocks xmlns:a="http://schemas.openxmlformats.org/drawingml/2006/main" noGrp="1"/>
          </p:cNvSpPr>
          <p:nvPr/>
        </p:nvSpPr>
        <p:spPr>
          <a:xfrm xmlns:a="http://schemas.openxmlformats.org/drawingml/2006/main">
            <a:off x="7620000" y="4381500"/>
            <a:ext cx="3714750" cy="933450"/>
          </a:xfrm>
          <a:prstGeom xmlns:a="http://schemas.openxmlformats.org/drawingml/2006/main" prst="roundRect">
            <a:avLst>
              <a:gd name="adj" fmla="val 16327"/>
            </a:avLst>
          </a:prstGeom>
          <a:solidFill xmlns:a="http://schemas.openxmlformats.org/drawingml/2006/main">
            <a:srgbClr val="F8FAFC"/>
          </a:solidFill>
          <a:ln xmlns:a="http://schemas.openxmlformats.org/drawingml/2006/main" w="9525">
            <a:solidFill>
              <a:srgbClr val="E2E8F0"/>
            </a:solidFill>
            <a:prstDash val="solid"/>
          </a:ln>
        </p:spPr>
      </p:sp>
      <p:sp>
        <p:nvSpPr>
          <p:cNvPr id="15" name="model-delta-value-2">
            <a:extLst xmlns:a="http://schemas.openxmlformats.org/drawingml/2006/main">
              <a:ext uri="{FF2B5EF4-FFF2-40B4-BE49-F238E27FC236}">
                <a16:creationId xmlns:a16="http://schemas.microsoft.com/office/drawing/2014/main" id="{1F3BF6B2-45FB-4A16-BBB7-A27AB52301B2}"/>
              </a:ext>
            </a:extLst>
          </p:cNvPr>
          <p:cNvSpPr>
            <a:spLocks xmlns:a="http://schemas.openxmlformats.org/drawingml/2006/main" noGrp="1"/>
          </p:cNvSpPr>
          <p:nvPr/>
        </p:nvSpPr>
        <p:spPr>
          <a:xfrm xmlns:a="http://schemas.openxmlformats.org/drawingml/2006/main">
            <a:off x="7810500" y="4543425"/>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a:solidFill>
                  <a:srgbClr val="10B981"/>
                </a:solidFill>
                <a:latin typeface="DejaVu Sans"/>
                <a:ea typeface="DejaVu Sans"/>
                <a:cs typeface="DejaVu Sans"/>
              </a:defRPr>
            </a:pPr>
            <a:r>
              <a:rPr sz="2100" b="1">
                <a:solidFill>
                  <a:srgbClr val="10B981"/>
                </a:solidFill>
                <a:latin typeface="DejaVu Sans"/>
                <a:ea typeface="DejaVu Sans"/>
                <a:cs typeface="DejaVu Sans"/>
              </a:rPr>
              <a:t>+22.50</a:t>
            </a:r>
          </a:p>
        </p:txBody>
      </p:sp>
      <p:sp>
        <p:nvSpPr>
          <p:cNvPr id="16" name="model-delta-label-2">
            <a:extLst xmlns:a="http://schemas.openxmlformats.org/drawingml/2006/main">
              <a:ext uri="{FF2B5EF4-FFF2-40B4-BE49-F238E27FC236}">
                <a16:creationId xmlns:a16="http://schemas.microsoft.com/office/drawing/2014/main" id="{A05752FD-C7E3-4AE3-B38D-545A8D933810}"/>
              </a:ext>
            </a:extLst>
          </p:cNvPr>
          <p:cNvSpPr>
            <a:spLocks xmlns:a="http://schemas.openxmlformats.org/drawingml/2006/main" noGrp="1"/>
          </p:cNvSpPr>
          <p:nvPr/>
        </p:nvSpPr>
        <p:spPr>
          <a:xfrm xmlns:a="http://schemas.openxmlformats.org/drawingml/2006/main">
            <a:off x="7810500" y="4962525"/>
            <a:ext cx="3333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762"/>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Unanswerable abstention</a:t>
            </a:r>
          </a:p>
        </p:txBody>
      </p:sp>
      <p:sp>
        <p:nvSpPr>
          <p:cNvPr id="17" name="model-transition-surface">
            <a:extLst xmlns:a="http://schemas.openxmlformats.org/drawingml/2006/main">
              <a:ext uri="{FF2B5EF4-FFF2-40B4-BE49-F238E27FC236}">
                <a16:creationId xmlns:a16="http://schemas.microsoft.com/office/drawing/2014/main" id="{39DD7797-3F77-4CF8-92B7-3D93EE3B6C22}"/>
              </a:ext>
            </a:extLst>
          </p:cNvPr>
          <p:cNvSpPr>
            <a:spLocks xmlns:a="http://schemas.openxmlformats.org/drawingml/2006/main" noGrp="1"/>
          </p:cNvSpPr>
          <p:nvPr/>
        </p:nvSpPr>
        <p:spPr>
          <a:xfrm xmlns:a="http://schemas.openxmlformats.org/drawingml/2006/main">
            <a:off x="7620000" y="5581650"/>
            <a:ext cx="37147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E2E8F0"/>
            </a:solidFill>
            <a:prstDash val="solid"/>
          </a:ln>
        </p:spPr>
      </p:sp>
      <p:sp>
        <p:nvSpPr>
          <p:cNvPr id="18" name="model-transition-accent">
            <a:extLst xmlns:a="http://schemas.openxmlformats.org/drawingml/2006/main">
              <a:ext uri="{FF2B5EF4-FFF2-40B4-BE49-F238E27FC236}">
                <a16:creationId xmlns:a16="http://schemas.microsoft.com/office/drawing/2014/main" id="{CDB17C19-DB50-46C0-857B-C783ECB4206D}"/>
              </a:ext>
            </a:extLst>
          </p:cNvPr>
          <p:cNvSpPr>
            <a:spLocks xmlns:a="http://schemas.openxmlformats.org/drawingml/2006/main" noGrp="1"/>
          </p:cNvSpPr>
          <p:nvPr/>
        </p:nvSpPr>
        <p:spPr>
          <a:xfrm xmlns:a="http://schemas.openxmlformats.org/drawingml/2006/main">
            <a:off x="7620000" y="5581650"/>
            <a:ext cx="76200" cy="62865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19" name="model-transition-text">
            <a:extLst xmlns:a="http://schemas.openxmlformats.org/drawingml/2006/main">
              <a:ext uri="{FF2B5EF4-FFF2-40B4-BE49-F238E27FC236}">
                <a16:creationId xmlns:a16="http://schemas.microsoft.com/office/drawing/2014/main" id="{FF89D6DE-2682-4106-BDE5-3C571537B71E}"/>
              </a:ext>
            </a:extLst>
          </p:cNvPr>
          <p:cNvSpPr>
            <a:spLocks xmlns:a="http://schemas.openxmlformats.org/drawingml/2006/main" noGrp="1"/>
          </p:cNvSpPr>
          <p:nvPr/>
        </p:nvSpPr>
        <p:spPr>
          <a:xfrm xmlns:a="http://schemas.openxmlformats.org/drawingml/2006/main">
            <a:off x="7924800" y="5791200"/>
            <a:ext cx="31242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583"/>
          </a:bodyPr>
          <a:lstStyle xmlns:a="http://schemas.openxmlformats.org/drawingml/2006/main"/>
          <a:p xmlns:a="http://schemas.openxmlformats.org/drawingml/2006/main">
            <a:pPr algn="l">
              <a:defRPr sz="1500" b="1">
                <a:solidFill>
                  <a:srgbClr val="1E293B"/>
                </a:solidFill>
                <a:latin typeface="DejaVu Sans"/>
                <a:ea typeface="DejaVu Sans"/>
                <a:cs typeface="DejaVu Sans"/>
              </a:defRPr>
            </a:pPr>
            <a:r>
              <a:rPr sz="1500" b="1">
                <a:solidFill>
                  <a:srgbClr val="1E293B"/>
                </a:solidFill>
                <a:latin typeface="DejaVu Sans"/>
                <a:ea typeface="DejaVu Sans"/>
                <a:cs typeface="DejaVu Sans"/>
              </a:rPr>
              <a:t>9 new abstentions, none lost; retrieval stayed exactly unchanged.</a:t>
            </a:r>
          </a:p>
        </p:txBody>
      </p:sp>
      <p:sp>
        <p:nvSpPr>
          <p:cNvPr id="20" name="footer-9">
            <a:extLst xmlns:a="http://schemas.openxmlformats.org/drawingml/2006/main">
              <a:ext uri="{FF2B5EF4-FFF2-40B4-BE49-F238E27FC236}">
                <a16:creationId xmlns:a16="http://schemas.microsoft.com/office/drawing/2014/main" id="{E340979B-A52F-4CF2-BF69-CBDCB2F081A6}"/>
              </a:ext>
            </a:extLst>
          </p:cNvPr>
          <p:cNvSpPr>
            <a:spLocks xmlns:a="http://schemas.openxmlformats.org/drawingml/2006/main" noGrp="1"/>
          </p:cNvSpPr>
          <p:nvPr/>
        </p:nvSpPr>
        <p:spPr>
          <a:xfrm xmlns:a="http://schemas.openxmlformats.org/drawingml/2006/main">
            <a:off x="5619750" y="65341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4748B"/>
                </a:solidFill>
                <a:latin typeface="DejaVu Sans"/>
                <a:ea typeface="DejaVu Sans"/>
                <a:cs typeface="DejaVu Sans"/>
              </a:defRPr>
            </a:pPr>
            <a:r>
              <a:rPr sz="750" b="0">
                <a:solidFill>
                  <a:srgbClr val="64748B"/>
                </a:solidFill>
                <a:latin typeface="DejaVu Sans"/>
                <a:ea typeface="DejaVu Sans"/>
                <a:cs typeface="DejaVu Sans"/>
              </a:rPr>
              <a:t>9 / 11</a:t>
            </a:r>
          </a:p>
        </p:txBody>
      </p:sp>
    </p:spTree>
    <p:extLst>
      <p:ext uri="{BB962C8B-B14F-4D97-AF65-F5344CB8AC3E}">
        <p14:creationId xmlns:p14="http://schemas.microsoft.com/office/powerpoint/2010/main" val="626149710"/>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section-pill-9">
            <a:extLst xmlns:a="http://schemas.openxmlformats.org/drawingml/2006/main">
              <a:ext uri="{FF2B5EF4-FFF2-40B4-BE49-F238E27FC236}">
                <a16:creationId xmlns:a16="http://schemas.microsoft.com/office/drawing/2014/main" id="{73D31250-FA71-43AB-9CA1-E9ECC119CD16}"/>
              </a:ext>
            </a:extLst>
          </p:cNvPr>
          <p:cNvSpPr>
            <a:spLocks xmlns:a="http://schemas.openxmlformats.org/drawingml/2006/main" noGrp="1"/>
          </p:cNvSpPr>
          <p:nvPr/>
        </p:nvSpPr>
        <p:spPr>
          <a:xfrm xmlns:a="http://schemas.openxmlformats.org/drawingml/2006/main">
            <a:off x="666750" y="323850"/>
            <a:ext cx="1285875" cy="304800"/>
          </a:xfrm>
          <a:prstGeom xmlns:a="http://schemas.openxmlformats.org/drawingml/2006/main" prst="roundRect">
            <a:avLst>
              <a:gd name="adj" fmla="val 18750"/>
            </a:avLst>
          </a:prstGeom>
          <a:solidFill xmlns:a="http://schemas.openxmlformats.org/drawingml/2006/main">
            <a:srgbClr val="EFF6FF"/>
          </a:solidFill>
          <a:ln xmlns:a="http://schemas.openxmlformats.org/drawingml/2006/main" w="0">
            <a:noFill/>
            <a:prstDash val="solid"/>
          </a:ln>
        </p:spPr>
      </p:sp>
      <p:sp>
        <p:nvSpPr>
          <p:cNvPr id="2" name="section-label-9">
            <a:extLst xmlns:a="http://schemas.openxmlformats.org/drawingml/2006/main">
              <a:ext uri="{FF2B5EF4-FFF2-40B4-BE49-F238E27FC236}">
                <a16:creationId xmlns:a16="http://schemas.microsoft.com/office/drawing/2014/main" id="{4C1E0E9F-2E42-45A1-9BB8-6C3D4A0407EF}"/>
              </a:ext>
            </a:extLst>
          </p:cNvPr>
          <p:cNvSpPr>
            <a:spLocks xmlns:a="http://schemas.openxmlformats.org/drawingml/2006/main" noGrp="1"/>
          </p:cNvSpPr>
          <p:nvPr/>
        </p:nvSpPr>
        <p:spPr>
          <a:xfrm xmlns:a="http://schemas.openxmlformats.org/drawingml/2006/main">
            <a:off x="666750" y="371475"/>
            <a:ext cx="1285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p xmlns:a="http://schemas.openxmlformats.org/drawingml/2006/main">
            <a:pPr algn="ctr">
              <a:defRPr sz="1050" b="1">
                <a:solidFill>
                  <a:srgbClr val="3B82F6"/>
                </a:solidFill>
                <a:latin typeface="DejaVu Sans"/>
                <a:ea typeface="DejaVu Sans"/>
                <a:cs typeface="DejaVu Sans"/>
              </a:defRPr>
            </a:pPr>
            <a:r>
              <a:rPr sz="1050" b="1">
                <a:solidFill>
                  <a:srgbClr val="3B82F6"/>
                </a:solidFill>
                <a:latin typeface="DejaVu Sans"/>
                <a:ea typeface="DejaVu Sans"/>
                <a:cs typeface="DejaVu Sans"/>
              </a:rPr>
              <a:t>SECTION 9</a:t>
            </a:r>
          </a:p>
        </p:txBody>
      </p:sp>
      <p:sp>
        <p:nvSpPr>
          <p:cNvPr id="3" name="title-9">
            <a:extLst xmlns:a="http://schemas.openxmlformats.org/drawingml/2006/main">
              <a:ext uri="{FF2B5EF4-FFF2-40B4-BE49-F238E27FC236}">
                <a16:creationId xmlns:a16="http://schemas.microsoft.com/office/drawing/2014/main" id="{6F559F52-C089-4CBD-8CF2-3759D6320B1A}"/>
              </a:ext>
            </a:extLst>
          </p:cNvPr>
          <p:cNvSpPr>
            <a:spLocks xmlns:a="http://schemas.openxmlformats.org/drawingml/2006/main" noGrp="1"/>
          </p:cNvSpPr>
          <p:nvPr/>
        </p:nvSpPr>
        <p:spPr>
          <a:xfrm xmlns:a="http://schemas.openxmlformats.org/drawingml/2006/main">
            <a:off x="666750" y="78105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798"/>
          </a:bodyPr>
          <a:lstStyle xmlns:a="http://schemas.openxmlformats.org/drawingml/2006/main"/>
          <a:p xmlns:a="http://schemas.openxmlformats.org/drawingml/2006/main">
            <a:pPr algn="l">
              <a:defRPr sz="3225" b="1">
                <a:solidFill>
                  <a:srgbClr val="1E293B"/>
                </a:solidFill>
                <a:latin typeface="DejaVu Sans"/>
                <a:ea typeface="DejaVu Sans"/>
                <a:cs typeface="DejaVu Sans"/>
              </a:defRPr>
            </a:pPr>
            <a:r>
              <a:rPr sz="3225" b="1">
                <a:solidFill>
                  <a:srgbClr val="1E293B"/>
                </a:solidFill>
                <a:latin typeface="DejaVu Sans"/>
                <a:ea typeface="DejaVu Sans"/>
                <a:cs typeface="DejaVu Sans"/>
              </a:rPr>
              <a:t>A Strict Prompt Adds a Small Trade-off</a:t>
            </a:r>
          </a:p>
        </p:txBody>
      </p:sp>
      <p:sp>
        <p:nvSpPr>
          <p:cNvPr id="4" name="subtitle-9">
            <a:extLst xmlns:a="http://schemas.openxmlformats.org/drawingml/2006/main">
              <a:ext uri="{FF2B5EF4-FFF2-40B4-BE49-F238E27FC236}">
                <a16:creationId xmlns:a16="http://schemas.microsoft.com/office/drawing/2014/main" id="{7ECDF4C6-AB47-4C5E-A20E-6719C0BB4C54}"/>
              </a:ext>
            </a:extLst>
          </p:cNvPr>
          <p:cNvSpPr>
            <a:spLocks xmlns:a="http://schemas.openxmlformats.org/drawingml/2006/main" noGrp="1"/>
          </p:cNvSpPr>
          <p:nvPr/>
        </p:nvSpPr>
        <p:spPr>
          <a:xfrm xmlns:a="http://schemas.openxmlformats.org/drawingml/2006/main">
            <a:off x="666750" y="13620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p xmlns:a="http://schemas.openxmlformats.org/drawingml/2006/main">
            <a:pPr algn="l">
              <a:defRPr sz="1125" b="0">
                <a:solidFill>
                  <a:srgbClr val="94A3B8"/>
                </a:solidFill>
                <a:latin typeface="DejaVu Sans"/>
                <a:ea typeface="DejaVu Sans"/>
                <a:cs typeface="DejaVu Sans"/>
              </a:defRPr>
            </a:pPr>
            <a:r>
              <a:rPr sz="1125" b="0">
                <a:solidFill>
                  <a:srgbClr val="94A3B8"/>
                </a:solidFill>
                <a:latin typeface="DejaVu Sans"/>
                <a:ea typeface="DejaVu Sans"/>
                <a:cs typeface="DejaVu Sans"/>
              </a:rPr>
              <a:t>Abstention improves slightly while answerable F1 declines by 0.25 points</a:t>
            </a:r>
          </a:p>
        </p:txBody>
      </p:sp>
      <p:sp>
        <p:nvSpPr>
          <p:cNvPr id="5" name="blue-rule-9">
            <a:extLst xmlns:a="http://schemas.openxmlformats.org/drawingml/2006/main">
              <a:ext uri="{FF2B5EF4-FFF2-40B4-BE49-F238E27FC236}">
                <a16:creationId xmlns:a16="http://schemas.microsoft.com/office/drawing/2014/main" id="{700FE203-7D50-4DA8-85D5-F5D763DA5C82}"/>
              </a:ext>
            </a:extLst>
          </p:cNvPr>
          <p:cNvSpPr>
            <a:spLocks xmlns:a="http://schemas.openxmlformats.org/drawingml/2006/main" noGrp="1"/>
          </p:cNvSpPr>
          <p:nvPr/>
        </p:nvSpPr>
        <p:spPr>
          <a:xfrm xmlns:a="http://schemas.openxmlformats.org/drawingml/2006/main">
            <a:off x="666750" y="1685925"/>
            <a:ext cx="552450" cy="0"/>
          </a:xfrm>
          <a:prstGeom xmlns:a="http://schemas.openxmlformats.org/drawingml/2006/main" prst="line">
            <a:avLst/>
          </a:prstGeom>
          <a:noFill xmlns:a="http://schemas.openxmlformats.org/drawingml/2006/main"/>
          <a:ln xmlns:a="http://schemas.openxmlformats.org/drawingml/2006/main" w="28575">
            <a:solidFill>
              <a:srgbClr val="3B82F6"/>
            </a:solidFill>
            <a:prstDash val="solid"/>
          </a:ln>
        </p:spPr>
      </p:sp>
      <p:sp>
        <p:nvSpPr>
          <p:cNvPr id="6" name="green-rule-9">
            <a:extLst xmlns:a="http://schemas.openxmlformats.org/drawingml/2006/main">
              <a:ext uri="{FF2B5EF4-FFF2-40B4-BE49-F238E27FC236}">
                <a16:creationId xmlns:a16="http://schemas.microsoft.com/office/drawing/2014/main" id="{1ABC9BB9-0790-44A1-81AF-1A597EC69808}"/>
              </a:ext>
            </a:extLst>
          </p:cNvPr>
          <p:cNvSpPr>
            <a:spLocks xmlns:a="http://schemas.openxmlformats.org/drawingml/2006/main" noGrp="1"/>
          </p:cNvSpPr>
          <p:nvPr/>
        </p:nvSpPr>
        <p:spPr>
          <a:xfrm xmlns:a="http://schemas.openxmlformats.org/drawingml/2006/main">
            <a:off x="1219200" y="1685925"/>
            <a:ext cx="323850" cy="0"/>
          </a:xfrm>
          <a:prstGeom xmlns:a="http://schemas.openxmlformats.org/drawingml/2006/main" prst="line">
            <a:avLst/>
          </a:prstGeom>
          <a:noFill xmlns:a="http://schemas.openxmlformats.org/drawingml/2006/main"/>
          <a:ln xmlns:a="http://schemas.openxmlformats.org/drawingml/2006/main" w="28575">
            <a:solidFill>
              <a:srgbClr val="10B981"/>
            </a:solidFill>
            <a:prstDash val="solid"/>
          </a:ln>
        </p:spPr>
      </p:sp>
      <p:sp>
        <p:nvSpPr>
          <p:cNvPr id="7" name="bonus-chart-title">
            <a:extLst xmlns:a="http://schemas.openxmlformats.org/drawingml/2006/main">
              <a:ext uri="{FF2B5EF4-FFF2-40B4-BE49-F238E27FC236}">
                <a16:creationId xmlns:a16="http://schemas.microsoft.com/office/drawing/2014/main" id="{9FC34F30-F7CF-48A3-BC7B-0CD912AD00CA}"/>
              </a:ext>
            </a:extLst>
          </p:cNvPr>
          <p:cNvSpPr>
            <a:spLocks xmlns:a="http://schemas.openxmlformats.org/drawingml/2006/main" noGrp="1"/>
          </p:cNvSpPr>
          <p:nvPr/>
        </p:nvSpPr>
        <p:spPr>
          <a:xfrm xmlns:a="http://schemas.openxmlformats.org/drawingml/2006/main">
            <a:off x="666750" y="18573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ctr">
              <a:defRPr sz="1350" b="1">
                <a:solidFill>
                  <a:srgbClr val="1E293B"/>
                </a:solidFill>
                <a:latin typeface="DejaVu Sans"/>
                <a:ea typeface="DejaVu Sans"/>
                <a:cs typeface="DejaVu Sans"/>
              </a:defRPr>
            </a:pPr>
            <a:r>
              <a:rPr sz="1350" b="1">
                <a:solidFill>
                  <a:srgbClr val="1E293B"/>
                </a:solidFill>
                <a:latin typeface="DejaVu Sans"/>
                <a:ea typeface="DejaVu Sans"/>
                <a:cs typeface="DejaVu Sans"/>
              </a:rPr>
              <a:t>Answerable F1 by Top-1 similarity group</a:t>
            </a:r>
          </a:p>
        </p:txBody>
      </p:sp>
      <p:graphicFrame>
        <p:nvGraphicFramePr>
          <p:cNvPr id="32" name="Chart"/>
          <p:cNvGraphicFramePr/>
          <p:nvPr/>
        </p:nvGraphicFramePr>
        <p:xfrm>
          <a:off xmlns:a="http://schemas.openxmlformats.org/drawingml/2006/main" x="666750" y="2190750"/>
          <a:ext xmlns:a="http://schemas.openxmlformats.org/drawingml/2006/main" cx="6191250" cy="3238500"/>
        </p:xfrm>
        <a:graphic xmlns:a="http://schemas.openxmlformats.org/drawingml/2006/main">
          <a:graphicData uri="http://schemas.openxmlformats.org/drawingml/2006/chart">
            <c:chart xmlns:r="http://schemas.openxmlformats.org/officeDocument/2006/relationships" xmlns:c="http://schemas.openxmlformats.org/drawingml/2006/chart" r:id="Ra55a40a645e44489"/>
          </a:graphicData>
        </a:graphic>
      </p:graphicFrame>
      <p:sp>
        <p:nvSpPr>
          <p:cNvPr id="9" name="similarity-caveat-surface">
            <a:extLst xmlns:a="http://schemas.openxmlformats.org/drawingml/2006/main">
              <a:ext uri="{FF2B5EF4-FFF2-40B4-BE49-F238E27FC236}">
                <a16:creationId xmlns:a16="http://schemas.microsoft.com/office/drawing/2014/main" id="{703546D7-C2D4-4BA8-86DB-8986A49C5652}"/>
              </a:ext>
            </a:extLst>
          </p:cNvPr>
          <p:cNvSpPr>
            <a:spLocks xmlns:a="http://schemas.openxmlformats.org/drawingml/2006/main" noGrp="1"/>
          </p:cNvSpPr>
          <p:nvPr/>
        </p:nvSpPr>
        <p:spPr>
          <a:xfrm xmlns:a="http://schemas.openxmlformats.org/drawingml/2006/main">
            <a:off x="666750" y="5581650"/>
            <a:ext cx="619125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E2E8F0"/>
            </a:solidFill>
            <a:prstDash val="solid"/>
          </a:ln>
        </p:spPr>
      </p:sp>
      <p:sp>
        <p:nvSpPr>
          <p:cNvPr id="10" name="similarity-caveat-accent">
            <a:extLst xmlns:a="http://schemas.openxmlformats.org/drawingml/2006/main">
              <a:ext uri="{FF2B5EF4-FFF2-40B4-BE49-F238E27FC236}">
                <a16:creationId xmlns:a16="http://schemas.microsoft.com/office/drawing/2014/main" id="{0A1C60BA-0766-45A7-A981-C825CE041E20}"/>
              </a:ext>
            </a:extLst>
          </p:cNvPr>
          <p:cNvSpPr>
            <a:spLocks xmlns:a="http://schemas.openxmlformats.org/drawingml/2006/main" noGrp="1"/>
          </p:cNvSpPr>
          <p:nvPr/>
        </p:nvSpPr>
        <p:spPr>
          <a:xfrm xmlns:a="http://schemas.openxmlformats.org/drawingml/2006/main">
            <a:off x="666750" y="5581650"/>
            <a:ext cx="76200" cy="6286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11" name="similarity-caveat-text">
            <a:extLst xmlns:a="http://schemas.openxmlformats.org/drawingml/2006/main">
              <a:ext uri="{FF2B5EF4-FFF2-40B4-BE49-F238E27FC236}">
                <a16:creationId xmlns:a16="http://schemas.microsoft.com/office/drawing/2014/main" id="{75593E03-4B85-4DAA-A232-3F335F8487C2}"/>
              </a:ext>
            </a:extLst>
          </p:cNvPr>
          <p:cNvSpPr>
            <a:spLocks xmlns:a="http://schemas.openxmlformats.org/drawingml/2006/main" noGrp="1"/>
          </p:cNvSpPr>
          <p:nvPr/>
        </p:nvSpPr>
        <p:spPr>
          <a:xfrm xmlns:a="http://schemas.openxmlformats.org/drawingml/2006/main">
            <a:off x="971550" y="5791200"/>
            <a:ext cx="5600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217"/>
          </a:bodyPr>
          <a:lstStyle xmlns:a="http://schemas.openxmlformats.org/drawingml/2006/main"/>
          <a:p xmlns:a="http://schemas.openxmlformats.org/drawingml/2006/main">
            <a:pPr algn="l">
              <a:defRPr sz="1500" b="1">
                <a:solidFill>
                  <a:srgbClr val="1E293B"/>
                </a:solidFill>
                <a:latin typeface="DejaVu Sans"/>
                <a:ea typeface="DejaVu Sans"/>
                <a:cs typeface="DejaVu Sans"/>
              </a:defRPr>
            </a:pPr>
            <a:r>
              <a:rPr sz="1500" b="1">
                <a:solidFill>
                  <a:srgbClr val="1E293B"/>
                </a:solidFill>
                <a:latin typeface="DejaVu Sans"/>
                <a:ea typeface="DejaVu Sans"/>
                <a:cs typeface="DejaVu Sans"/>
              </a:rPr>
              <a:t>Similarity is descriptive—not a calibrated confidence threshold.</a:t>
            </a:r>
          </a:p>
        </p:txBody>
      </p:sp>
      <p:sp>
        <p:nvSpPr>
          <p:cNvPr id="12" name="bonus-metric-0">
            <a:extLst xmlns:a="http://schemas.openxmlformats.org/drawingml/2006/main">
              <a:ext uri="{FF2B5EF4-FFF2-40B4-BE49-F238E27FC236}">
                <a16:creationId xmlns:a16="http://schemas.microsoft.com/office/drawing/2014/main" id="{782EE4AC-8926-4F0D-A575-1AB122B75FA6}"/>
              </a:ext>
            </a:extLst>
          </p:cNvPr>
          <p:cNvSpPr>
            <a:spLocks xmlns:a="http://schemas.openxmlformats.org/drawingml/2006/main" noGrp="1"/>
          </p:cNvSpPr>
          <p:nvPr/>
        </p:nvSpPr>
        <p:spPr>
          <a:xfrm xmlns:a="http://schemas.openxmlformats.org/drawingml/2006/main">
            <a:off x="7524750" y="2095500"/>
            <a:ext cx="3810000" cy="933450"/>
          </a:xfrm>
          <a:prstGeom xmlns:a="http://schemas.openxmlformats.org/drawingml/2006/main" prst="roundRect">
            <a:avLst>
              <a:gd name="adj" fmla="val 16327"/>
            </a:avLst>
          </a:prstGeom>
          <a:solidFill xmlns:a="http://schemas.openxmlformats.org/drawingml/2006/main">
            <a:srgbClr val="F8FAFC"/>
          </a:solidFill>
          <a:ln xmlns:a="http://schemas.openxmlformats.org/drawingml/2006/main" w="9525">
            <a:solidFill>
              <a:srgbClr val="E2E8F0"/>
            </a:solidFill>
            <a:prstDash val="solid"/>
          </a:ln>
        </p:spPr>
      </p:sp>
      <p:sp>
        <p:nvSpPr>
          <p:cNvPr id="13" name="bonus-metric-value-0">
            <a:extLst xmlns:a="http://schemas.openxmlformats.org/drawingml/2006/main">
              <a:ext uri="{FF2B5EF4-FFF2-40B4-BE49-F238E27FC236}">
                <a16:creationId xmlns:a16="http://schemas.microsoft.com/office/drawing/2014/main" id="{CAA53680-8C3B-403C-BFCA-D3100FCBB8BC}"/>
              </a:ext>
            </a:extLst>
          </p:cNvPr>
          <p:cNvSpPr>
            <a:spLocks xmlns:a="http://schemas.openxmlformats.org/drawingml/2006/main" noGrp="1"/>
          </p:cNvSpPr>
          <p:nvPr/>
        </p:nvSpPr>
        <p:spPr>
          <a:xfrm xmlns:a="http://schemas.openxmlformats.org/drawingml/2006/main">
            <a:off x="7715250" y="22574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a:solidFill>
                  <a:srgbClr val="3B82F6"/>
                </a:solidFill>
                <a:latin typeface="DejaVu Sans"/>
                <a:ea typeface="DejaVu Sans"/>
                <a:cs typeface="DejaVu Sans"/>
              </a:defRPr>
            </a:pPr>
            <a:r>
              <a:rPr sz="2100" b="1">
                <a:solidFill>
                  <a:srgbClr val="3B82F6"/>
                </a:solidFill>
                <a:latin typeface="DejaVu Sans"/>
                <a:ea typeface="DejaVu Sans"/>
                <a:cs typeface="DejaVu Sans"/>
              </a:rPr>
              <a:t>50.83 → 51.67</a:t>
            </a:r>
          </a:p>
        </p:txBody>
      </p:sp>
      <p:sp>
        <p:nvSpPr>
          <p:cNvPr id="14" name="bonus-metric-label-0">
            <a:extLst xmlns:a="http://schemas.openxmlformats.org/drawingml/2006/main">
              <a:ext uri="{FF2B5EF4-FFF2-40B4-BE49-F238E27FC236}">
                <a16:creationId xmlns:a16="http://schemas.microsoft.com/office/drawing/2014/main" id="{801CC30F-5CC0-4D3B-97A7-CE87640949FB}"/>
              </a:ext>
            </a:extLst>
          </p:cNvPr>
          <p:cNvSpPr>
            <a:spLocks xmlns:a="http://schemas.openxmlformats.org/drawingml/2006/main" noGrp="1"/>
          </p:cNvSpPr>
          <p:nvPr/>
        </p:nvSpPr>
        <p:spPr>
          <a:xfrm xmlns:a="http://schemas.openxmlformats.org/drawingml/2006/main">
            <a:off x="7715250" y="2676525"/>
            <a:ext cx="3429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762"/>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Overall Exact Match</a:t>
            </a:r>
          </a:p>
        </p:txBody>
      </p:sp>
      <p:sp>
        <p:nvSpPr>
          <p:cNvPr id="15" name="bonus-metric-1">
            <a:extLst xmlns:a="http://schemas.openxmlformats.org/drawingml/2006/main">
              <a:ext uri="{FF2B5EF4-FFF2-40B4-BE49-F238E27FC236}">
                <a16:creationId xmlns:a16="http://schemas.microsoft.com/office/drawing/2014/main" id="{64773BE7-2213-4306-BB21-4075989C2A89}"/>
              </a:ext>
            </a:extLst>
          </p:cNvPr>
          <p:cNvSpPr>
            <a:spLocks xmlns:a="http://schemas.openxmlformats.org/drawingml/2006/main" noGrp="1"/>
          </p:cNvSpPr>
          <p:nvPr/>
        </p:nvSpPr>
        <p:spPr>
          <a:xfrm xmlns:a="http://schemas.openxmlformats.org/drawingml/2006/main">
            <a:off x="7524750" y="3238500"/>
            <a:ext cx="3810000" cy="933450"/>
          </a:xfrm>
          <a:prstGeom xmlns:a="http://schemas.openxmlformats.org/drawingml/2006/main" prst="roundRect">
            <a:avLst>
              <a:gd name="adj" fmla="val 16327"/>
            </a:avLst>
          </a:prstGeom>
          <a:solidFill xmlns:a="http://schemas.openxmlformats.org/drawingml/2006/main">
            <a:srgbClr val="F8FAFC"/>
          </a:solidFill>
          <a:ln xmlns:a="http://schemas.openxmlformats.org/drawingml/2006/main" w="9525">
            <a:solidFill>
              <a:srgbClr val="E2E8F0"/>
            </a:solidFill>
            <a:prstDash val="solid"/>
          </a:ln>
        </p:spPr>
      </p:sp>
      <p:sp>
        <p:nvSpPr>
          <p:cNvPr id="16" name="bonus-metric-value-1">
            <a:extLst xmlns:a="http://schemas.openxmlformats.org/drawingml/2006/main">
              <a:ext uri="{FF2B5EF4-FFF2-40B4-BE49-F238E27FC236}">
                <a16:creationId xmlns:a16="http://schemas.microsoft.com/office/drawing/2014/main" id="{0A908A94-CEBB-4519-8362-6961C3F3BA59}"/>
              </a:ext>
            </a:extLst>
          </p:cNvPr>
          <p:cNvSpPr>
            <a:spLocks xmlns:a="http://schemas.openxmlformats.org/drawingml/2006/main" noGrp="1"/>
          </p:cNvSpPr>
          <p:nvPr/>
        </p:nvSpPr>
        <p:spPr>
          <a:xfrm xmlns:a="http://schemas.openxmlformats.org/drawingml/2006/main">
            <a:off x="7715250" y="34004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a:solidFill>
                  <a:srgbClr val="10B981"/>
                </a:solidFill>
                <a:latin typeface="DejaVu Sans"/>
                <a:ea typeface="DejaVu Sans"/>
                <a:cs typeface="DejaVu Sans"/>
              </a:defRPr>
            </a:pPr>
            <a:r>
              <a:rPr sz="2100" b="1">
                <a:solidFill>
                  <a:srgbClr val="10B981"/>
                </a:solidFill>
                <a:latin typeface="DejaVu Sans"/>
                <a:ea typeface="DejaVu Sans"/>
                <a:cs typeface="DejaVu Sans"/>
              </a:rPr>
              <a:t>59.09 → 60.59</a:t>
            </a:r>
          </a:p>
        </p:txBody>
      </p:sp>
      <p:sp>
        <p:nvSpPr>
          <p:cNvPr id="17" name="bonus-metric-label-1">
            <a:extLst xmlns:a="http://schemas.openxmlformats.org/drawingml/2006/main">
              <a:ext uri="{FF2B5EF4-FFF2-40B4-BE49-F238E27FC236}">
                <a16:creationId xmlns:a16="http://schemas.microsoft.com/office/drawing/2014/main" id="{03951C26-3F35-4083-A526-CA4E5ECB54F7}"/>
              </a:ext>
            </a:extLst>
          </p:cNvPr>
          <p:cNvSpPr>
            <a:spLocks xmlns:a="http://schemas.openxmlformats.org/drawingml/2006/main" noGrp="1"/>
          </p:cNvSpPr>
          <p:nvPr/>
        </p:nvSpPr>
        <p:spPr>
          <a:xfrm xmlns:a="http://schemas.openxmlformats.org/drawingml/2006/main">
            <a:off x="7715250" y="3819525"/>
            <a:ext cx="3429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762"/>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Overall Token F1</a:t>
            </a:r>
          </a:p>
        </p:txBody>
      </p:sp>
      <p:sp>
        <p:nvSpPr>
          <p:cNvPr id="18" name="bonus-metric-2">
            <a:extLst xmlns:a="http://schemas.openxmlformats.org/drawingml/2006/main">
              <a:ext uri="{FF2B5EF4-FFF2-40B4-BE49-F238E27FC236}">
                <a16:creationId xmlns:a16="http://schemas.microsoft.com/office/drawing/2014/main" id="{DECAB7B4-727E-413F-85DD-1FF13C112B5A}"/>
              </a:ext>
            </a:extLst>
          </p:cNvPr>
          <p:cNvSpPr>
            <a:spLocks xmlns:a="http://schemas.openxmlformats.org/drawingml/2006/main" noGrp="1"/>
          </p:cNvSpPr>
          <p:nvPr/>
        </p:nvSpPr>
        <p:spPr>
          <a:xfrm xmlns:a="http://schemas.openxmlformats.org/drawingml/2006/main">
            <a:off x="7524750" y="4381500"/>
            <a:ext cx="3810000" cy="933450"/>
          </a:xfrm>
          <a:prstGeom xmlns:a="http://schemas.openxmlformats.org/drawingml/2006/main" prst="roundRect">
            <a:avLst>
              <a:gd name="adj" fmla="val 16327"/>
            </a:avLst>
          </a:prstGeom>
          <a:solidFill xmlns:a="http://schemas.openxmlformats.org/drawingml/2006/main">
            <a:srgbClr val="F8FAFC"/>
          </a:solidFill>
          <a:ln xmlns:a="http://schemas.openxmlformats.org/drawingml/2006/main" w="9525">
            <a:solidFill>
              <a:srgbClr val="E2E8F0"/>
            </a:solidFill>
            <a:prstDash val="solid"/>
          </a:ln>
        </p:spPr>
      </p:sp>
      <p:sp>
        <p:nvSpPr>
          <p:cNvPr id="19" name="bonus-metric-value-2">
            <a:extLst xmlns:a="http://schemas.openxmlformats.org/drawingml/2006/main">
              <a:ext uri="{FF2B5EF4-FFF2-40B4-BE49-F238E27FC236}">
                <a16:creationId xmlns:a16="http://schemas.microsoft.com/office/drawing/2014/main" id="{BB3331EF-D73D-4FAF-B7AA-32D7CD78F4D3}"/>
              </a:ext>
            </a:extLst>
          </p:cNvPr>
          <p:cNvSpPr>
            <a:spLocks xmlns:a="http://schemas.openxmlformats.org/drawingml/2006/main" noGrp="1"/>
          </p:cNvSpPr>
          <p:nvPr/>
        </p:nvSpPr>
        <p:spPr>
          <a:xfrm xmlns:a="http://schemas.openxmlformats.org/drawingml/2006/main">
            <a:off x="7715250" y="454342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ctr">
              <a:defRPr sz="2100" b="1">
                <a:solidFill>
                  <a:srgbClr val="10B981"/>
                </a:solidFill>
                <a:latin typeface="DejaVu Sans"/>
                <a:ea typeface="DejaVu Sans"/>
                <a:cs typeface="DejaVu Sans"/>
              </a:defRPr>
            </a:pPr>
            <a:r>
              <a:rPr sz="2100" b="1">
                <a:solidFill>
                  <a:srgbClr val="10B981"/>
                </a:solidFill>
                <a:latin typeface="DejaVu Sans"/>
                <a:ea typeface="DejaVu Sans"/>
                <a:cs typeface="DejaVu Sans"/>
              </a:rPr>
              <a:t>25.00 → 30.00</a:t>
            </a:r>
          </a:p>
        </p:txBody>
      </p:sp>
      <p:sp>
        <p:nvSpPr>
          <p:cNvPr id="20" name="bonus-metric-label-2">
            <a:extLst xmlns:a="http://schemas.openxmlformats.org/drawingml/2006/main">
              <a:ext uri="{FF2B5EF4-FFF2-40B4-BE49-F238E27FC236}">
                <a16:creationId xmlns:a16="http://schemas.microsoft.com/office/drawing/2014/main" id="{3CDD3EA7-30B5-4CC8-B595-6ADBD8636B24}"/>
              </a:ext>
            </a:extLst>
          </p:cNvPr>
          <p:cNvSpPr>
            <a:spLocks xmlns:a="http://schemas.openxmlformats.org/drawingml/2006/main" noGrp="1"/>
          </p:cNvSpPr>
          <p:nvPr/>
        </p:nvSpPr>
        <p:spPr>
          <a:xfrm xmlns:a="http://schemas.openxmlformats.org/drawingml/2006/main">
            <a:off x="7715250" y="4962525"/>
            <a:ext cx="34290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762"/>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Unanswerable abstention</a:t>
            </a:r>
          </a:p>
        </p:txBody>
      </p:sp>
      <p:sp>
        <p:nvSpPr>
          <p:cNvPr id="21" name="bonus-demo-result-surface">
            <a:extLst xmlns:a="http://schemas.openxmlformats.org/drawingml/2006/main">
              <a:ext uri="{FF2B5EF4-FFF2-40B4-BE49-F238E27FC236}">
                <a16:creationId xmlns:a16="http://schemas.microsoft.com/office/drawing/2014/main" id="{24943A98-DD7B-4328-BA18-08F8E2E33002}"/>
              </a:ext>
            </a:extLst>
          </p:cNvPr>
          <p:cNvSpPr>
            <a:spLocks xmlns:a="http://schemas.openxmlformats.org/drawingml/2006/main" noGrp="1"/>
          </p:cNvSpPr>
          <p:nvPr/>
        </p:nvSpPr>
        <p:spPr>
          <a:xfrm xmlns:a="http://schemas.openxmlformats.org/drawingml/2006/main">
            <a:off x="7524750" y="5581650"/>
            <a:ext cx="38100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E2E8F0"/>
            </a:solidFill>
            <a:prstDash val="solid"/>
          </a:ln>
        </p:spPr>
      </p:sp>
      <p:sp>
        <p:nvSpPr>
          <p:cNvPr id="22" name="bonus-demo-result-accent">
            <a:extLst xmlns:a="http://schemas.openxmlformats.org/drawingml/2006/main">
              <a:ext uri="{FF2B5EF4-FFF2-40B4-BE49-F238E27FC236}">
                <a16:creationId xmlns:a16="http://schemas.microsoft.com/office/drawing/2014/main" id="{690303F9-B667-4720-862A-02485A1001DA}"/>
              </a:ext>
            </a:extLst>
          </p:cNvPr>
          <p:cNvSpPr>
            <a:spLocks xmlns:a="http://schemas.openxmlformats.org/drawingml/2006/main" noGrp="1"/>
          </p:cNvSpPr>
          <p:nvPr/>
        </p:nvSpPr>
        <p:spPr>
          <a:xfrm xmlns:a="http://schemas.openxmlformats.org/drawingml/2006/main">
            <a:off x="7524750" y="5581650"/>
            <a:ext cx="76200" cy="628650"/>
          </a:xfrm>
          <a:prstGeom xmlns:a="http://schemas.openxmlformats.org/drawingml/2006/main" prst="rect">
            <a:avLst/>
          </a:prstGeom>
          <a:solidFill xmlns:a="http://schemas.openxmlformats.org/drawingml/2006/main">
            <a:srgbClr val="F59E0B"/>
          </a:solidFill>
          <a:ln xmlns:a="http://schemas.openxmlformats.org/drawingml/2006/main" w="0">
            <a:solidFill>
              <a:srgbClr val="F59E0B"/>
            </a:solidFill>
            <a:prstDash val="solid"/>
          </a:ln>
        </p:spPr>
      </p:sp>
      <p:sp>
        <p:nvSpPr>
          <p:cNvPr id="23" name="bonus-demo-result-text">
            <a:extLst xmlns:a="http://schemas.openxmlformats.org/drawingml/2006/main">
              <a:ext uri="{FF2B5EF4-FFF2-40B4-BE49-F238E27FC236}">
                <a16:creationId xmlns:a16="http://schemas.microsoft.com/office/drawing/2014/main" id="{952CA05F-942A-4CEA-8DCE-C5200D6AC3A8}"/>
              </a:ext>
            </a:extLst>
          </p:cNvPr>
          <p:cNvSpPr>
            <a:spLocks xmlns:a="http://schemas.openxmlformats.org/drawingml/2006/main" noGrp="1"/>
          </p:cNvSpPr>
          <p:nvPr/>
        </p:nvSpPr>
        <p:spPr>
          <a:xfrm xmlns:a="http://schemas.openxmlformats.org/drawingml/2006/main">
            <a:off x="7829550" y="5791200"/>
            <a:ext cx="32194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44583"/>
          </a:bodyPr>
          <a:lstStyle xmlns:a="http://schemas.openxmlformats.org/drawingml/2006/main"/>
          <a:p xmlns:a="http://schemas.openxmlformats.org/drawingml/2006/main">
            <a:pPr algn="l">
              <a:defRPr sz="1500" b="1">
                <a:solidFill>
                  <a:srgbClr val="1E293B"/>
                </a:solidFill>
                <a:latin typeface="DejaVu Sans"/>
                <a:ea typeface="DejaVu Sans"/>
                <a:cs typeface="DejaVu Sans"/>
              </a:defRPr>
            </a:pPr>
            <a:r>
              <a:rPr sz="1500" b="1">
                <a:solidFill>
                  <a:srgbClr val="1E293B"/>
                </a:solidFill>
                <a:latin typeface="DejaVu Sans"/>
                <a:ea typeface="DejaVu Sans"/>
                <a:cs typeface="DejaVu Sans"/>
              </a:rPr>
              <a:t>4 EM fixes vs 3 harms; answerable F1 falls slightly by 0.25 points.</a:t>
            </a:r>
          </a:p>
        </p:txBody>
      </p:sp>
      <p:sp>
        <p:nvSpPr>
          <p:cNvPr id="24" name="footer-10">
            <a:extLst xmlns:a="http://schemas.openxmlformats.org/drawingml/2006/main">
              <a:ext uri="{FF2B5EF4-FFF2-40B4-BE49-F238E27FC236}">
                <a16:creationId xmlns:a16="http://schemas.microsoft.com/office/drawing/2014/main" id="{7D901DC0-FE8D-48D1-91D0-DBBF8A174371}"/>
              </a:ext>
            </a:extLst>
          </p:cNvPr>
          <p:cNvSpPr>
            <a:spLocks xmlns:a="http://schemas.openxmlformats.org/drawingml/2006/main" noGrp="1"/>
          </p:cNvSpPr>
          <p:nvPr/>
        </p:nvSpPr>
        <p:spPr>
          <a:xfrm xmlns:a="http://schemas.openxmlformats.org/drawingml/2006/main">
            <a:off x="5619750" y="65341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4748B"/>
                </a:solidFill>
                <a:latin typeface="DejaVu Sans"/>
                <a:ea typeface="DejaVu Sans"/>
                <a:cs typeface="DejaVu Sans"/>
              </a:defRPr>
            </a:pPr>
            <a:r>
              <a:rPr sz="750" b="0">
                <a:solidFill>
                  <a:srgbClr val="64748B"/>
                </a:solidFill>
                <a:latin typeface="DejaVu Sans"/>
                <a:ea typeface="DejaVu Sans"/>
                <a:cs typeface="DejaVu Sans"/>
              </a:rPr>
              <a:t>10 / 11</a:t>
            </a:r>
          </a:p>
        </p:txBody>
      </p:sp>
    </p:spTree>
    <p:extLst>
      <p:ext uri="{BB962C8B-B14F-4D97-AF65-F5344CB8AC3E}">
        <p14:creationId xmlns:p14="http://schemas.microsoft.com/office/powerpoint/2010/main" val="397076794"/>
      </p:ext>
    </p:extLst>
  </p:cSld>
</p:sld>
</file>

<file path=ppt/slides/slide11.xml><?xml version="1.0" encoding="utf-8"?>
<p:sld xmlns:p="http://schemas.openxmlformats.org/presentationml/2006/main">
  <p:cSld>
    <p:bg>
      <p:bgPr>
        <a:solidFill xmlns:a="http://schemas.openxmlformats.org/drawingml/2006/main">
          <a:srgbClr val="0F172A"/>
        </a:solidFill>
      </p:bgPr>
    </p:bg>
    <p:spTree>
      <p:nvGrpSpPr>
        <p:cNvPr id="1" name=""/>
        <p:cNvGrpSpPr/>
        <p:nvPr/>
      </p:nvGrpSpPr>
      <p:grpSpPr>
        <a:xfrm xmlns:a="http://schemas.openxmlformats.org/drawingml/2006/main"/>
      </p:grpSpPr>
      <p:sp>
        <p:nvSpPr>
          <p:cNvPr id="16" name="conclusion-pill">
            <a:extLst xmlns:a="http://schemas.openxmlformats.org/drawingml/2006/main">
              <a:ext uri="{FF2B5EF4-FFF2-40B4-BE49-F238E27FC236}">
                <a16:creationId xmlns:a16="http://schemas.microsoft.com/office/drawing/2014/main" id="{A088B00E-9284-4121-8C16-DB15678722DE}"/>
              </a:ext>
            </a:extLst>
          </p:cNvPr>
          <p:cNvSpPr>
            <a:spLocks xmlns:a="http://schemas.openxmlformats.org/drawingml/2006/main" noGrp="1"/>
          </p:cNvSpPr>
          <p:nvPr/>
        </p:nvSpPr>
        <p:spPr>
          <a:xfrm xmlns:a="http://schemas.openxmlformats.org/drawingml/2006/main">
            <a:off x="9525000" y="514350"/>
            <a:ext cx="1809750" cy="323850"/>
          </a:xfrm>
          <a:prstGeom xmlns:a="http://schemas.openxmlformats.org/drawingml/2006/main" prst="roundRect">
            <a:avLst>
              <a:gd name="adj" fmla="val 50000"/>
            </a:avLst>
          </a:prstGeom>
          <a:solidFill xmlns:a="http://schemas.openxmlformats.org/drawingml/2006/main">
            <a:srgbClr val="244C7C"/>
          </a:solidFill>
          <a:ln xmlns:a="http://schemas.openxmlformats.org/drawingml/2006/main" w="0">
            <a:noFill/>
            <a:prstDash val="solid"/>
          </a:ln>
        </p:spPr>
      </p:sp>
      <p:sp>
        <p:nvSpPr>
          <p:cNvPr id="2" name="conclusion-pill-text">
            <a:extLst xmlns:a="http://schemas.openxmlformats.org/drawingml/2006/main">
              <a:ext uri="{FF2B5EF4-FFF2-40B4-BE49-F238E27FC236}">
                <a16:creationId xmlns:a16="http://schemas.microsoft.com/office/drawing/2014/main" id="{3FF1BD8E-0949-4B3B-AF19-C8030BC04CB9}"/>
              </a:ext>
            </a:extLst>
          </p:cNvPr>
          <p:cNvSpPr>
            <a:spLocks xmlns:a="http://schemas.openxmlformats.org/drawingml/2006/main" noGrp="1"/>
          </p:cNvSpPr>
          <p:nvPr/>
        </p:nvSpPr>
        <p:spPr>
          <a:xfrm xmlns:a="http://schemas.openxmlformats.org/drawingml/2006/main">
            <a:off x="9525000" y="590550"/>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ctr">
              <a:defRPr sz="900" b="1">
                <a:solidFill>
                  <a:srgbClr val="3B82F6"/>
                </a:solidFill>
                <a:latin typeface="DejaVu Sans"/>
                <a:ea typeface="DejaVu Sans"/>
                <a:cs typeface="DejaVu Sans"/>
              </a:defRPr>
            </a:pPr>
            <a:r>
              <a:rPr sz="900" b="1">
                <a:solidFill>
                  <a:srgbClr val="3B82F6"/>
                </a:solidFill>
                <a:latin typeface="DejaVu Sans"/>
                <a:ea typeface="DejaVu Sans"/>
                <a:cs typeface="DejaVu Sans"/>
              </a:rPr>
              <a:t>T-05 · CONCLUSION</a:t>
            </a:r>
          </a:p>
        </p:txBody>
      </p:sp>
      <p:sp>
        <p:nvSpPr>
          <p:cNvPr id="3" name="conclusion-title">
            <a:extLst xmlns:a="http://schemas.openxmlformats.org/drawingml/2006/main">
              <a:ext uri="{FF2B5EF4-FFF2-40B4-BE49-F238E27FC236}">
                <a16:creationId xmlns:a16="http://schemas.microsoft.com/office/drawing/2014/main" id="{1B1DD953-B415-452B-BD0A-E6568F158014}"/>
              </a:ext>
            </a:extLst>
          </p:cNvPr>
          <p:cNvSpPr>
            <a:spLocks xmlns:a="http://schemas.openxmlformats.org/drawingml/2006/main" noGrp="1"/>
          </p:cNvSpPr>
          <p:nvPr/>
        </p:nvSpPr>
        <p:spPr>
          <a:xfrm xmlns:a="http://schemas.openxmlformats.org/drawingml/2006/main">
            <a:off x="5381625" y="1285875"/>
            <a:ext cx="5953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143"/>
          </a:bodyPr>
          <a:lstStyle xmlns:a="http://schemas.openxmlformats.org/drawingml/2006/main"/>
          <a:p xmlns:a="http://schemas.openxmlformats.org/drawingml/2006/main">
            <a:pPr algn="l">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Strong Retrieval;</a:t>
            </a:r>
          </a:p>
          <a:p xmlns:a="http://schemas.openxmlformats.org/drawingml/2006/main">
            <a:pPr algn="l">
              <a:defRPr sz="3600" b="1">
                <a:solidFill>
                  <a:srgbClr val="FFFFFF"/>
                </a:solidFill>
                <a:latin typeface="DejaVu Sans"/>
                <a:ea typeface="DejaVu Sans"/>
                <a:cs typeface="DejaVu Sans"/>
              </a:defRPr>
            </a:pPr>
            <a:r>
              <a:rPr sz="3600" b="1">
                <a:solidFill>
                  <a:srgbClr val="FFFFFF"/>
                </a:solidFill>
                <a:latin typeface="DejaVu Sans"/>
                <a:ea typeface="DejaVu Sans"/>
                <a:cs typeface="DejaVu Sans"/>
              </a:rPr>
              <a:t>Better, Not Sufficient Abstention</a:t>
            </a:r>
          </a:p>
        </p:txBody>
      </p:sp>
      <p:sp>
        <p:nvSpPr>
          <p:cNvPr id="4" name="conclusion-en">
            <a:extLst xmlns:a="http://schemas.openxmlformats.org/drawingml/2006/main">
              <a:ext uri="{FF2B5EF4-FFF2-40B4-BE49-F238E27FC236}">
                <a16:creationId xmlns:a16="http://schemas.microsoft.com/office/drawing/2014/main" id="{E8BC70BD-C3F7-43BD-92D3-533DCE896400}"/>
              </a:ext>
            </a:extLst>
          </p:cNvPr>
          <p:cNvSpPr>
            <a:spLocks xmlns:a="http://schemas.openxmlformats.org/drawingml/2006/main" noGrp="1"/>
          </p:cNvSpPr>
          <p:nvPr/>
        </p:nvSpPr>
        <p:spPr>
          <a:xfrm xmlns:a="http://schemas.openxmlformats.org/drawingml/2006/main">
            <a:off x="5381625" y="2914650"/>
            <a:ext cx="5953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091"/>
          </a:bodyPr>
          <a:lstStyle xmlns:a="http://schemas.openxmlformats.org/drawingml/2006/main"/>
          <a:p xmlns:a="http://schemas.openxmlformats.org/drawingml/2006/main">
            <a:pPr algn="l">
              <a:defRPr sz="1650" b="0">
                <a:solidFill>
                  <a:srgbClr val="CBD5E1"/>
                </a:solidFill>
                <a:latin typeface="DejaVu Sans"/>
                <a:ea typeface="DejaVu Sans"/>
                <a:cs typeface="DejaVu Sans"/>
              </a:defRPr>
            </a:pPr>
            <a:r>
              <a:rPr sz="1650" b="0">
                <a:solidFill>
                  <a:srgbClr val="CBD5E1"/>
                </a:solidFill>
                <a:latin typeface="DejaVu Sans"/>
                <a:ea typeface="DejaVu Sans"/>
                <a:cs typeface="DejaVu Sans"/>
              </a:rPr>
              <a:t>The generator improved; the evidence-support decision is still the weak link.</a:t>
            </a:r>
          </a:p>
        </p:txBody>
      </p:sp>
      <p:sp>
        <p:nvSpPr>
          <p:cNvPr id="5" name="final-retrieval-card">
            <a:extLst xmlns:a="http://schemas.openxmlformats.org/drawingml/2006/main">
              <a:ext uri="{FF2B5EF4-FFF2-40B4-BE49-F238E27FC236}">
                <a16:creationId xmlns:a16="http://schemas.microsoft.com/office/drawing/2014/main" id="{1004B4BB-0E6F-44D6-B686-728389573096}"/>
              </a:ext>
            </a:extLst>
          </p:cNvPr>
          <p:cNvSpPr>
            <a:spLocks xmlns:a="http://schemas.openxmlformats.org/drawingml/2006/main" noGrp="1"/>
          </p:cNvSpPr>
          <p:nvPr/>
        </p:nvSpPr>
        <p:spPr>
          <a:xfrm xmlns:a="http://schemas.openxmlformats.org/drawingml/2006/main">
            <a:off x="857250" y="1476375"/>
            <a:ext cx="38100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6" name="final-retrieval-value">
            <a:extLst xmlns:a="http://schemas.openxmlformats.org/drawingml/2006/main">
              <a:ext uri="{FF2B5EF4-FFF2-40B4-BE49-F238E27FC236}">
                <a16:creationId xmlns:a16="http://schemas.microsoft.com/office/drawing/2014/main" id="{5EC1FE54-3DC7-424C-9881-C26E9C3BE663}"/>
              </a:ext>
            </a:extLst>
          </p:cNvPr>
          <p:cNvSpPr>
            <a:spLocks xmlns:a="http://schemas.openxmlformats.org/drawingml/2006/main" noGrp="1"/>
          </p:cNvSpPr>
          <p:nvPr/>
        </p:nvSpPr>
        <p:spPr>
          <a:xfrm xmlns:a="http://schemas.openxmlformats.org/drawingml/2006/main">
            <a:off x="1047750" y="170497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10B981"/>
                </a:solidFill>
                <a:latin typeface="DejaVu Sans"/>
                <a:ea typeface="DejaVu Sans"/>
                <a:cs typeface="DejaVu Sans"/>
              </a:defRPr>
            </a:pPr>
            <a:r>
              <a:rPr sz="2400" b="1">
                <a:solidFill>
                  <a:srgbClr val="10B981"/>
                </a:solidFill>
                <a:latin typeface="DejaVu Sans"/>
                <a:ea typeface="DejaVu Sans"/>
                <a:cs typeface="DejaVu Sans"/>
              </a:rPr>
              <a:t>98.75%</a:t>
            </a:r>
          </a:p>
        </p:txBody>
      </p:sp>
      <p:sp>
        <p:nvSpPr>
          <p:cNvPr id="7" name="final-retrieval-label">
            <a:extLst xmlns:a="http://schemas.openxmlformats.org/drawingml/2006/main">
              <a:ext uri="{FF2B5EF4-FFF2-40B4-BE49-F238E27FC236}">
                <a16:creationId xmlns:a16="http://schemas.microsoft.com/office/drawing/2014/main" id="{5793057B-2062-44CF-BE6F-2A85684E4CC3}"/>
              </a:ext>
            </a:extLst>
          </p:cNvPr>
          <p:cNvSpPr>
            <a:spLocks xmlns:a="http://schemas.openxmlformats.org/drawingml/2006/main" noGrp="1"/>
          </p:cNvSpPr>
          <p:nvPr/>
        </p:nvSpPr>
        <p:spPr>
          <a:xfrm xmlns:a="http://schemas.openxmlformats.org/drawingml/2006/main">
            <a:off x="1028700" y="2257425"/>
            <a:ext cx="3467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answerable hit@3</a:t>
            </a:r>
          </a:p>
        </p:txBody>
      </p:sp>
      <p:sp>
        <p:nvSpPr>
          <p:cNvPr id="8" name="final-abstain-card">
            <a:extLst xmlns:a="http://schemas.openxmlformats.org/drawingml/2006/main">
              <a:ext uri="{FF2B5EF4-FFF2-40B4-BE49-F238E27FC236}">
                <a16:creationId xmlns:a16="http://schemas.microsoft.com/office/drawing/2014/main" id="{5C3F3FF3-BE4B-4615-9EF5-3486804B4C56}"/>
              </a:ext>
            </a:extLst>
          </p:cNvPr>
          <p:cNvSpPr>
            <a:spLocks xmlns:a="http://schemas.openxmlformats.org/drawingml/2006/main" noGrp="1"/>
          </p:cNvSpPr>
          <p:nvPr/>
        </p:nvSpPr>
        <p:spPr>
          <a:xfrm xmlns:a="http://schemas.openxmlformats.org/drawingml/2006/main">
            <a:off x="857250" y="3000375"/>
            <a:ext cx="3810000" cy="1219200"/>
          </a:xfrm>
          <a:prstGeom xmlns:a="http://schemas.openxmlformats.org/drawingml/2006/main" prst="roundRect">
            <a:avLst>
              <a:gd name="adj" fmla="val 9375"/>
            </a:avLst>
          </a:prstGeom>
          <a:solidFill xmlns:a="http://schemas.openxmlformats.org/drawingml/2006/main">
            <a:srgbClr val="FFFFFF"/>
          </a:solidFill>
          <a:ln xmlns:a="http://schemas.openxmlformats.org/drawingml/2006/main" w="9525">
            <a:solidFill>
              <a:srgbClr val="E2E8F0"/>
            </a:solidFill>
            <a:prstDash val="solid"/>
          </a:ln>
        </p:spPr>
      </p:sp>
      <p:sp>
        <p:nvSpPr>
          <p:cNvPr id="9" name="final-abstain-value">
            <a:extLst xmlns:a="http://schemas.openxmlformats.org/drawingml/2006/main">
              <a:ext uri="{FF2B5EF4-FFF2-40B4-BE49-F238E27FC236}">
                <a16:creationId xmlns:a16="http://schemas.microsoft.com/office/drawing/2014/main" id="{AB251B0D-82F7-4089-8EA9-1405C82ABC81}"/>
              </a:ext>
            </a:extLst>
          </p:cNvPr>
          <p:cNvSpPr>
            <a:spLocks xmlns:a="http://schemas.openxmlformats.org/drawingml/2006/main" noGrp="1"/>
          </p:cNvSpPr>
          <p:nvPr/>
        </p:nvSpPr>
        <p:spPr>
          <a:xfrm xmlns:a="http://schemas.openxmlformats.org/drawingml/2006/main">
            <a:off x="1047750" y="322897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2400" b="1">
                <a:solidFill>
                  <a:srgbClr val="F59E0B"/>
                </a:solidFill>
                <a:latin typeface="DejaVu Sans"/>
                <a:ea typeface="DejaVu Sans"/>
                <a:cs typeface="DejaVu Sans"/>
              </a:defRPr>
            </a:pPr>
            <a:r>
              <a:rPr sz="2400" b="1">
                <a:solidFill>
                  <a:srgbClr val="F59E0B"/>
                </a:solidFill>
                <a:latin typeface="DejaVu Sans"/>
                <a:ea typeface="DejaVu Sans"/>
                <a:cs typeface="DejaVu Sans"/>
              </a:rPr>
              <a:t>25.00%</a:t>
            </a:r>
          </a:p>
        </p:txBody>
      </p:sp>
      <p:sp>
        <p:nvSpPr>
          <p:cNvPr id="10" name="final-abstain-label">
            <a:extLst xmlns:a="http://schemas.openxmlformats.org/drawingml/2006/main">
              <a:ext uri="{FF2B5EF4-FFF2-40B4-BE49-F238E27FC236}">
                <a16:creationId xmlns:a16="http://schemas.microsoft.com/office/drawing/2014/main" id="{368DCCD7-2402-4D78-8C6A-9268070DC9A0}"/>
              </a:ext>
            </a:extLst>
          </p:cNvPr>
          <p:cNvSpPr>
            <a:spLocks xmlns:a="http://schemas.openxmlformats.org/drawingml/2006/main" noGrp="1"/>
          </p:cNvSpPr>
          <p:nvPr/>
        </p:nvSpPr>
        <p:spPr>
          <a:xfrm xmlns:a="http://schemas.openxmlformats.org/drawingml/2006/main">
            <a:off x="1028700" y="3781425"/>
            <a:ext cx="3467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p xmlns:a="http://schemas.openxmlformats.org/drawingml/2006/main">
            <a:pPr algn="ctr">
              <a:defRPr sz="1050" b="0">
                <a:solidFill>
                  <a:srgbClr val="64748B"/>
                </a:solidFill>
                <a:latin typeface="DejaVu Sans"/>
                <a:ea typeface="DejaVu Sans"/>
                <a:cs typeface="DejaVu Sans"/>
              </a:defRPr>
            </a:pPr>
            <a:r>
              <a:rPr sz="1050" b="0">
                <a:solidFill>
                  <a:srgbClr val="64748B"/>
                </a:solidFill>
                <a:latin typeface="DejaVu Sans"/>
                <a:ea typeface="DejaVu Sans"/>
                <a:cs typeface="DejaVu Sans"/>
              </a:rPr>
              <a:t>unanswerable abstention</a:t>
            </a:r>
          </a:p>
        </p:txBody>
      </p:sp>
      <p:sp>
        <p:nvSpPr>
          <p:cNvPr id="11" name="next-step-surface">
            <a:extLst xmlns:a="http://schemas.openxmlformats.org/drawingml/2006/main">
              <a:ext uri="{FF2B5EF4-FFF2-40B4-BE49-F238E27FC236}">
                <a16:creationId xmlns:a16="http://schemas.microsoft.com/office/drawing/2014/main" id="{77F64941-9F69-4DF9-A944-0F8A262F9016}"/>
              </a:ext>
            </a:extLst>
          </p:cNvPr>
          <p:cNvSpPr>
            <a:spLocks xmlns:a="http://schemas.openxmlformats.org/drawingml/2006/main" noGrp="1"/>
          </p:cNvSpPr>
          <p:nvPr/>
        </p:nvSpPr>
        <p:spPr>
          <a:xfrm xmlns:a="http://schemas.openxmlformats.org/drawingml/2006/main">
            <a:off x="857250" y="4714875"/>
            <a:ext cx="1047750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E2E8F0"/>
            </a:solidFill>
            <a:prstDash val="solid"/>
          </a:ln>
        </p:spPr>
      </p:sp>
      <p:sp>
        <p:nvSpPr>
          <p:cNvPr id="12" name="next-step-accent">
            <a:extLst xmlns:a="http://schemas.openxmlformats.org/drawingml/2006/main">
              <a:ext uri="{FF2B5EF4-FFF2-40B4-BE49-F238E27FC236}">
                <a16:creationId xmlns:a16="http://schemas.microsoft.com/office/drawing/2014/main" id="{DE48B947-4709-474B-AFDD-FE8710D1C603}"/>
              </a:ext>
            </a:extLst>
          </p:cNvPr>
          <p:cNvSpPr>
            <a:spLocks xmlns:a="http://schemas.openxmlformats.org/drawingml/2006/main" noGrp="1"/>
          </p:cNvSpPr>
          <p:nvPr/>
        </p:nvSpPr>
        <p:spPr>
          <a:xfrm xmlns:a="http://schemas.openxmlformats.org/drawingml/2006/main">
            <a:off x="857250" y="4714875"/>
            <a:ext cx="76200" cy="952500"/>
          </a:xfrm>
          <a:prstGeom xmlns:a="http://schemas.openxmlformats.org/drawingml/2006/main" prst="rect">
            <a:avLst/>
          </a:prstGeom>
          <a:solidFill xmlns:a="http://schemas.openxmlformats.org/drawingml/2006/main">
            <a:srgbClr val="10B981"/>
          </a:solidFill>
          <a:ln xmlns:a="http://schemas.openxmlformats.org/drawingml/2006/main" w="0">
            <a:solidFill>
              <a:srgbClr val="10B981"/>
            </a:solidFill>
            <a:prstDash val="solid"/>
          </a:ln>
        </p:spPr>
      </p:sp>
      <p:sp>
        <p:nvSpPr>
          <p:cNvPr id="13" name="next-step-text">
            <a:extLst xmlns:a="http://schemas.openxmlformats.org/drawingml/2006/main">
              <a:ext uri="{FF2B5EF4-FFF2-40B4-BE49-F238E27FC236}">
                <a16:creationId xmlns:a16="http://schemas.microsoft.com/office/drawing/2014/main" id="{FFC14429-F9CB-454F-BC20-AC8BCC596BB9}"/>
              </a:ext>
            </a:extLst>
          </p:cNvPr>
          <p:cNvSpPr>
            <a:spLocks xmlns:a="http://schemas.openxmlformats.org/drawingml/2006/main" noGrp="1"/>
          </p:cNvSpPr>
          <p:nvPr/>
        </p:nvSpPr>
        <p:spPr>
          <a:xfrm xmlns:a="http://schemas.openxmlformats.org/drawingml/2006/main">
            <a:off x="1162050" y="4924425"/>
            <a:ext cx="98869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500" b="1">
                <a:solidFill>
                  <a:srgbClr val="1E293B"/>
                </a:solidFill>
                <a:latin typeface="DejaVu Sans"/>
                <a:ea typeface="DejaVu Sans"/>
                <a:cs typeface="DejaVu Sans"/>
              </a:defRPr>
            </a:pPr>
            <a:r>
              <a:rPr sz="1500" b="1">
                <a:solidFill>
                  <a:srgbClr val="1E293B"/>
                </a:solidFill>
                <a:latin typeface="DejaVu Sans"/>
                <a:ea typeface="DejaVu Sans"/>
                <a:cs typeface="DejaVu Sans"/>
              </a:rPr>
              <a:t>Base was the meaningful upgrade; next: evidence-support gate first, reranking second.</a:t>
            </a:r>
          </a:p>
        </p:txBody>
      </p:sp>
      <p:sp>
        <p:nvSpPr>
          <p:cNvPr id="14" name="conclusion-footer">
            <a:extLst xmlns:a="http://schemas.openxmlformats.org/drawingml/2006/main">
              <a:ext uri="{FF2B5EF4-FFF2-40B4-BE49-F238E27FC236}">
                <a16:creationId xmlns:a16="http://schemas.microsoft.com/office/drawing/2014/main" id="{BBB5CAD8-80F2-48EB-A673-AD483C684121}"/>
              </a:ext>
            </a:extLst>
          </p:cNvPr>
          <p:cNvSpPr>
            <a:spLocks xmlns:a="http://schemas.openxmlformats.org/drawingml/2006/main" noGrp="1"/>
          </p:cNvSpPr>
          <p:nvPr/>
        </p:nvSpPr>
        <p:spPr>
          <a:xfrm xmlns:a="http://schemas.openxmlformats.org/drawingml/2006/main">
            <a:off x="2095500" y="6105525"/>
            <a:ext cx="800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ctr">
              <a:defRPr sz="1200" b="0">
                <a:solidFill>
                  <a:srgbClr val="8FA3BD"/>
                </a:solidFill>
                <a:latin typeface="DejaVu Sans"/>
                <a:ea typeface="DejaVu Sans"/>
                <a:cs typeface="DejaVu Sans"/>
              </a:defRPr>
            </a:pPr>
            <a:r>
              <a:rPr sz="1200" b="0">
                <a:solidFill>
                  <a:srgbClr val="8FA3BD"/>
                </a:solidFill>
                <a:latin typeface="DejaVu Sans"/>
                <a:ea typeface="DejaVu Sans"/>
                <a:cs typeface="DejaVu Sans"/>
              </a:rPr>
              <a:t>T-06 → corpus · T-04 → questions · T-26 → support gate</a:t>
            </a:r>
          </a:p>
        </p:txBody>
      </p:sp>
      <p:sp>
        <p:nvSpPr>
          <p:cNvPr id="15" name="footer-11">
            <a:extLst xmlns:a="http://schemas.openxmlformats.org/drawingml/2006/main">
              <a:ext uri="{FF2B5EF4-FFF2-40B4-BE49-F238E27FC236}">
                <a16:creationId xmlns:a16="http://schemas.microsoft.com/office/drawing/2014/main" id="{DB442A99-4E89-46C8-BAFA-47D6EBDCAF6E}"/>
              </a:ext>
            </a:extLst>
          </p:cNvPr>
          <p:cNvSpPr>
            <a:spLocks xmlns:a="http://schemas.openxmlformats.org/drawingml/2006/main" noGrp="1"/>
          </p:cNvSpPr>
          <p:nvPr/>
        </p:nvSpPr>
        <p:spPr>
          <a:xfrm xmlns:a="http://schemas.openxmlformats.org/drawingml/2006/main">
            <a:off x="5619750" y="65341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p xmlns:a="http://schemas.openxmlformats.org/drawingml/2006/main">
            <a:pPr algn="ctr">
              <a:defRPr sz="750" b="0">
                <a:solidFill>
                  <a:srgbClr val="64748B"/>
                </a:solidFill>
                <a:latin typeface="DejaVu Sans"/>
                <a:ea typeface="DejaVu Sans"/>
                <a:cs typeface="DejaVu Sans"/>
              </a:defRPr>
            </a:pPr>
            <a:r>
              <a:rPr sz="750" b="0">
                <a:solidFill>
                  <a:srgbClr val="64748B"/>
                </a:solidFill>
                <a:latin typeface="DejaVu Sans"/>
                <a:ea typeface="DejaVu Sans"/>
                <a:cs typeface="DejaVu Sans"/>
              </a:rPr>
              <a:t>11 / 11</a:t>
            </a:r>
          </a:p>
        </p:txBody>
      </p:sp>
    </p:spTree>
    <p:extLst>
      <p:ext uri="{BB962C8B-B14F-4D97-AF65-F5344CB8AC3E}">
        <p14:creationId xmlns:p14="http://schemas.microsoft.com/office/powerpoint/2010/main" val="6382551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2026-08-12T14:10:44.6490000Z</dcterms:created>
  <dcterms:modified xsi:type="dcterms:W3CDTF">2026-08-12T14:10:44.6490000Z</dcterms:modified>
</coreProperties>
</file>